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stat and say "reported", not "lost". Then read the problem line slowly. It is the question the rest of the deck answers.</a:t>
            </a:r>
          </a:p>
          <a:p/>
          <a:p>
            <a:r>
              <a:t>Visual needed: Stat card: bar chart of the RBI table (2.6 lakh in 2021 up to 28 lakh in 2025) with the opener quote. Use only that one table. Do not add the MHA or PIB 2024 numbers. (Supplier: Arun)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insight has three parts: timing, reasons, human control. Say the personas are illustrative. Keep The Caller at the level of public scam patterns, no method.</a:t>
            </a:r>
          </a:p>
          <a:p/>
          <a:p>
            <a:r>
              <a:t>Visual needed: Three persona cards, each with one line of pain point and one line of what changes. Text from `docs/problem/personas.md`. (Supplier: Arun)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lanes in one breath. Stress that STEP_UP is the middle path that protects honest customers. The alert text never makes or changes a decision.</a:t>
            </a:r>
          </a:p>
          <a:p/>
          <a:p>
            <a:r>
              <a:t>Visual needed: One graphic: a payment enters, a score appears, three lanes. HOLD lane ends at "analyst: Approve, Block or Escalate". (Supplier: Arun)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replay live with the producer. Block the held payment from the API docs page, then show BLOCK in the dashboard table. If anything fails, show the audit log in /alerts. Full wording is in demo_script.md.</a:t>
            </a:r>
          </a:p>
          <a:p/>
          <a:p>
            <a:r>
              <a:t>Visual needed: Screenshot of the current dashboard (Processed, Flagged, Value intercepted, Avg latency, and the flagged table with alert text and analyst status BLOCK). (Supplier: Arun)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path left to right. Point out that the alert step sits after the decision and cannot change it. Mention the fail-safe once.</a:t>
            </a:r>
          </a:p>
          <a:p/>
          <a:p>
            <a:r>
              <a:t>Visual needed: Block diagram: producer.py, FastAPI /score, live features (state store), scorer, decision engine, alert text (flagged only), audit log (SQLite), dashboard (Streamlit), analyst action (POST /analyst_action). (Supplier: Arun)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"designed for". Do not say it runs on IBM Z or uses any IBM Z accelerator. The laptop number is a laptop number.</a:t>
            </a:r>
          </a:p>
          <a:p/>
          <a:p>
            <a:r>
              <a:t>Visual needed: Simple diagram: payment switch, ZShield scoring step, settlement. Label it "design". (Supplier: Arun)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"past events only": the current payment is added to history after its features are computed, so nothing leaks from the future.</a:t>
            </a:r>
          </a:p>
          <a:p/>
          <a:p>
            <a:r>
              <a:t>Visual needed: A two-column table of the features listed on this slide, from features/features.py and api/state.py. (Supplier: Arun)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machine and the scorer every time you quote a number. These are pipeline numbers, not fraud-detection accuracy.</a:t>
            </a:r>
          </a:p>
          <a:p/>
          <a:p>
            <a:r>
              <a:t>Visual needed: Table: p50, p95, p99 end to end and inside the API, for 1 and 8 clients, with the machine named. (Supplier: Arun)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each point is and where a judge can see it in the repo. Name the limits plainly. Honesty here is a strength.</a:t>
            </a:r>
          </a:p>
          <a:p/>
          <a:p>
            <a:r>
              <a:t>Visual needed: Six icons for the six short-version bullets in docs/responsible_ai.md. (Supplier: Arun)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Quote only the replay numbers and the sourced figure. Close on the problem line: score, stop, explain, keep a human in control.</a:t>
            </a:r>
          </a:p>
          <a:p/>
          <a:p>
            <a:r>
              <a:t>Visual needed: Crop of the dashboard tiles after the sample replay. (Supplier: Arun)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All figures are from docs/problem/stats.md, quoted with their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Instant payments leave almost no time to stop a scam.</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1</a:t>
            </a:r>
          </a:p>
        </p:txBody>
      </p:sp>
      <p:sp>
        <p:nvSpPr>
          <p:cNvPr id="7" name="TextBox 6"/>
          <p:cNvSpPr txBox="1"/>
          <p:nvPr/>
        </p:nvSpPr>
        <p:spPr>
          <a:xfrm>
            <a:off x="548640" y="1691640"/>
            <a:ext cx="6309360" cy="2743200"/>
          </a:xfrm>
          <a:prstGeom prst="rect">
            <a:avLst/>
          </a:prstGeom>
          <a:noFill/>
        </p:spPr>
        <p:txBody>
          <a:bodyPr wrap="square">
            <a:spAutoFit/>
          </a:bodyPr>
          <a:lstStyle/>
          <a:p>
            <a:pPr>
              <a:spcAft>
                <a:spcPts val="1000"/>
              </a:spcAft>
            </a:pPr>
            <a:r>
              <a:rPr sz="2000">
                <a:solidFill>
                  <a:srgbClr val="161616"/>
                </a:solidFill>
                <a:latin typeface="Arial"/>
              </a:rPr>
              <a:t>•  In 2025, 28 lakh digital payment frauds were reported on the National Cyber Crime Reporting Portal, worth ₹22,931 crore.</a:t>
            </a:r>
          </a:p>
          <a:p>
            <a:pPr>
              <a:spcAft>
                <a:spcPts val="1000"/>
              </a:spcAft>
            </a:pPr>
            <a:r>
              <a:rPr sz="2000">
                <a:solidFill>
                  <a:srgbClr val="161616"/>
                </a:solidFill>
                <a:latin typeface="Arial"/>
              </a:rPr>
              <a:t>•  The RBI says the "scope for timely intervention and recovery of funds becomes limited".</a:t>
            </a:r>
          </a:p>
          <a:p>
            <a:pPr>
              <a:spcAft>
                <a:spcPts val="1000"/>
              </a:spcAft>
            </a:pPr>
            <a:r>
              <a:rPr sz="2000">
                <a:solidFill>
                  <a:srgbClr val="161616"/>
                </a:solidFill>
                <a:latin typeface="Arial"/>
              </a:rPr>
              <a:t>•  Checks that run after settlement come too late.</a:t>
            </a:r>
          </a:p>
        </p:txBody>
      </p:sp>
      <p:sp>
        <p:nvSpPr>
          <p:cNvPr id="8" name="Rectangle 7"/>
          <p:cNvSpPr/>
          <p:nvPr/>
        </p:nvSpPr>
        <p:spPr>
          <a:xfrm>
            <a:off x="7132320" y="1737360"/>
            <a:ext cx="4572000" cy="2560320"/>
          </a:xfrm>
          <a:prstGeom prst="rect">
            <a:avLst/>
          </a:prstGeom>
          <a:solidFill>
            <a:srgbClr val="F2F4F8"/>
          </a:solidFill>
          <a:ln w="19050">
            <a:solidFill>
              <a:srgbClr val="52525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1">
                <a:solidFill>
                  <a:srgbClr val="525252"/>
                </a:solidFill>
                <a:latin typeface="Arial"/>
              </a:rPr>
              <a:t>VISUAL: stat card, NCRP frauds reported 2021 to 2025, from the RBI table (Arun)</a:t>
            </a:r>
          </a:p>
        </p:txBody>
      </p:sp>
      <p:sp>
        <p:nvSpPr>
          <p:cNvPr id="9" name="Rectangle 8"/>
          <p:cNvSpPr/>
          <p:nvPr/>
        </p:nvSpPr>
        <p:spPr>
          <a:xfrm>
            <a:off x="548640" y="4434840"/>
            <a:ext cx="11155680" cy="1143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2000" b="1">
                <a:solidFill>
                  <a:srgbClr val="FFFFFF"/>
                </a:solidFill>
                <a:latin typeface="Arial"/>
              </a:rPr>
              <a:t>How can we score every payment as it happens, stop the dangerous ones before settlement, explain the decision in plain language, and keep a human in control, without blocking honest customers?</a:t>
            </a:r>
          </a:p>
        </p:txBody>
      </p:sp>
      <p:sp>
        <p:nvSpPr>
          <p:cNvPr id="10" name="TextBox 9"/>
          <p:cNvSpPr txBox="1"/>
          <p:nvPr/>
        </p:nvSpPr>
        <p:spPr>
          <a:xfrm>
            <a:off x="548640" y="5669280"/>
            <a:ext cx="11155680" cy="685800"/>
          </a:xfrm>
          <a:prstGeom prst="rect">
            <a:avLst/>
          </a:prstGeom>
          <a:noFill/>
        </p:spPr>
        <p:txBody>
          <a:bodyPr wrap="square" anchor="t" lIns="45720" rIns="45720">
            <a:spAutoFit/>
          </a:bodyPr>
          <a:lstStyle/>
          <a:p>
            <a:pPr algn="l"/>
            <a:r>
              <a:rPr sz="1200" b="0" i="1">
                <a:solidFill>
                  <a:srgbClr val="525252"/>
                </a:solidFill>
                <a:latin typeface="Arial"/>
              </a:rPr>
              <a:t>Source: Reserve Bank of India, "Discussion Paper - Exploring safeguards in digital payments to curb frauds", 9 Apr 2026. Figures are frauds reported on NCRP, not confirmed losses.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The decision must happen before settlement, and a score alone is not enough.</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2</a:t>
            </a:r>
          </a:p>
        </p:txBody>
      </p:sp>
      <p:sp>
        <p:nvSpPr>
          <p:cNvPr id="7" name="TextBox 6"/>
          <p:cNvSpPr txBox="1"/>
          <p:nvPr/>
        </p:nvSpPr>
        <p:spPr>
          <a:xfrm>
            <a:off x="548640" y="1691640"/>
            <a:ext cx="6309360" cy="3566160"/>
          </a:xfrm>
          <a:prstGeom prst="rect">
            <a:avLst/>
          </a:prstGeom>
          <a:noFill/>
        </p:spPr>
        <p:txBody>
          <a:bodyPr wrap="square">
            <a:spAutoFit/>
          </a:bodyPr>
          <a:lstStyle/>
          <a:p>
            <a:pPr>
              <a:spcAft>
                <a:spcPts val="1000"/>
              </a:spcAft>
            </a:pPr>
            <a:r>
              <a:rPr sz="2000">
                <a:solidFill>
                  <a:srgbClr val="161616"/>
                </a:solidFill>
                <a:latin typeface="Arial"/>
              </a:rPr>
              <a:t>•  Before settlement: after the money moves, recovery is limited.</a:t>
            </a:r>
          </a:p>
          <a:p>
            <a:pPr>
              <a:spcAft>
                <a:spcPts val="1000"/>
              </a:spcAft>
            </a:pPr>
            <a:r>
              <a:rPr sz="2000">
                <a:solidFill>
                  <a:srgbClr val="161616"/>
                </a:solidFill>
                <a:latin typeface="Arial"/>
              </a:rPr>
              <a:t>•  With reasons: Meera, the analyst, needs to know why a payment is different, not just a number.</a:t>
            </a:r>
          </a:p>
          <a:p>
            <a:pPr>
              <a:spcAft>
                <a:spcPts val="1000"/>
              </a:spcAft>
            </a:pPr>
            <a:r>
              <a:rPr sz="2000">
                <a:solidFill>
                  <a:srgbClr val="161616"/>
                </a:solidFill>
                <a:latin typeface="Arial"/>
              </a:rPr>
              <a:t>•  With a human in control: Kamla, a first-time UPI user, should not be blocked without a reason. The Caller relies on speed.</a:t>
            </a:r>
          </a:p>
        </p:txBody>
      </p:sp>
      <p:sp>
        <p:nvSpPr>
          <p:cNvPr id="8" name="Rectangle 7"/>
          <p:cNvSpPr/>
          <p:nvPr/>
        </p:nvSpPr>
        <p:spPr>
          <a:xfrm>
            <a:off x="7132320" y="1737360"/>
            <a:ext cx="4572000" cy="3291840"/>
          </a:xfrm>
          <a:prstGeom prst="rect">
            <a:avLst/>
          </a:prstGeom>
          <a:solidFill>
            <a:srgbClr val="F2F4F8"/>
          </a:solidFill>
          <a:ln w="19050">
            <a:solidFill>
              <a:srgbClr val="52525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1">
                <a:solidFill>
                  <a:srgbClr val="525252"/>
                </a:solidFill>
                <a:latin typeface="Arial"/>
              </a:rPr>
              <a:t>VISUAL: three persona cards, Meera / Kamla / The Caller, marked "illustrative" (Arun)</a:t>
            </a:r>
          </a:p>
        </p:txBody>
      </p:sp>
      <p:sp>
        <p:nvSpPr>
          <p:cNvPr id="9" name="TextBox 8"/>
          <p:cNvSpPr txBox="1"/>
          <p:nvPr/>
        </p:nvSpPr>
        <p:spPr>
          <a:xfrm>
            <a:off x="548640" y="5349240"/>
            <a:ext cx="11155680" cy="1005840"/>
          </a:xfrm>
          <a:prstGeom prst="rect">
            <a:avLst/>
          </a:prstGeom>
          <a:noFill/>
        </p:spPr>
        <p:txBody>
          <a:bodyPr wrap="square" anchor="t" lIns="45720" rIns="45720">
            <a:spAutoFit/>
          </a:bodyPr>
          <a:lstStyle/>
          <a:p>
            <a:pPr algn="l"/>
            <a:r>
              <a:rPr sz="1200" b="0" i="1">
                <a:solidFill>
                  <a:srgbClr val="525252"/>
                </a:solidFill>
                <a:latin typeface="Arial"/>
              </a:rPr>
              <a:t>Meera, Kamla and The Caller are illustrative composites, not real people. Source for the recovery point: RBI discussion paper, 9 Apr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ZShield scores every payment in milliseconds and sends it to APPROVE, STEP_UP or HOLD.</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3</a:t>
            </a:r>
          </a:p>
        </p:txBody>
      </p:sp>
      <p:sp>
        <p:nvSpPr>
          <p:cNvPr id="7" name="TextBox 6"/>
          <p:cNvSpPr txBox="1"/>
          <p:nvPr/>
        </p:nvSpPr>
        <p:spPr>
          <a:xfrm>
            <a:off x="548640" y="1691640"/>
            <a:ext cx="6309360" cy="3566160"/>
          </a:xfrm>
          <a:prstGeom prst="rect">
            <a:avLst/>
          </a:prstGeom>
          <a:noFill/>
        </p:spPr>
        <p:txBody>
          <a:bodyPr wrap="square">
            <a:spAutoFit/>
          </a:bodyPr>
          <a:lstStyle/>
          <a:p>
            <a:pPr>
              <a:spcAft>
                <a:spcPts val="1000"/>
              </a:spcAft>
            </a:pPr>
            <a:r>
              <a:rPr sz="2000">
                <a:solidFill>
                  <a:srgbClr val="161616"/>
                </a:solidFill>
                <a:latin typeface="Arial"/>
              </a:rPr>
              <a:t>•  APPROVE: pass straight through. STEP_UP: an extra check (warning, OTP or call-back). HOLD: paused for a human analyst.</a:t>
            </a:r>
          </a:p>
          <a:p>
            <a:pPr>
              <a:spcAft>
                <a:spcPts val="1000"/>
              </a:spcAft>
            </a:pPr>
            <a:r>
              <a:rPr sz="2000">
                <a:solidFill>
                  <a:srgbClr val="161616"/>
                </a:solidFill>
                <a:latin typeface="Arial"/>
              </a:rPr>
              <a:t>•  Flagged payments get up to 3 plain reasons and a short customer alert.</a:t>
            </a:r>
          </a:p>
          <a:p>
            <a:pPr>
              <a:spcAft>
                <a:spcPts val="1000"/>
              </a:spcAft>
            </a:pPr>
            <a:r>
              <a:rPr sz="2000">
                <a:solidFill>
                  <a:srgbClr val="161616"/>
                </a:solidFill>
                <a:latin typeface="Arial"/>
              </a:rPr>
              <a:t>•  The AI explains. A human decides. If scoring fails, the result is STEP_UP, never a silent approve.</a:t>
            </a:r>
          </a:p>
        </p:txBody>
      </p:sp>
      <p:sp>
        <p:nvSpPr>
          <p:cNvPr id="8" name="Rectangle 7"/>
          <p:cNvSpPr/>
          <p:nvPr/>
        </p:nvSpPr>
        <p:spPr>
          <a:xfrm>
            <a:off x="7132320" y="1737360"/>
            <a:ext cx="4572000" cy="3291840"/>
          </a:xfrm>
          <a:prstGeom prst="rect">
            <a:avLst/>
          </a:prstGeom>
          <a:solidFill>
            <a:srgbClr val="F2F4F8"/>
          </a:solidFill>
          <a:ln w="19050">
            <a:solidFill>
              <a:srgbClr val="52525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1">
                <a:solidFill>
                  <a:srgbClr val="525252"/>
                </a:solidFill>
                <a:latin typeface="Arial"/>
              </a:rPr>
              <a:t>VISUAL: three-lane routing graphic, APPROVE / STEP_UP / HOLD (Arun)</a:t>
            </a:r>
          </a:p>
        </p:txBody>
      </p:sp>
      <p:sp>
        <p:nvSpPr>
          <p:cNvPr id="9" name="TextBox 8"/>
          <p:cNvSpPr txBox="1"/>
          <p:nvPr/>
        </p:nvSpPr>
        <p:spPr>
          <a:xfrm>
            <a:off x="548640" y="5349240"/>
            <a:ext cx="11155680" cy="1005840"/>
          </a:xfrm>
          <a:prstGeom prst="rect">
            <a:avLst/>
          </a:prstGeom>
          <a:noFill/>
        </p:spPr>
        <p:txBody>
          <a:bodyPr wrap="square" anchor="t" lIns="45720" rIns="45720">
            <a:spAutoFit/>
          </a:bodyPr>
          <a:lstStyle/>
          <a:p>
            <a:pPr algn="l"/>
            <a:r>
              <a:rPr sz="1200" b="0" i="1">
                <a:solidFill>
                  <a:srgbClr val="525252"/>
                </a:solidFill>
                <a:latin typeface="Arial"/>
              </a:rPr>
              <a:t>The score and the reasons come from a rule-based scorer. Alerts come from fixed templates, and every alert is checked before it is used.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Three stories in one replay: a drain is held, a burst is flagged, a normal day flows.</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4</a:t>
            </a:r>
          </a:p>
        </p:txBody>
      </p:sp>
      <p:sp>
        <p:nvSpPr>
          <p:cNvPr id="7" name="TextBox 6"/>
          <p:cNvSpPr txBox="1"/>
          <p:nvPr/>
        </p:nvSpPr>
        <p:spPr>
          <a:xfrm>
            <a:off x="548640" y="1691640"/>
            <a:ext cx="6309360" cy="3566160"/>
          </a:xfrm>
          <a:prstGeom prst="rect">
            <a:avLst/>
          </a:prstGeom>
          <a:noFill/>
        </p:spPr>
        <p:txBody>
          <a:bodyPr wrap="square">
            <a:spAutoFit/>
          </a:bodyPr>
          <a:lstStyle/>
          <a:p>
            <a:pPr>
              <a:spcAft>
                <a:spcPts val="1000"/>
              </a:spcAft>
            </a:pPr>
            <a:r>
              <a:rPr sz="2000">
                <a:solidFill>
                  <a:srgbClr val="161616"/>
                </a:solidFill>
                <a:latin typeface="Arial"/>
              </a:rPr>
              <a:t>•  Scam Drain: at 2 AM, ₹48,000, the whole balance, goes to a brand-new recipient. Result: HOLD. The analyst blocks it.</a:t>
            </a:r>
          </a:p>
          <a:p>
            <a:pPr>
              <a:spcAft>
                <a:spcPts val="1000"/>
              </a:spcAft>
            </a:pPr>
            <a:r>
              <a:rPr sz="2000">
                <a:solidFill>
                  <a:srgbClr val="161616"/>
                </a:solidFill>
                <a:latin typeface="Arial"/>
              </a:rPr>
              <a:t>•  Mule Burst: ten payers send money to one account. From the sixth transfer on, each one is STEP_UP.</a:t>
            </a:r>
          </a:p>
          <a:p>
            <a:pPr>
              <a:spcAft>
                <a:spcPts val="1000"/>
              </a:spcAft>
            </a:pPr>
            <a:r>
              <a:rPr sz="2000">
                <a:solidFill>
                  <a:srgbClr val="161616"/>
                </a:solidFill>
                <a:latin typeface="Arial"/>
              </a:rPr>
              <a:t>•  Normal Day: 245 of 252 payments are approved with no extra step.</a:t>
            </a:r>
          </a:p>
        </p:txBody>
      </p:sp>
      <p:sp>
        <p:nvSpPr>
          <p:cNvPr id="8" name="Rectangle 7"/>
          <p:cNvSpPr/>
          <p:nvPr/>
        </p:nvSpPr>
        <p:spPr>
          <a:xfrm>
            <a:off x="7132320" y="1737360"/>
            <a:ext cx="4572000" cy="3291840"/>
          </a:xfrm>
          <a:prstGeom prst="rect">
            <a:avLst/>
          </a:prstGeom>
          <a:solidFill>
            <a:srgbClr val="F2F4F8"/>
          </a:solidFill>
          <a:ln w="19050">
            <a:solidFill>
              <a:srgbClr val="52525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1">
                <a:solidFill>
                  <a:srgbClr val="525252"/>
                </a:solidFill>
                <a:latin typeface="Arial"/>
              </a:rPr>
              <a:t>VISUAL: screenshot of the dashboard after the replay, with the two HOLD rows (Arun)</a:t>
            </a:r>
          </a:p>
        </p:txBody>
      </p:sp>
      <p:sp>
        <p:nvSpPr>
          <p:cNvPr id="9" name="TextBox 8"/>
          <p:cNvSpPr txBox="1"/>
          <p:nvPr/>
        </p:nvSpPr>
        <p:spPr>
          <a:xfrm>
            <a:off x="548640" y="5349240"/>
            <a:ext cx="11155680" cy="1005840"/>
          </a:xfrm>
          <a:prstGeom prst="rect">
            <a:avLst/>
          </a:prstGeom>
          <a:noFill/>
        </p:spPr>
        <p:txBody>
          <a:bodyPr wrap="square" anchor="t" lIns="45720" rIns="45720">
            <a:spAutoFit/>
          </a:bodyPr>
          <a:lstStyle/>
          <a:p>
            <a:pPr algn="l"/>
            <a:r>
              <a:rPr sz="1200" b="0" i="1">
                <a:solidFill>
                  <a:srgbClr val="525252"/>
                </a:solidFill>
                <a:latin typeface="Arial"/>
              </a:rPr>
              <a:t>Alert text for the held payment, as produced: "We paused a payment of ₹48,000 for a safety review. Reason: account emptied in one transfer, new recipient, large payment at an unusual hour. Our team will contact you. Never share your OTP or PIN." Data: the synthetic sample stream in the repo (docs/samples/sample_stream.csv).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One short path from payment to decision, with every step logged.</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5</a:t>
            </a:r>
          </a:p>
        </p:txBody>
      </p:sp>
      <p:sp>
        <p:nvSpPr>
          <p:cNvPr id="7" name="TextBox 6"/>
          <p:cNvSpPr txBox="1"/>
          <p:nvPr/>
        </p:nvSpPr>
        <p:spPr>
          <a:xfrm>
            <a:off x="548640" y="1691640"/>
            <a:ext cx="6309360" cy="3566160"/>
          </a:xfrm>
          <a:prstGeom prst="rect">
            <a:avLst/>
          </a:prstGeom>
          <a:noFill/>
        </p:spPr>
        <p:txBody>
          <a:bodyPr wrap="square">
            <a:spAutoFit/>
          </a:bodyPr>
          <a:lstStyle/>
          <a:p>
            <a:pPr>
              <a:spcAft>
                <a:spcPts val="1000"/>
              </a:spcAft>
            </a:pPr>
            <a:r>
              <a:rPr sz="2000">
                <a:solidFill>
                  <a:srgbClr val="161616"/>
                </a:solidFill>
                <a:latin typeface="Arial"/>
              </a:rPr>
              <a:t>•  Stream (producer.py), then POST /score, live features, scorer, decision engine.</a:t>
            </a:r>
          </a:p>
          <a:p>
            <a:pPr>
              <a:spcAft>
                <a:spcPts val="1000"/>
              </a:spcAft>
            </a:pPr>
            <a:r>
              <a:rPr sz="2000">
                <a:solidFill>
                  <a:srgbClr val="161616"/>
                </a:solidFill>
                <a:latin typeface="Arial"/>
              </a:rPr>
              <a:t>•  Flagged payments get reasons and an alert. Every decision goes to a SQLite audit log, then the dashboard.</a:t>
            </a:r>
          </a:p>
          <a:p>
            <a:pPr>
              <a:spcAft>
                <a:spcPts val="1000"/>
              </a:spcAft>
            </a:pPr>
            <a:r>
              <a:rPr sz="2000">
                <a:solidFill>
                  <a:srgbClr val="161616"/>
                </a:solidFill>
                <a:latin typeface="Arial"/>
              </a:rPr>
              <a:t>•  If scoring fails, the result is STEP_UP and the error is stored.</a:t>
            </a:r>
          </a:p>
        </p:txBody>
      </p:sp>
      <p:sp>
        <p:nvSpPr>
          <p:cNvPr id="8" name="Rectangle 7"/>
          <p:cNvSpPr/>
          <p:nvPr/>
        </p:nvSpPr>
        <p:spPr>
          <a:xfrm>
            <a:off x="7132320" y="1737360"/>
            <a:ext cx="4572000" cy="3291840"/>
          </a:xfrm>
          <a:prstGeom prst="rect">
            <a:avLst/>
          </a:prstGeom>
          <a:solidFill>
            <a:srgbClr val="F2F4F8"/>
          </a:solidFill>
          <a:ln w="19050">
            <a:solidFill>
              <a:srgbClr val="52525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1">
                <a:solidFill>
                  <a:srgbClr val="525252"/>
                </a:solidFill>
                <a:latin typeface="Arial"/>
              </a:rPr>
              <a:t>VISUAL: architecture diagram as built, stream to dashboard, with the alert step and fail-safe marked (Arun)</a:t>
            </a:r>
          </a:p>
        </p:txBody>
      </p:sp>
      <p:sp>
        <p:nvSpPr>
          <p:cNvPr id="9" name="TextBox 8"/>
          <p:cNvSpPr txBox="1"/>
          <p:nvPr/>
        </p:nvSpPr>
        <p:spPr>
          <a:xfrm>
            <a:off x="548640" y="5349240"/>
            <a:ext cx="11155680" cy="1005840"/>
          </a:xfrm>
          <a:prstGeom prst="rect">
            <a:avLst/>
          </a:prstGeom>
          <a:noFill/>
        </p:spPr>
        <p:txBody>
          <a:bodyPr wrap="square" anchor="t" lIns="45720" rIns="45720">
            <a:spAutoFit/>
          </a:bodyPr>
          <a:lstStyle/>
          <a:p>
            <a:pPr algn="l"/>
            <a:r>
              <a:rPr sz="1200" b="0" i="1">
                <a:solidFill>
                  <a:srgbClr val="525252"/>
                </a:solidFill>
                <a:latin typeface="Arial"/>
              </a:rPr>
              <a:t>Live features use the payment itself and past events only. The API also loads an ONNX model file when one is provided (tested with a stand-in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ZShield is designed for IBM Z / LinuxONE: decide inside the payment flow, before settlement.</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6</a:t>
            </a:r>
          </a:p>
        </p:txBody>
      </p:sp>
      <p:sp>
        <p:nvSpPr>
          <p:cNvPr id="7" name="TextBox 6"/>
          <p:cNvSpPr txBox="1"/>
          <p:nvPr/>
        </p:nvSpPr>
        <p:spPr>
          <a:xfrm>
            <a:off x="548640" y="1691640"/>
            <a:ext cx="6309360" cy="3566160"/>
          </a:xfrm>
          <a:prstGeom prst="rect">
            <a:avLst/>
          </a:prstGeom>
          <a:noFill/>
        </p:spPr>
        <p:txBody>
          <a:bodyPr wrap="square">
            <a:spAutoFit/>
          </a:bodyPr>
          <a:lstStyle/>
          <a:p>
            <a:pPr>
              <a:spcAft>
                <a:spcPts val="1000"/>
              </a:spcAft>
            </a:pPr>
            <a:r>
              <a:rPr sz="2000">
                <a:solidFill>
                  <a:srgbClr val="161616"/>
                </a:solidFill>
                <a:latin typeface="Arial"/>
              </a:rPr>
              <a:t>•  Designed to score next to the transaction, so sensitive payment data does not travel to an outside ML server.</a:t>
            </a:r>
          </a:p>
          <a:p>
            <a:pPr>
              <a:spcAft>
                <a:spcPts val="1000"/>
              </a:spcAft>
            </a:pPr>
            <a:r>
              <a:rPr sz="2000">
                <a:solidFill>
                  <a:srgbClr val="161616"/>
                </a:solidFill>
                <a:latin typeface="Arial"/>
              </a:rPr>
              <a:t>•  The decision step is small and fast: about 0.04 ms per payment in our laptop test.</a:t>
            </a:r>
          </a:p>
          <a:p>
            <a:pPr>
              <a:spcAft>
                <a:spcPts val="1000"/>
              </a:spcAft>
            </a:pPr>
            <a:r>
              <a:rPr sz="2000">
                <a:solidFill>
                  <a:srgbClr val="161616"/>
                </a:solidFill>
                <a:latin typeface="Arial"/>
              </a:rPr>
              <a:t>•  The scoring service needs only a short list of Python packages (requirements-api.txt).</a:t>
            </a:r>
          </a:p>
        </p:txBody>
      </p:sp>
      <p:sp>
        <p:nvSpPr>
          <p:cNvPr id="8" name="Rectangle 7"/>
          <p:cNvSpPr/>
          <p:nvPr/>
        </p:nvSpPr>
        <p:spPr>
          <a:xfrm>
            <a:off x="7132320" y="1737360"/>
            <a:ext cx="4572000" cy="3291840"/>
          </a:xfrm>
          <a:prstGeom prst="rect">
            <a:avLst/>
          </a:prstGeom>
          <a:solidFill>
            <a:srgbClr val="F2F4F8"/>
          </a:solidFill>
          <a:ln w="19050">
            <a:solidFill>
              <a:srgbClr val="52525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1">
                <a:solidFill>
                  <a:srgbClr val="525252"/>
                </a:solidFill>
                <a:latin typeface="Arial"/>
              </a:rPr>
              <a:t>VISUAL: diagram of ZShield inside the payment flow on IBM Z / LinuxONE, labelled "design" (Arun)</a:t>
            </a:r>
          </a:p>
        </p:txBody>
      </p:sp>
      <p:sp>
        <p:nvSpPr>
          <p:cNvPr id="9" name="TextBox 8"/>
          <p:cNvSpPr txBox="1"/>
          <p:nvPr/>
        </p:nvSpPr>
        <p:spPr>
          <a:xfrm>
            <a:off x="548640" y="5349240"/>
            <a:ext cx="11155680" cy="1005840"/>
          </a:xfrm>
          <a:prstGeom prst="rect">
            <a:avLst/>
          </a:prstGeom>
          <a:noFill/>
        </p:spPr>
        <p:txBody>
          <a:bodyPr wrap="square" anchor="t" lIns="45720" rIns="45720">
            <a:spAutoFit/>
          </a:bodyPr>
          <a:lstStyle/>
          <a:p>
            <a:pPr algn="l"/>
            <a:r>
              <a:rPr sz="1200" b="0" i="1">
                <a:solidFill>
                  <a:srgbClr val="525252"/>
                </a:solidFill>
                <a:latin typeface="Arial"/>
              </a:rPr>
              <a:t>Scale: UPI recorded 2,366 crore transactions in July 2026 (PIB, key statistics attributed to NPCI). This is context, not a benchmark of ours. Laptop test: Intel i7, x86, rule-based scorer.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Synthetic payments, and features built only from what is known at the moment of payment.</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7</a:t>
            </a:r>
          </a:p>
        </p:txBody>
      </p:sp>
      <p:sp>
        <p:nvSpPr>
          <p:cNvPr id="7" name="TextBox 6"/>
          <p:cNvSpPr txBox="1"/>
          <p:nvPr/>
        </p:nvSpPr>
        <p:spPr>
          <a:xfrm>
            <a:off x="548640" y="1691640"/>
            <a:ext cx="6309360" cy="3566160"/>
          </a:xfrm>
          <a:prstGeom prst="rect">
            <a:avLst/>
          </a:prstGeom>
          <a:noFill/>
        </p:spPr>
        <p:txBody>
          <a:bodyPr wrap="square">
            <a:spAutoFit/>
          </a:bodyPr>
          <a:lstStyle/>
          <a:p>
            <a:pPr>
              <a:spcAft>
                <a:spcPts val="1000"/>
              </a:spcAft>
            </a:pPr>
            <a:r>
              <a:rPr sz="2000">
                <a:solidFill>
                  <a:srgbClr val="161616"/>
                </a:solidFill>
                <a:latin typeface="Arial"/>
              </a:rPr>
              <a:t>•  PaySim-format synthetic data. No real customers, names or demographics.</a:t>
            </a:r>
          </a:p>
          <a:p>
            <a:pPr>
              <a:spcAft>
                <a:spcPts val="1000"/>
              </a:spcAft>
            </a:pPr>
            <a:r>
              <a:rPr sz="2000">
                <a:solidFill>
                  <a:srgbClr val="161616"/>
                </a:solidFill>
                <a:latin typeface="Arial"/>
              </a:rPr>
              <a:t>•  Features: balance mismatches, amount-to-balance ratio, full-drain flag, hour of day, payment type, new recipient.</a:t>
            </a:r>
          </a:p>
          <a:p>
            <a:pPr>
              <a:spcAft>
                <a:spcPts val="1000"/>
              </a:spcAft>
            </a:pPr>
            <a:r>
              <a:rPr sz="2000">
                <a:solidFill>
                  <a:srgbClr val="161616"/>
                </a:solidFill>
                <a:latin typeface="Arial"/>
              </a:rPr>
              <a:t>•  History features from past events only: sender's recent payments and recipient's recent inbound payments.</a:t>
            </a:r>
          </a:p>
        </p:txBody>
      </p:sp>
      <p:sp>
        <p:nvSpPr>
          <p:cNvPr id="8" name="Rectangle 7"/>
          <p:cNvSpPr/>
          <p:nvPr/>
        </p:nvSpPr>
        <p:spPr>
          <a:xfrm>
            <a:off x="7132320" y="1737360"/>
            <a:ext cx="4572000" cy="3291840"/>
          </a:xfrm>
          <a:prstGeom prst="rect">
            <a:avLst/>
          </a:prstGeom>
          <a:solidFill>
            <a:srgbClr val="F2F4F8"/>
          </a:solidFill>
          <a:ln w="19050">
            <a:solidFill>
              <a:srgbClr val="52525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1">
                <a:solidFill>
                  <a:srgbClr val="525252"/>
                </a:solidFill>
                <a:latin typeface="Arial"/>
              </a:rPr>
              <a:t>VISUAL: feature table, name and plain meaning (Arun)</a:t>
            </a:r>
          </a:p>
        </p:txBody>
      </p:sp>
      <p:sp>
        <p:nvSpPr>
          <p:cNvPr id="9" name="TextBox 8"/>
          <p:cNvSpPr txBox="1"/>
          <p:nvPr/>
        </p:nvSpPr>
        <p:spPr>
          <a:xfrm>
            <a:off x="548640" y="5349240"/>
            <a:ext cx="11155680" cy="1005840"/>
          </a:xfrm>
          <a:prstGeom prst="rect">
            <a:avLst/>
          </a:prstGeom>
          <a:noFill/>
        </p:spPr>
        <p:txBody>
          <a:bodyPr wrap="square" anchor="t" lIns="45720" rIns="45720">
            <a:spAutoFit/>
          </a:bodyPr>
          <a:lstStyle/>
          <a:p>
            <a:pPr algn="l"/>
            <a:r>
              <a:rPr sz="1200" b="0" i="1">
                <a:solidFill>
                  <a:srgbClr val="525252"/>
                </a:solidFill>
                <a:latin typeface="Arial"/>
              </a:rPr>
              <a:t>PaySim is synthetic and relatively easy, so real-world performance is unknown. Code: features/features.py and api/state.py.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Measured so far: decisions in milliseconds, and both drain payments held.</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8</a:t>
            </a:r>
          </a:p>
        </p:txBody>
      </p:sp>
      <p:sp>
        <p:nvSpPr>
          <p:cNvPr id="7" name="TextBox 6"/>
          <p:cNvSpPr txBox="1"/>
          <p:nvPr/>
        </p:nvSpPr>
        <p:spPr>
          <a:xfrm>
            <a:off x="548640" y="1691640"/>
            <a:ext cx="6309360" cy="3566160"/>
          </a:xfrm>
          <a:prstGeom prst="rect">
            <a:avLst/>
          </a:prstGeom>
          <a:noFill/>
        </p:spPr>
        <p:txBody>
          <a:bodyPr wrap="square">
            <a:spAutoFit/>
          </a:bodyPr>
          <a:lstStyle/>
          <a:p>
            <a:pPr>
              <a:spcAft>
                <a:spcPts val="1000"/>
              </a:spcAft>
            </a:pPr>
            <a:r>
              <a:rPr sz="2000">
                <a:solidFill>
                  <a:srgbClr val="161616"/>
                </a:solidFill>
                <a:latin typeface="Arial"/>
              </a:rPr>
              <a:t>•  Load test, 5,000 payments, 0 errors: p95 3.2 ms end to end; 375 payments per second one at a time, 718 with 8 clients.</a:t>
            </a:r>
          </a:p>
          <a:p>
            <a:pPr>
              <a:spcAft>
                <a:spcPts val="1000"/>
              </a:spcAft>
            </a:pPr>
            <a:r>
              <a:rPr sz="2000">
                <a:solidFill>
                  <a:srgbClr val="161616"/>
                </a:solidFill>
                <a:latin typeface="Arial"/>
              </a:rPr>
              <a:t>•  Sample replay, 252 payments: 245 approved, 5 STEP_UP, 2 HOLD. Both full-drain payments were held.</a:t>
            </a:r>
          </a:p>
          <a:p>
            <a:pPr>
              <a:spcAft>
                <a:spcPts val="1000"/>
              </a:spcAft>
            </a:pPr>
            <a:r>
              <a:rPr sz="2000">
                <a:solidFill>
                  <a:srgbClr val="161616"/>
                </a:solidFill>
                <a:latin typeface="Arial"/>
              </a:rPr>
              <a:t>•  Alert safety: 119 offline tests pass; 25,664 template cases checked with no false rejection.</a:t>
            </a:r>
          </a:p>
        </p:txBody>
      </p:sp>
      <p:sp>
        <p:nvSpPr>
          <p:cNvPr id="8" name="Rectangle 7"/>
          <p:cNvSpPr/>
          <p:nvPr/>
        </p:nvSpPr>
        <p:spPr>
          <a:xfrm>
            <a:off x="7132320" y="1737360"/>
            <a:ext cx="4572000" cy="3291840"/>
          </a:xfrm>
          <a:prstGeom prst="rect">
            <a:avLst/>
          </a:prstGeom>
          <a:solidFill>
            <a:srgbClr val="F2F4F8"/>
          </a:solidFill>
          <a:ln w="19050">
            <a:solidFill>
              <a:srgbClr val="52525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1">
                <a:solidFill>
                  <a:srgbClr val="525252"/>
                </a:solidFill>
                <a:latin typeface="Arial"/>
              </a:rPr>
              <a:t>VISUAL: latency and throughput table from docs/deck/measured_17oct.md (Arun)</a:t>
            </a:r>
          </a:p>
        </p:txBody>
      </p:sp>
      <p:sp>
        <p:nvSpPr>
          <p:cNvPr id="9" name="TextBox 8"/>
          <p:cNvSpPr txBox="1"/>
          <p:nvPr/>
        </p:nvSpPr>
        <p:spPr>
          <a:xfrm>
            <a:off x="548640" y="5349240"/>
            <a:ext cx="11155680" cy="1005840"/>
          </a:xfrm>
          <a:prstGeom prst="rect">
            <a:avLst/>
          </a:prstGeom>
          <a:noFill/>
        </p:spPr>
        <p:txBody>
          <a:bodyPr wrap="square" anchor="t" lIns="45720" rIns="45720">
            <a:spAutoFit/>
          </a:bodyPr>
          <a:lstStyle/>
          <a:p>
            <a:pPr algn="l"/>
            <a:r>
              <a:rPr sz="1200" b="0" i="1">
                <a:solidFill>
                  <a:srgbClr val="525252"/>
                </a:solidFill>
                <a:latin typeface="Arial"/>
              </a:rPr>
              <a:t>Measured 17 Oct 2026 on a laptop (Intel i7, x86) with the rule-based scorer, not on IBM Z. Tables: docs/deck/measured_17oct.md.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The AI explains and a human decides, and every limit is stated.</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9</a:t>
            </a:r>
          </a:p>
        </p:txBody>
      </p:sp>
      <p:sp>
        <p:nvSpPr>
          <p:cNvPr id="7" name="TextBox 6"/>
          <p:cNvSpPr txBox="1"/>
          <p:nvPr/>
        </p:nvSpPr>
        <p:spPr>
          <a:xfrm>
            <a:off x="548640" y="1691640"/>
            <a:ext cx="6309360" cy="3566160"/>
          </a:xfrm>
          <a:prstGeom prst="rect">
            <a:avLst/>
          </a:prstGeom>
          <a:noFill/>
        </p:spPr>
        <p:txBody>
          <a:bodyPr wrap="square">
            <a:spAutoFit/>
          </a:bodyPr>
          <a:lstStyle/>
          <a:p>
            <a:pPr>
              <a:spcAft>
                <a:spcPts val="1000"/>
              </a:spcAft>
            </a:pPr>
            <a:r>
              <a:rPr sz="2000">
                <a:solidFill>
                  <a:srgbClr val="161616"/>
                </a:solidFill>
                <a:latin typeface="Arial"/>
              </a:rPr>
              <a:t>•  Synthetic data only. No names or demographics. Every flagged payment shows its reasons.</a:t>
            </a:r>
          </a:p>
          <a:p>
            <a:pPr>
              <a:spcAft>
                <a:spcPts val="1000"/>
              </a:spcAft>
            </a:pPr>
            <a:r>
              <a:rPr sz="2000">
                <a:solidFill>
                  <a:srgbClr val="161616"/>
                </a:solidFill>
                <a:latin typeface="Arial"/>
              </a:rPr>
              <a:t>•  Alert text only rephrases facts we give it. Every word is checked, with a template fallback. It cannot change a decision.</a:t>
            </a:r>
          </a:p>
          <a:p>
            <a:pPr>
              <a:spcAft>
                <a:spcPts val="1000"/>
              </a:spcAft>
            </a:pPr>
            <a:r>
              <a:rPr sz="2000">
                <a:solidFill>
                  <a:srgbClr val="161616"/>
                </a:solidFill>
                <a:latin typeface="Arial"/>
              </a:rPr>
              <a:t>•  Fail-safe to STEP_UP. Every decision and analyst action is logged.</a:t>
            </a:r>
          </a:p>
        </p:txBody>
      </p:sp>
      <p:sp>
        <p:nvSpPr>
          <p:cNvPr id="8" name="Rectangle 7"/>
          <p:cNvSpPr/>
          <p:nvPr/>
        </p:nvSpPr>
        <p:spPr>
          <a:xfrm>
            <a:off x="7132320" y="1737360"/>
            <a:ext cx="4572000" cy="3291840"/>
          </a:xfrm>
          <a:prstGeom prst="rect">
            <a:avLst/>
          </a:prstGeom>
          <a:solidFill>
            <a:srgbClr val="F2F4F8"/>
          </a:solidFill>
          <a:ln w="19050">
            <a:solidFill>
              <a:srgbClr val="52525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1">
                <a:solidFill>
                  <a:srgbClr val="525252"/>
                </a:solidFill>
                <a:latin typeface="Arial"/>
              </a:rPr>
              <a:t>VISUAL: six-point responsible-AI checklist graphic (Arun)</a:t>
            </a:r>
          </a:p>
        </p:txBody>
      </p:sp>
      <p:sp>
        <p:nvSpPr>
          <p:cNvPr id="9" name="TextBox 8"/>
          <p:cNvSpPr txBox="1"/>
          <p:nvPr/>
        </p:nvSpPr>
        <p:spPr>
          <a:xfrm>
            <a:off x="548640" y="5349240"/>
            <a:ext cx="11155680" cy="1005840"/>
          </a:xfrm>
          <a:prstGeom prst="rect">
            <a:avLst/>
          </a:prstGeom>
          <a:noFill/>
        </p:spPr>
        <p:txBody>
          <a:bodyPr wrap="square" anchor="t" lIns="45720" rIns="45720">
            <a:spAutoFit/>
          </a:bodyPr>
          <a:lstStyle/>
          <a:p>
            <a:pPr algn="l"/>
            <a:r>
              <a:rPr sz="1200" b="0" i="1">
                <a:solidFill>
                  <a:srgbClr val="525252"/>
                </a:solidFill>
                <a:latin typeface="Arial"/>
              </a:rPr>
              <a:t>See docs/responsible_ai.md. Limits: synthetic data, drift over time, fraudsters adapt.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Stopping a payment before settlement is the point where a scam can still be undone.</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10</a:t>
            </a:r>
          </a:p>
        </p:txBody>
      </p:sp>
      <p:sp>
        <p:nvSpPr>
          <p:cNvPr id="7" name="TextBox 6"/>
          <p:cNvSpPr txBox="1"/>
          <p:nvPr/>
        </p:nvSpPr>
        <p:spPr>
          <a:xfrm>
            <a:off x="548640" y="1691640"/>
            <a:ext cx="6309360" cy="3566160"/>
          </a:xfrm>
          <a:prstGeom prst="rect">
            <a:avLst/>
          </a:prstGeom>
          <a:noFill/>
        </p:spPr>
        <p:txBody>
          <a:bodyPr wrap="square">
            <a:spAutoFit/>
          </a:bodyPr>
          <a:lstStyle/>
          <a:p>
            <a:pPr>
              <a:spcAft>
                <a:spcPts val="1000"/>
              </a:spcAft>
            </a:pPr>
            <a:r>
              <a:rPr sz="2000">
                <a:solidFill>
                  <a:srgbClr val="161616"/>
                </a:solidFill>
                <a:latin typeface="Arial"/>
              </a:rPr>
              <a:t>•  In the sample replay, ₹79,500 in two drain payments was held before settlement.</a:t>
            </a:r>
          </a:p>
          <a:p>
            <a:pPr>
              <a:spcAft>
                <a:spcPts val="1000"/>
              </a:spcAft>
            </a:pPr>
            <a:r>
              <a:rPr sz="2000">
                <a:solidFill>
                  <a:srgbClr val="161616"/>
                </a:solidFill>
                <a:latin typeface="Arial"/>
              </a:rPr>
              <a:t>•  Honest customers: 245 of 252 payments went through with no extra step.</a:t>
            </a:r>
          </a:p>
          <a:p>
            <a:pPr>
              <a:spcAft>
                <a:spcPts val="1000"/>
              </a:spcAft>
            </a:pPr>
            <a:r>
              <a:rPr sz="2000">
                <a:solidFill>
                  <a:srgbClr val="161616"/>
                </a:solidFill>
                <a:latin typeface="Arial"/>
              </a:rPr>
              <a:t>•  Reporting after the fact still saves some money: more than ₹11,158 crore saved in more than 32.80 lakh complaints (till 30.06.2026). ZShield acts earlier.</a:t>
            </a:r>
          </a:p>
        </p:txBody>
      </p:sp>
      <p:sp>
        <p:nvSpPr>
          <p:cNvPr id="8" name="Rectangle 7"/>
          <p:cNvSpPr/>
          <p:nvPr/>
        </p:nvSpPr>
        <p:spPr>
          <a:xfrm>
            <a:off x="7132320" y="1737360"/>
            <a:ext cx="4572000" cy="3291840"/>
          </a:xfrm>
          <a:prstGeom prst="rect">
            <a:avLst/>
          </a:prstGeom>
          <a:solidFill>
            <a:srgbClr val="F2F4F8"/>
          </a:solidFill>
          <a:ln w="19050">
            <a:solidFill>
              <a:srgbClr val="52525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800" b="1">
                <a:solidFill>
                  <a:srgbClr val="525252"/>
                </a:solidFill>
                <a:latin typeface="Arial"/>
              </a:rPr>
              <a:t>VISUAL: impact panel, the dashboard's Value intercepted and Processed tiles after the replay (Arun)</a:t>
            </a:r>
          </a:p>
        </p:txBody>
      </p:sp>
      <p:sp>
        <p:nvSpPr>
          <p:cNvPr id="9" name="TextBox 8"/>
          <p:cNvSpPr txBox="1"/>
          <p:nvPr/>
        </p:nvSpPr>
        <p:spPr>
          <a:xfrm>
            <a:off x="548640" y="5349240"/>
            <a:ext cx="11155680" cy="1005840"/>
          </a:xfrm>
          <a:prstGeom prst="rect">
            <a:avLst/>
          </a:prstGeom>
          <a:noFill/>
        </p:spPr>
        <p:txBody>
          <a:bodyPr wrap="square" anchor="t" lIns="45720" rIns="45720">
            <a:spAutoFit/>
          </a:bodyPr>
          <a:lstStyle/>
          <a:p>
            <a:pPr algn="l"/>
            <a:r>
              <a:rPr sz="1200" b="0" i="1">
                <a:solidFill>
                  <a:srgbClr val="525252"/>
                </a:solidFill>
                <a:latin typeface="Arial"/>
              </a:rPr>
              <a:t>Replay amounts are synthetic. Source for the national figure: PIB, MHA, "National Cyber Crime Data", 21 Jul 2026. "Saved" covers complaints till 30.06.2026; we do not compute a recovery 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247120" cy="1188720"/>
          </a:xfrm>
          <a:prstGeom prst="rect">
            <a:avLst/>
          </a:prstGeom>
          <a:noFill/>
        </p:spPr>
        <p:txBody>
          <a:bodyPr wrap="square" anchor="ctr" lIns="45720" rIns="45720">
            <a:spAutoFit/>
          </a:bodyPr>
          <a:lstStyle/>
          <a:p>
            <a:pPr algn="l"/>
            <a:r>
              <a:rPr sz="2800" b="1" i="0">
                <a:solidFill>
                  <a:srgbClr val="161616"/>
                </a:solidFill>
                <a:latin typeface="Arial"/>
              </a:rPr>
              <a:t>Appendix: sources and notes</a:t>
            </a:r>
          </a:p>
        </p:txBody>
      </p:sp>
      <p:cxnSp>
        <p:nvCxnSpPr>
          <p:cNvPr id="4" name="Connector 3"/>
          <p:cNvCxnSpPr/>
          <p:nvPr/>
        </p:nvCxnSpPr>
        <p:spPr>
          <a:xfrm>
            <a:off x="548640" y="1508760"/>
            <a:ext cx="11064240" cy="0"/>
          </a:xfrm>
          <a:prstGeom prst="line">
            <a:avLst/>
          </a:prstGeom>
          <a:ln w="25400">
            <a:solidFill>
              <a:srgbClr val="0F62F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00800"/>
            <a:ext cx="7315200" cy="320040"/>
          </a:xfrm>
          <a:prstGeom prst="rect">
            <a:avLst/>
          </a:prstGeom>
          <a:noFill/>
        </p:spPr>
        <p:txBody>
          <a:bodyPr wrap="square" anchor="t" lIns="45720" rIns="45720">
            <a:spAutoFit/>
          </a:bodyPr>
          <a:lstStyle/>
          <a:p>
            <a:pPr algn="l"/>
            <a:r>
              <a:rPr sz="1200" b="0" i="0">
                <a:solidFill>
                  <a:srgbClr val="525252"/>
                </a:solidFill>
                <a:latin typeface="Arial"/>
              </a:rPr>
              <a:t>ZShield | IBM Z Datathon 2026</a:t>
            </a:r>
          </a:p>
        </p:txBody>
      </p:sp>
      <p:sp>
        <p:nvSpPr>
          <p:cNvPr id="6" name="TextBox 5"/>
          <p:cNvSpPr txBox="1"/>
          <p:nvPr/>
        </p:nvSpPr>
        <p:spPr>
          <a:xfrm>
            <a:off x="10789920" y="6400800"/>
            <a:ext cx="914400" cy="320040"/>
          </a:xfrm>
          <a:prstGeom prst="rect">
            <a:avLst/>
          </a:prstGeom>
          <a:noFill/>
        </p:spPr>
        <p:txBody>
          <a:bodyPr wrap="square" anchor="t" lIns="45720" rIns="45720">
            <a:spAutoFit/>
          </a:bodyPr>
          <a:lstStyle/>
          <a:p>
            <a:pPr algn="r"/>
            <a:r>
              <a:rPr sz="1200" b="0" i="0">
                <a:solidFill>
                  <a:srgbClr val="525252"/>
                </a:solidFill>
                <a:latin typeface="Arial"/>
              </a:rPr>
              <a:t>11</a:t>
            </a:r>
          </a:p>
        </p:txBody>
      </p:sp>
      <p:sp>
        <p:nvSpPr>
          <p:cNvPr id="7" name="TextBox 6"/>
          <p:cNvSpPr txBox="1"/>
          <p:nvPr/>
        </p:nvSpPr>
        <p:spPr>
          <a:xfrm>
            <a:off x="548640" y="1691640"/>
            <a:ext cx="11155680" cy="4572000"/>
          </a:xfrm>
          <a:prstGeom prst="rect">
            <a:avLst/>
          </a:prstGeom>
          <a:noFill/>
        </p:spPr>
        <p:txBody>
          <a:bodyPr wrap="square">
            <a:spAutoFit/>
          </a:bodyPr>
          <a:lstStyle/>
          <a:p>
            <a:pPr>
              <a:spcAft>
                <a:spcPts val="600"/>
              </a:spcAft>
            </a:pPr>
            <a:r>
              <a:rPr sz="1300">
                <a:solidFill>
                  <a:srgbClr val="161616"/>
                </a:solidFill>
                <a:latin typeface="Arial"/>
              </a:rPr>
              <a:t>•  Stat 2 (opener): RBI, "Discussion Paper - Exploring safeguards in digital payments to curb frauds", 9 Apr 2026. https://www.rbi.org.in/Scripts/PublicationsView.aspx?id=23810 (accessed 2026-10-17)</a:t>
            </a:r>
          </a:p>
          <a:p>
            <a:pPr>
              <a:spcAft>
                <a:spcPts val="600"/>
              </a:spcAft>
            </a:pPr>
            <a:r>
              <a:rPr sz="1300">
                <a:solidFill>
                  <a:srgbClr val="161616"/>
                </a:solidFill>
                <a:latin typeface="Arial"/>
              </a:rPr>
              <a:t>•  Stat 4 (slide 10): PIB / MHA, "National Cyber Crime Data", 21 Jul 2026. https://www.pib.gov.in/PressReleasePage.aspx?PRID=2287039&amp;reg=48&amp;lang=2 (accessed 2026-10-17)</a:t>
            </a:r>
          </a:p>
          <a:p>
            <a:pPr>
              <a:spcAft>
                <a:spcPts val="600"/>
              </a:spcAft>
            </a:pPr>
            <a:r>
              <a:rPr sz="1300">
                <a:solidFill>
                  <a:srgbClr val="161616"/>
                </a:solidFill>
                <a:latin typeface="Arial"/>
              </a:rPr>
              <a:t>•  Stat 5 (slide 6): PIB, "UPI Completes 10 Years of Digital Payments Revolution", 24 Aug 2026, key statistics attributed to NPCI. https://www.pib.gov.in/PressReleasePage.aspx?PRID=2302657&amp;reg=48&amp;lang=2 (accessed 2026-10-17)</a:t>
            </a:r>
          </a:p>
          <a:p>
            <a:pPr>
              <a:spcAft>
                <a:spcPts val="600"/>
              </a:spcAft>
            </a:pPr>
            <a:r>
              <a:rPr sz="1300">
                <a:solidFill>
                  <a:srgbClr val="161616"/>
                </a:solidFill>
                <a:latin typeface="Arial"/>
              </a:rPr>
              <a:t>•  Persona 3 reference: PIB (MHA), alert on "Digital Arrest" scams, 14 May 2024. https://www.pib.gov.in/PressReleasePage.aspx?PRID=2020570 (accessed 2026-10-17)</a:t>
            </a:r>
          </a:p>
          <a:p>
            <a:pPr>
              <a:spcAft>
                <a:spcPts val="600"/>
              </a:spcAft>
            </a:pPr>
            <a:r>
              <a:rPr sz="1300">
                <a:solidFill>
                  <a:srgbClr val="161616"/>
                </a:solidFill>
                <a:latin typeface="Arial"/>
              </a:rPr>
              <a:t>•  Our measurements (slides 4, 6, 8, 10): docs/deck/measured_17oct.md, 17 Oct 2026, laptop (Intel i7, x86), rule-based scorer, synthetic sample stream.</a:t>
            </a:r>
          </a:p>
          <a:p>
            <a:pPr>
              <a:spcAft>
                <a:spcPts val="600"/>
              </a:spcAft>
            </a:pPr>
            <a:r>
              <a:rPr sz="1300">
                <a:solidFill>
                  <a:srgbClr val="161616"/>
                </a:solidFill>
                <a:latin typeface="Arial"/>
              </a:rPr>
              <a:t>•  Units: lakh = 100,000; crore = 10 million. Figures are "reported", not confirmed losses.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ZShield deck draft</dc:title>
  <dc:subject/>
  <dc:creator>ZShield team</dc:creator>
  <cp:keywords/>
  <dc:description>generated using python-pptx</dc:description>
  <cp:lastModifiedBy>Steve Canny</cp:lastModifiedBy>
  <cp:revision>1</cp:revision>
  <dcterms:created xsi:type="dcterms:W3CDTF">2026-10-18T00:04:12Z</dcterms:created>
  <dcterms:modified xsi:type="dcterms:W3CDTF">2026-10-18T00:04:12Z</dcterms:modified>
  <cp:category/>
</cp:coreProperties>
</file>