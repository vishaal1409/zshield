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 with the stat and say "reported", not "lost". Then read the problem line slowly. It is the question the rest of the deck answers.</a:t>
            </a:r>
          </a:p>
          <a:p/>
          <a:p>
            <a:r>
              <a:t>Visual needed: Stat card: bar chart of the RBI table (2.6 lakh in 2021 up to 28 lakh in 2025) with the opener quote. Use only that one table. Do not add the MHA or PIB 2024 numbers. (Supplier: Arun)</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insight has three parts: timing, reasons, human control. Say the personas are illustrative. Keep The Caller at the level of public scam patterns, no method.</a:t>
            </a:r>
          </a:p>
          <a:p/>
          <a:p>
            <a:r>
              <a:t>Visual needed: Three persona cards, each with one line of pain point and one line of what changes. Text from `docs/problem/personas.md`. (Supplier: Arun)</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Explain the three lanes in one breath. Stress that STEP_UP is the middle path that protects honest customers. The GenAI never makes or changes a decision.</a:t>
            </a:r>
          </a:p>
          <a:p/>
          <a:p>
            <a:r>
              <a:t>Visual needed: One graphic: a payment enters, a score appears, three lanes. HOLD lane ends at "analyst: Approve, Block or Escalate". (Supplier: Arun)</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Run the demo live. If it fails, play the backup clip and show the audit log. Replay each story after a reset so decisions are fresh. Full wording is in demo_script.md.</a:t>
            </a:r>
          </a:p>
          <a:p/>
          <a:p>
            <a:r>
              <a:t>Visual needed: Two screenshots: Live Feed during Normal Day, and Alert Detail for the held Scam Drain payment with the Block button. (Supplier: Armaan (docs/screenshots/))</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Walk the path left to right. Point out that the GenAI sits after the decision and cannot change it. Mention the fail-safe once.</a:t>
            </a:r>
          </a:p>
          <a:p/>
          <a:p>
            <a:r>
              <a:t>Visual needed: Block diagram: stream, FastAPI /score, live features, ONNX model, decision engine, audit log (SQLite), dashboard (Streamlit). GenAI alert branch off the decision engine. (Supplier: Vishaal (diagram), Arun (labels))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"designed for" and "deployable on". Do not say we used the on-chip accelerator unless Vishaal confirms it. If LinuxONE ran the API, say exactly that and show the screenshot.</a:t>
            </a:r>
          </a:p>
          <a:p/>
          <a:p>
            <a:r>
              <a:t>Visual needed: Screenshot of /health and a /score call on LinuxONE, plus one line stating exactly what ran. If nothing ran, keep the "designed for / deployable on" wording and say so. (Supplier: Vishaal)</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why accuracy is misleading when fraud is rare. Say the baseline exists so the boosted-tree model has to earn its place. Name the limit: synthetic data.</a:t>
            </a:r>
          </a:p>
          <a:p/>
          <a:p>
            <a:r>
              <a:t>Visual needed: One EDA chart that shows how rare fraud is and which transaction types carry it. (Supplier: Balaa)</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Fill every number from a real run and label the machine. If the real model is not in by the deadline, say so on this slide. Never show the placeholder scorer's numbers as model results.</a:t>
            </a:r>
          </a:p>
          <a:p/>
          <a:p>
            <a:r>
              <a:t>Visual needed: Four items: PR curve against the baseline, confusion matrix, SHAP summary, latency table labelled with the machine. (Supplier: Joshua (charts), Abhinava and Vishaal (latency table))</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what is built and what is pending. Name the limits: synthetic data, drift, fraudsters adapt, fairness checked only through proxies. Honesty here is a strength.</a:t>
            </a:r>
          </a:p>
          <a:p/>
          <a:p>
            <a:r>
              <a:t>Visual needed: Six icons for the six short-version bullets, plus the fairness table when Joshua's numbers arrive. (Supplier: Arun (graphic), Joshua (numbers))</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Quote the demo number only from the real run. Do not say this recovers money at any rate. Close on the problem line: score, stop, explain, keep a human in control.</a:t>
            </a:r>
          </a:p>
          <a:p/>
          <a:p>
            <a:r>
              <a:t>Visual needed: Dashboard Impact page screenshot. (Supplier: Armaan)</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Appendix. All figures are from docs/problem/stats.md, quoted with their source.</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228600" cy="6858000"/>
          </a:xfrm>
          <a:prstGeom prst="rect">
            <a:avLst/>
          </a:prstGeom>
          <a:solidFill>
            <a:srgbClr val="0F62F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274320"/>
            <a:ext cx="11247120" cy="1188720"/>
          </a:xfrm>
          <a:prstGeom prst="rect">
            <a:avLst/>
          </a:prstGeom>
          <a:noFill/>
        </p:spPr>
        <p:txBody>
          <a:bodyPr wrap="square" anchor="ctr" lIns="45720" rIns="45720">
            <a:spAutoFit/>
          </a:bodyPr>
          <a:lstStyle/>
          <a:p>
            <a:pPr algn="l"/>
            <a:r>
              <a:rPr sz="2800" b="1" i="0">
                <a:solidFill>
                  <a:srgbClr val="161616"/>
                </a:solidFill>
                <a:latin typeface="Arial"/>
              </a:rPr>
              <a:t>Instant payments leave almost no time to stop a scam.</a:t>
            </a:r>
          </a:p>
        </p:txBody>
      </p:sp>
      <p:cxnSp>
        <p:nvCxnSpPr>
          <p:cNvPr id="4" name="Connector 3"/>
          <p:cNvCxnSpPr/>
          <p:nvPr/>
        </p:nvCxnSpPr>
        <p:spPr>
          <a:xfrm>
            <a:off x="548640" y="1508760"/>
            <a:ext cx="11064240" cy="0"/>
          </a:xfrm>
          <a:prstGeom prst="line">
            <a:avLst/>
          </a:prstGeom>
          <a:ln w="25400">
            <a:solidFill>
              <a:srgbClr val="0F62FE"/>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457200" y="6400800"/>
            <a:ext cx="7315200" cy="320040"/>
          </a:xfrm>
          <a:prstGeom prst="rect">
            <a:avLst/>
          </a:prstGeom>
          <a:noFill/>
        </p:spPr>
        <p:txBody>
          <a:bodyPr wrap="square" anchor="t" lIns="45720" rIns="45720">
            <a:spAutoFit/>
          </a:bodyPr>
          <a:lstStyle/>
          <a:p>
            <a:pPr algn="l"/>
            <a:r>
              <a:rPr sz="1200" b="0" i="0">
                <a:solidFill>
                  <a:srgbClr val="525252"/>
                </a:solidFill>
                <a:latin typeface="Arial"/>
              </a:rPr>
              <a:t>ZShield | IBM Z Datathon 2026</a:t>
            </a:r>
          </a:p>
        </p:txBody>
      </p:sp>
      <p:sp>
        <p:nvSpPr>
          <p:cNvPr id="6" name="TextBox 5"/>
          <p:cNvSpPr txBox="1"/>
          <p:nvPr/>
        </p:nvSpPr>
        <p:spPr>
          <a:xfrm>
            <a:off x="10789920" y="6400800"/>
            <a:ext cx="914400" cy="320040"/>
          </a:xfrm>
          <a:prstGeom prst="rect">
            <a:avLst/>
          </a:prstGeom>
          <a:noFill/>
        </p:spPr>
        <p:txBody>
          <a:bodyPr wrap="square" anchor="t" lIns="45720" rIns="45720">
            <a:spAutoFit/>
          </a:bodyPr>
          <a:lstStyle/>
          <a:p>
            <a:pPr algn="r"/>
            <a:r>
              <a:rPr sz="1200" b="0" i="0">
                <a:solidFill>
                  <a:srgbClr val="525252"/>
                </a:solidFill>
                <a:latin typeface="Arial"/>
              </a:rPr>
              <a:t>1</a:t>
            </a:r>
          </a:p>
        </p:txBody>
      </p:sp>
      <p:sp>
        <p:nvSpPr>
          <p:cNvPr id="7" name="TextBox 6"/>
          <p:cNvSpPr txBox="1"/>
          <p:nvPr/>
        </p:nvSpPr>
        <p:spPr>
          <a:xfrm>
            <a:off x="548640" y="1691640"/>
            <a:ext cx="6309360" cy="2743200"/>
          </a:xfrm>
          <a:prstGeom prst="rect">
            <a:avLst/>
          </a:prstGeom>
          <a:noFill/>
        </p:spPr>
        <p:txBody>
          <a:bodyPr wrap="square">
            <a:spAutoFit/>
          </a:bodyPr>
          <a:lstStyle/>
          <a:p>
            <a:pPr>
              <a:spcAft>
                <a:spcPts val="1000"/>
              </a:spcAft>
            </a:pPr>
            <a:r>
              <a:rPr sz="2000">
                <a:solidFill>
                  <a:srgbClr val="161616"/>
                </a:solidFill>
                <a:latin typeface="Arial"/>
              </a:rPr>
              <a:t>•  In 2025, 28 lakh digital payment frauds were reported on the National Cyber Crime Reporting Portal, worth ₹22,931 crore.</a:t>
            </a:r>
          </a:p>
          <a:p>
            <a:pPr>
              <a:spcAft>
                <a:spcPts val="1000"/>
              </a:spcAft>
            </a:pPr>
            <a:r>
              <a:rPr sz="2000">
                <a:solidFill>
                  <a:srgbClr val="161616"/>
                </a:solidFill>
                <a:latin typeface="Arial"/>
              </a:rPr>
              <a:t>•  The RBI says the "scope for timely intervention and recovery of funds becomes limited".</a:t>
            </a:r>
          </a:p>
          <a:p>
            <a:pPr>
              <a:spcAft>
                <a:spcPts val="1000"/>
              </a:spcAft>
            </a:pPr>
            <a:r>
              <a:rPr sz="2000">
                <a:solidFill>
                  <a:srgbClr val="161616"/>
                </a:solidFill>
                <a:latin typeface="Arial"/>
              </a:rPr>
              <a:t>•  Checks that run after settlement come too late.</a:t>
            </a:r>
          </a:p>
        </p:txBody>
      </p:sp>
      <p:sp>
        <p:nvSpPr>
          <p:cNvPr id="8" name="Rectangle 7"/>
          <p:cNvSpPr/>
          <p:nvPr/>
        </p:nvSpPr>
        <p:spPr>
          <a:xfrm>
            <a:off x="7132320" y="1737360"/>
            <a:ext cx="4572000" cy="2560320"/>
          </a:xfrm>
          <a:prstGeom prst="rect">
            <a:avLst/>
          </a:prstGeom>
          <a:solidFill>
            <a:srgbClr val="F2F4F8"/>
          </a:solidFill>
          <a:ln w="19050">
            <a:solidFill>
              <a:srgbClr val="525252"/>
            </a:solidFill>
            <a:prstDash val="dash"/>
          </a:ln>
        </p:spPr>
        <p:style>
          <a:lnRef idx="1">
            <a:schemeClr val="accent1"/>
          </a:lnRef>
          <a:fillRef idx="3">
            <a:schemeClr val="accent1"/>
          </a:fillRef>
          <a:effectRef idx="2">
            <a:schemeClr val="accent1"/>
          </a:effectRef>
          <a:fontRef idx="minor">
            <a:schemeClr val="lt1"/>
          </a:fontRef>
        </p:style>
        <p:txBody>
          <a:bodyPr rtlCol="0" anchor="ctr" wrap="square" lIns="182880" rIns="182880"/>
          <a:lstStyle/>
          <a:p>
            <a:pPr algn="ctr"/>
            <a:r>
              <a:rPr sz="1800" b="1">
                <a:solidFill>
                  <a:srgbClr val="525252"/>
                </a:solidFill>
                <a:latin typeface="Arial"/>
              </a:rPr>
              <a:t>PLACEHOLDER: stat card, NCRP frauds reported 2021 to 2025, from the RBI table only (Arun, by 4 PM)</a:t>
            </a:r>
          </a:p>
        </p:txBody>
      </p:sp>
      <p:sp>
        <p:nvSpPr>
          <p:cNvPr id="9" name="Rectangle 8"/>
          <p:cNvSpPr/>
          <p:nvPr/>
        </p:nvSpPr>
        <p:spPr>
          <a:xfrm>
            <a:off x="548640" y="4434840"/>
            <a:ext cx="11155680" cy="1143000"/>
          </a:xfrm>
          <a:prstGeom prst="rect">
            <a:avLst/>
          </a:prstGeom>
          <a:solidFill>
            <a:srgbClr val="0F62FE"/>
          </a:solidFill>
          <a:ln>
            <a:noFill/>
          </a:ln>
        </p:spPr>
        <p:style>
          <a:lnRef idx="1">
            <a:schemeClr val="accent1"/>
          </a:lnRef>
          <a:fillRef idx="3">
            <a:schemeClr val="accent1"/>
          </a:fillRef>
          <a:effectRef idx="2">
            <a:schemeClr val="accent1"/>
          </a:effectRef>
          <a:fontRef idx="minor">
            <a:schemeClr val="lt1"/>
          </a:fontRef>
        </p:style>
        <p:txBody>
          <a:bodyPr rtlCol="0" anchor="ctr" wrap="square" lIns="228600" rIns="228600"/>
          <a:lstStyle/>
          <a:p>
            <a:pPr algn="ctr"/>
            <a:r>
              <a:rPr sz="2000" b="1">
                <a:solidFill>
                  <a:srgbClr val="FFFFFF"/>
                </a:solidFill>
                <a:latin typeface="Arial"/>
              </a:rPr>
              <a:t>How can we score every payment as it happens, stop the dangerous ones before settlement, explain the decision in plain language, and keep a human in control, without blocking honest customers?</a:t>
            </a:r>
          </a:p>
        </p:txBody>
      </p:sp>
      <p:sp>
        <p:nvSpPr>
          <p:cNvPr id="10" name="TextBox 9"/>
          <p:cNvSpPr txBox="1"/>
          <p:nvPr/>
        </p:nvSpPr>
        <p:spPr>
          <a:xfrm>
            <a:off x="548640" y="5669280"/>
            <a:ext cx="11155680" cy="685800"/>
          </a:xfrm>
          <a:prstGeom prst="rect">
            <a:avLst/>
          </a:prstGeom>
          <a:noFill/>
        </p:spPr>
        <p:txBody>
          <a:bodyPr wrap="square" anchor="t" lIns="45720" rIns="45720">
            <a:spAutoFit/>
          </a:bodyPr>
          <a:lstStyle/>
          <a:p>
            <a:pPr algn="l"/>
            <a:r>
              <a:rPr sz="1200" b="0" i="1">
                <a:solidFill>
                  <a:srgbClr val="525252"/>
                </a:solidFill>
                <a:latin typeface="Arial"/>
              </a:rPr>
              <a:t>Source: Reserve Bank of India, "Discussion Paper - Exploring safeguards in digital payments to curb frauds", 9 Apr 2026. Figures are frauds reported on NCRP, not confirmed losses.</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228600" cy="6858000"/>
          </a:xfrm>
          <a:prstGeom prst="rect">
            <a:avLst/>
          </a:prstGeom>
          <a:solidFill>
            <a:srgbClr val="0F62F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274320"/>
            <a:ext cx="11247120" cy="1188720"/>
          </a:xfrm>
          <a:prstGeom prst="rect">
            <a:avLst/>
          </a:prstGeom>
          <a:noFill/>
        </p:spPr>
        <p:txBody>
          <a:bodyPr wrap="square" anchor="ctr" lIns="45720" rIns="45720">
            <a:spAutoFit/>
          </a:bodyPr>
          <a:lstStyle/>
          <a:p>
            <a:pPr algn="l"/>
            <a:r>
              <a:rPr sz="2800" b="1" i="0">
                <a:solidFill>
                  <a:srgbClr val="161616"/>
                </a:solidFill>
                <a:latin typeface="Arial"/>
              </a:rPr>
              <a:t>The decision must happen before settlement, and a score alone is not enough.</a:t>
            </a:r>
          </a:p>
        </p:txBody>
      </p:sp>
      <p:cxnSp>
        <p:nvCxnSpPr>
          <p:cNvPr id="4" name="Connector 3"/>
          <p:cNvCxnSpPr/>
          <p:nvPr/>
        </p:nvCxnSpPr>
        <p:spPr>
          <a:xfrm>
            <a:off x="548640" y="1508760"/>
            <a:ext cx="11064240" cy="0"/>
          </a:xfrm>
          <a:prstGeom prst="line">
            <a:avLst/>
          </a:prstGeom>
          <a:ln w="25400">
            <a:solidFill>
              <a:srgbClr val="0F62FE"/>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457200" y="6400800"/>
            <a:ext cx="7315200" cy="320040"/>
          </a:xfrm>
          <a:prstGeom prst="rect">
            <a:avLst/>
          </a:prstGeom>
          <a:noFill/>
        </p:spPr>
        <p:txBody>
          <a:bodyPr wrap="square" anchor="t" lIns="45720" rIns="45720">
            <a:spAutoFit/>
          </a:bodyPr>
          <a:lstStyle/>
          <a:p>
            <a:pPr algn="l"/>
            <a:r>
              <a:rPr sz="1200" b="0" i="0">
                <a:solidFill>
                  <a:srgbClr val="525252"/>
                </a:solidFill>
                <a:latin typeface="Arial"/>
              </a:rPr>
              <a:t>ZShield | IBM Z Datathon 2026</a:t>
            </a:r>
          </a:p>
        </p:txBody>
      </p:sp>
      <p:sp>
        <p:nvSpPr>
          <p:cNvPr id="6" name="TextBox 5"/>
          <p:cNvSpPr txBox="1"/>
          <p:nvPr/>
        </p:nvSpPr>
        <p:spPr>
          <a:xfrm>
            <a:off x="10789920" y="6400800"/>
            <a:ext cx="914400" cy="320040"/>
          </a:xfrm>
          <a:prstGeom prst="rect">
            <a:avLst/>
          </a:prstGeom>
          <a:noFill/>
        </p:spPr>
        <p:txBody>
          <a:bodyPr wrap="square" anchor="t" lIns="45720" rIns="45720">
            <a:spAutoFit/>
          </a:bodyPr>
          <a:lstStyle/>
          <a:p>
            <a:pPr algn="r"/>
            <a:r>
              <a:rPr sz="1200" b="0" i="0">
                <a:solidFill>
                  <a:srgbClr val="525252"/>
                </a:solidFill>
                <a:latin typeface="Arial"/>
              </a:rPr>
              <a:t>2</a:t>
            </a:r>
          </a:p>
        </p:txBody>
      </p:sp>
      <p:sp>
        <p:nvSpPr>
          <p:cNvPr id="7" name="TextBox 6"/>
          <p:cNvSpPr txBox="1"/>
          <p:nvPr/>
        </p:nvSpPr>
        <p:spPr>
          <a:xfrm>
            <a:off x="548640" y="1691640"/>
            <a:ext cx="6309360" cy="3566160"/>
          </a:xfrm>
          <a:prstGeom prst="rect">
            <a:avLst/>
          </a:prstGeom>
          <a:noFill/>
        </p:spPr>
        <p:txBody>
          <a:bodyPr wrap="square">
            <a:spAutoFit/>
          </a:bodyPr>
          <a:lstStyle/>
          <a:p>
            <a:pPr>
              <a:spcAft>
                <a:spcPts val="1000"/>
              </a:spcAft>
            </a:pPr>
            <a:r>
              <a:rPr sz="2000">
                <a:solidFill>
                  <a:srgbClr val="161616"/>
                </a:solidFill>
                <a:latin typeface="Arial"/>
              </a:rPr>
              <a:t>•  Before settlement: after the money moves, recovery is limited.</a:t>
            </a:r>
          </a:p>
          <a:p>
            <a:pPr>
              <a:spcAft>
                <a:spcPts val="1000"/>
              </a:spcAft>
            </a:pPr>
            <a:r>
              <a:rPr sz="2000">
                <a:solidFill>
                  <a:srgbClr val="161616"/>
                </a:solidFill>
                <a:latin typeface="Arial"/>
              </a:rPr>
              <a:t>•  With reasons: Meera, the analyst, needs to know why a payment is different, not just a number.</a:t>
            </a:r>
          </a:p>
          <a:p>
            <a:pPr>
              <a:spcAft>
                <a:spcPts val="1000"/>
              </a:spcAft>
            </a:pPr>
            <a:r>
              <a:rPr sz="2000">
                <a:solidFill>
                  <a:srgbClr val="161616"/>
                </a:solidFill>
                <a:latin typeface="Arial"/>
              </a:rPr>
              <a:t>•  With a human in control: Kamla, a first-time UPI user, should not be blocked without a reason. The Caller relies on speed.</a:t>
            </a:r>
          </a:p>
        </p:txBody>
      </p:sp>
      <p:sp>
        <p:nvSpPr>
          <p:cNvPr id="8" name="Rectangle 7"/>
          <p:cNvSpPr/>
          <p:nvPr/>
        </p:nvSpPr>
        <p:spPr>
          <a:xfrm>
            <a:off x="7132320" y="1737360"/>
            <a:ext cx="4572000" cy="3291840"/>
          </a:xfrm>
          <a:prstGeom prst="rect">
            <a:avLst/>
          </a:prstGeom>
          <a:solidFill>
            <a:srgbClr val="F2F4F8"/>
          </a:solidFill>
          <a:ln w="19050">
            <a:solidFill>
              <a:srgbClr val="525252"/>
            </a:solidFill>
            <a:prstDash val="dash"/>
          </a:ln>
        </p:spPr>
        <p:style>
          <a:lnRef idx="1">
            <a:schemeClr val="accent1"/>
          </a:lnRef>
          <a:fillRef idx="3">
            <a:schemeClr val="accent1"/>
          </a:fillRef>
          <a:effectRef idx="2">
            <a:schemeClr val="accent1"/>
          </a:effectRef>
          <a:fontRef idx="minor">
            <a:schemeClr val="lt1"/>
          </a:fontRef>
        </p:style>
        <p:txBody>
          <a:bodyPr rtlCol="0" anchor="ctr" wrap="square" lIns="182880" rIns="182880"/>
          <a:lstStyle/>
          <a:p>
            <a:pPr algn="ctr"/>
            <a:r>
              <a:rPr sz="1800" b="1">
                <a:solidFill>
                  <a:srgbClr val="525252"/>
                </a:solidFill>
                <a:latin typeface="Arial"/>
              </a:rPr>
              <a:t>PLACEHOLDER: three persona cards, Meera / Kamla / The Caller, marked "illustrative" (Arun, by 4 PM)</a:t>
            </a:r>
          </a:p>
        </p:txBody>
      </p:sp>
      <p:sp>
        <p:nvSpPr>
          <p:cNvPr id="9" name="TextBox 8"/>
          <p:cNvSpPr txBox="1"/>
          <p:nvPr/>
        </p:nvSpPr>
        <p:spPr>
          <a:xfrm>
            <a:off x="548640" y="5349240"/>
            <a:ext cx="11155680" cy="1005840"/>
          </a:xfrm>
          <a:prstGeom prst="rect">
            <a:avLst/>
          </a:prstGeom>
          <a:noFill/>
        </p:spPr>
        <p:txBody>
          <a:bodyPr wrap="square" anchor="t" lIns="45720" rIns="45720">
            <a:spAutoFit/>
          </a:bodyPr>
          <a:lstStyle/>
          <a:p>
            <a:pPr algn="l"/>
            <a:r>
              <a:rPr sz="1200" b="0" i="1">
                <a:solidFill>
                  <a:srgbClr val="525252"/>
                </a:solidFill>
                <a:latin typeface="Arial"/>
              </a:rPr>
              <a:t>Meera, Kamla and The Caller are illustrative composites, not real people. Source for the recovery point: RBI discussion paper, 9 Apr 2026.</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228600" cy="6858000"/>
          </a:xfrm>
          <a:prstGeom prst="rect">
            <a:avLst/>
          </a:prstGeom>
          <a:solidFill>
            <a:srgbClr val="0F62F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274320"/>
            <a:ext cx="11247120" cy="1188720"/>
          </a:xfrm>
          <a:prstGeom prst="rect">
            <a:avLst/>
          </a:prstGeom>
          <a:noFill/>
        </p:spPr>
        <p:txBody>
          <a:bodyPr wrap="square" anchor="ctr" lIns="45720" rIns="45720">
            <a:spAutoFit/>
          </a:bodyPr>
          <a:lstStyle/>
          <a:p>
            <a:pPr algn="l"/>
            <a:r>
              <a:rPr sz="2800" b="1" i="0">
                <a:solidFill>
                  <a:srgbClr val="161616"/>
                </a:solidFill>
                <a:latin typeface="Arial"/>
              </a:rPr>
              <a:t>ZShield scores every payment in milliseconds and sends it to APPROVE, STEP_UP or HOLD.</a:t>
            </a:r>
          </a:p>
        </p:txBody>
      </p:sp>
      <p:cxnSp>
        <p:nvCxnSpPr>
          <p:cNvPr id="4" name="Connector 3"/>
          <p:cNvCxnSpPr/>
          <p:nvPr/>
        </p:nvCxnSpPr>
        <p:spPr>
          <a:xfrm>
            <a:off x="548640" y="1508760"/>
            <a:ext cx="11064240" cy="0"/>
          </a:xfrm>
          <a:prstGeom prst="line">
            <a:avLst/>
          </a:prstGeom>
          <a:ln w="25400">
            <a:solidFill>
              <a:srgbClr val="0F62FE"/>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457200" y="6400800"/>
            <a:ext cx="7315200" cy="320040"/>
          </a:xfrm>
          <a:prstGeom prst="rect">
            <a:avLst/>
          </a:prstGeom>
          <a:noFill/>
        </p:spPr>
        <p:txBody>
          <a:bodyPr wrap="square" anchor="t" lIns="45720" rIns="45720">
            <a:spAutoFit/>
          </a:bodyPr>
          <a:lstStyle/>
          <a:p>
            <a:pPr algn="l"/>
            <a:r>
              <a:rPr sz="1200" b="0" i="0">
                <a:solidFill>
                  <a:srgbClr val="525252"/>
                </a:solidFill>
                <a:latin typeface="Arial"/>
              </a:rPr>
              <a:t>ZShield | IBM Z Datathon 2026</a:t>
            </a:r>
          </a:p>
        </p:txBody>
      </p:sp>
      <p:sp>
        <p:nvSpPr>
          <p:cNvPr id="6" name="TextBox 5"/>
          <p:cNvSpPr txBox="1"/>
          <p:nvPr/>
        </p:nvSpPr>
        <p:spPr>
          <a:xfrm>
            <a:off x="10789920" y="6400800"/>
            <a:ext cx="914400" cy="320040"/>
          </a:xfrm>
          <a:prstGeom prst="rect">
            <a:avLst/>
          </a:prstGeom>
          <a:noFill/>
        </p:spPr>
        <p:txBody>
          <a:bodyPr wrap="square" anchor="t" lIns="45720" rIns="45720">
            <a:spAutoFit/>
          </a:bodyPr>
          <a:lstStyle/>
          <a:p>
            <a:pPr algn="r"/>
            <a:r>
              <a:rPr sz="1200" b="0" i="0">
                <a:solidFill>
                  <a:srgbClr val="525252"/>
                </a:solidFill>
                <a:latin typeface="Arial"/>
              </a:rPr>
              <a:t>3</a:t>
            </a:r>
          </a:p>
        </p:txBody>
      </p:sp>
      <p:sp>
        <p:nvSpPr>
          <p:cNvPr id="7" name="TextBox 6"/>
          <p:cNvSpPr txBox="1"/>
          <p:nvPr/>
        </p:nvSpPr>
        <p:spPr>
          <a:xfrm>
            <a:off x="548640" y="1691640"/>
            <a:ext cx="6309360" cy="3566160"/>
          </a:xfrm>
          <a:prstGeom prst="rect">
            <a:avLst/>
          </a:prstGeom>
          <a:noFill/>
        </p:spPr>
        <p:txBody>
          <a:bodyPr wrap="square">
            <a:spAutoFit/>
          </a:bodyPr>
          <a:lstStyle/>
          <a:p>
            <a:pPr>
              <a:spcAft>
                <a:spcPts val="1000"/>
              </a:spcAft>
            </a:pPr>
            <a:r>
              <a:rPr sz="2000">
                <a:solidFill>
                  <a:srgbClr val="161616"/>
                </a:solidFill>
                <a:latin typeface="Arial"/>
              </a:rPr>
              <a:t>•  APPROVE: pass straight through. STEP_UP: an extra check (warning, OTP or call-back). HOLD: paused for a human analyst.</a:t>
            </a:r>
          </a:p>
          <a:p>
            <a:pPr>
              <a:spcAft>
                <a:spcPts val="1000"/>
              </a:spcAft>
            </a:pPr>
            <a:r>
              <a:rPr sz="2000">
                <a:solidFill>
                  <a:srgbClr val="161616"/>
                </a:solidFill>
                <a:latin typeface="Arial"/>
              </a:rPr>
              <a:t>•  Flagged payments get the top 3 reasons and a plain-language alert.</a:t>
            </a:r>
          </a:p>
          <a:p>
            <a:pPr>
              <a:spcAft>
                <a:spcPts val="1000"/>
              </a:spcAft>
            </a:pPr>
            <a:r>
              <a:rPr sz="2000">
                <a:solidFill>
                  <a:srgbClr val="161616"/>
                </a:solidFill>
                <a:latin typeface="Arial"/>
              </a:rPr>
              <a:t>•  The AI explains. A human decides. If scoring fails, the result is STEP_UP, never a silent approve.</a:t>
            </a:r>
          </a:p>
        </p:txBody>
      </p:sp>
      <p:sp>
        <p:nvSpPr>
          <p:cNvPr id="8" name="Rectangle 7"/>
          <p:cNvSpPr/>
          <p:nvPr/>
        </p:nvSpPr>
        <p:spPr>
          <a:xfrm>
            <a:off x="7132320" y="1737360"/>
            <a:ext cx="4572000" cy="3291840"/>
          </a:xfrm>
          <a:prstGeom prst="rect">
            <a:avLst/>
          </a:prstGeom>
          <a:solidFill>
            <a:srgbClr val="F2F4F8"/>
          </a:solidFill>
          <a:ln w="19050">
            <a:solidFill>
              <a:srgbClr val="525252"/>
            </a:solidFill>
            <a:prstDash val="dash"/>
          </a:ln>
        </p:spPr>
        <p:style>
          <a:lnRef idx="1">
            <a:schemeClr val="accent1"/>
          </a:lnRef>
          <a:fillRef idx="3">
            <a:schemeClr val="accent1"/>
          </a:fillRef>
          <a:effectRef idx="2">
            <a:schemeClr val="accent1"/>
          </a:effectRef>
          <a:fontRef idx="minor">
            <a:schemeClr val="lt1"/>
          </a:fontRef>
        </p:style>
        <p:txBody>
          <a:bodyPr rtlCol="0" anchor="ctr" wrap="square" lIns="182880" rIns="182880"/>
          <a:lstStyle/>
          <a:p>
            <a:pPr algn="ctr"/>
            <a:r>
              <a:rPr sz="1800" b="1">
                <a:solidFill>
                  <a:srgbClr val="525252"/>
                </a:solidFill>
                <a:latin typeface="Arial"/>
              </a:rPr>
              <a:t>PLACEHOLDER: three-lane routing graphic, APPROVE / STEP_UP / HOLD (Arun, by 4 PM)</a:t>
            </a:r>
          </a:p>
        </p:txBody>
      </p:sp>
      <p:sp>
        <p:nvSpPr>
          <p:cNvPr id="9" name="TextBox 8"/>
          <p:cNvSpPr txBox="1"/>
          <p:nvPr/>
        </p:nvSpPr>
        <p:spPr>
          <a:xfrm>
            <a:off x="548640" y="5349240"/>
            <a:ext cx="11155680" cy="1005840"/>
          </a:xfrm>
          <a:prstGeom prst="rect">
            <a:avLst/>
          </a:prstGeom>
          <a:noFill/>
        </p:spPr>
        <p:txBody>
          <a:bodyPr wrap="square" anchor="t" lIns="45720" rIns="45720">
            <a:spAutoFit/>
          </a:bodyPr>
          <a:lstStyle/>
          <a:p>
            <a:pPr algn="l"/>
            <a:r>
              <a:rPr sz="1200" b="0" i="1">
                <a:solidFill>
                  <a:srgbClr val="525252"/>
                </a:solidFill>
                <a:latin typeface="Arial"/>
              </a:rPr>
              <a:t>Alert text is made from fixed templates by default. A language model is optional, and every output is checked.</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228600" cy="6858000"/>
          </a:xfrm>
          <a:prstGeom prst="rect">
            <a:avLst/>
          </a:prstGeom>
          <a:solidFill>
            <a:srgbClr val="0F62F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274320"/>
            <a:ext cx="11247120" cy="1188720"/>
          </a:xfrm>
          <a:prstGeom prst="rect">
            <a:avLst/>
          </a:prstGeom>
          <a:noFill/>
        </p:spPr>
        <p:txBody>
          <a:bodyPr wrap="square" anchor="ctr" lIns="45720" rIns="45720">
            <a:spAutoFit/>
          </a:bodyPr>
          <a:lstStyle/>
          <a:p>
            <a:pPr algn="l"/>
            <a:r>
              <a:rPr sz="2800" b="1" i="0">
                <a:solidFill>
                  <a:srgbClr val="161616"/>
                </a:solidFill>
                <a:latin typeface="Arial"/>
              </a:rPr>
              <a:t>Three stories show the system working: a drain is held, a burst is flagged, a normal day flows.</a:t>
            </a:r>
          </a:p>
        </p:txBody>
      </p:sp>
      <p:cxnSp>
        <p:nvCxnSpPr>
          <p:cNvPr id="4" name="Connector 3"/>
          <p:cNvCxnSpPr/>
          <p:nvPr/>
        </p:nvCxnSpPr>
        <p:spPr>
          <a:xfrm>
            <a:off x="548640" y="1508760"/>
            <a:ext cx="11064240" cy="0"/>
          </a:xfrm>
          <a:prstGeom prst="line">
            <a:avLst/>
          </a:prstGeom>
          <a:ln w="25400">
            <a:solidFill>
              <a:srgbClr val="0F62FE"/>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457200" y="6400800"/>
            <a:ext cx="7315200" cy="320040"/>
          </a:xfrm>
          <a:prstGeom prst="rect">
            <a:avLst/>
          </a:prstGeom>
          <a:noFill/>
        </p:spPr>
        <p:txBody>
          <a:bodyPr wrap="square" anchor="t" lIns="45720" rIns="45720">
            <a:spAutoFit/>
          </a:bodyPr>
          <a:lstStyle/>
          <a:p>
            <a:pPr algn="l"/>
            <a:r>
              <a:rPr sz="1200" b="0" i="0">
                <a:solidFill>
                  <a:srgbClr val="525252"/>
                </a:solidFill>
                <a:latin typeface="Arial"/>
              </a:rPr>
              <a:t>ZShield | IBM Z Datathon 2026</a:t>
            </a:r>
          </a:p>
        </p:txBody>
      </p:sp>
      <p:sp>
        <p:nvSpPr>
          <p:cNvPr id="6" name="TextBox 5"/>
          <p:cNvSpPr txBox="1"/>
          <p:nvPr/>
        </p:nvSpPr>
        <p:spPr>
          <a:xfrm>
            <a:off x="10789920" y="6400800"/>
            <a:ext cx="914400" cy="320040"/>
          </a:xfrm>
          <a:prstGeom prst="rect">
            <a:avLst/>
          </a:prstGeom>
          <a:noFill/>
        </p:spPr>
        <p:txBody>
          <a:bodyPr wrap="square" anchor="t" lIns="45720" rIns="45720">
            <a:spAutoFit/>
          </a:bodyPr>
          <a:lstStyle/>
          <a:p>
            <a:pPr algn="r"/>
            <a:r>
              <a:rPr sz="1200" b="0" i="0">
                <a:solidFill>
                  <a:srgbClr val="525252"/>
                </a:solidFill>
                <a:latin typeface="Arial"/>
              </a:rPr>
              <a:t>4</a:t>
            </a:r>
          </a:p>
        </p:txBody>
      </p:sp>
      <p:sp>
        <p:nvSpPr>
          <p:cNvPr id="7" name="TextBox 6"/>
          <p:cNvSpPr txBox="1"/>
          <p:nvPr/>
        </p:nvSpPr>
        <p:spPr>
          <a:xfrm>
            <a:off x="548640" y="1691640"/>
            <a:ext cx="6309360" cy="3566160"/>
          </a:xfrm>
          <a:prstGeom prst="rect">
            <a:avLst/>
          </a:prstGeom>
          <a:noFill/>
        </p:spPr>
        <p:txBody>
          <a:bodyPr wrap="square">
            <a:spAutoFit/>
          </a:bodyPr>
          <a:lstStyle/>
          <a:p>
            <a:pPr>
              <a:spcAft>
                <a:spcPts val="1000"/>
              </a:spcAft>
            </a:pPr>
            <a:r>
              <a:rPr sz="2000">
                <a:solidFill>
                  <a:srgbClr val="161616"/>
                </a:solidFill>
                <a:latin typeface="Arial"/>
              </a:rPr>
              <a:t>•  Scam Drain: at 2 AM the whole balance goes to a brand-new recipient. Result: HOLD.</a:t>
            </a:r>
          </a:p>
          <a:p>
            <a:pPr>
              <a:spcAft>
                <a:spcPts val="1000"/>
              </a:spcAft>
            </a:pPr>
            <a:r>
              <a:rPr sz="2000">
                <a:solidFill>
                  <a:srgbClr val="161616"/>
                </a:solidFill>
                <a:latin typeface="Arial"/>
              </a:rPr>
              <a:t>•  Mule Burst: one destination receives many transfers fast. Result: flagged.</a:t>
            </a:r>
          </a:p>
          <a:p>
            <a:pPr>
              <a:spcAft>
                <a:spcPts val="1000"/>
              </a:spcAft>
            </a:pPr>
            <a:r>
              <a:rPr sz="2000">
                <a:solidFill>
                  <a:srgbClr val="161616"/>
                </a:solidFill>
                <a:latin typeface="Arial"/>
              </a:rPr>
              <a:t>•  Normal Day: hundreds of honest payments pass in milliseconds. Then the analyst clicks Block.</a:t>
            </a:r>
          </a:p>
        </p:txBody>
      </p:sp>
      <p:sp>
        <p:nvSpPr>
          <p:cNvPr id="8" name="Rectangle 7"/>
          <p:cNvSpPr/>
          <p:nvPr/>
        </p:nvSpPr>
        <p:spPr>
          <a:xfrm>
            <a:off x="7132320" y="1737360"/>
            <a:ext cx="4572000" cy="3291840"/>
          </a:xfrm>
          <a:prstGeom prst="rect">
            <a:avLst/>
          </a:prstGeom>
          <a:solidFill>
            <a:srgbClr val="F2F4F8"/>
          </a:solidFill>
          <a:ln w="19050">
            <a:solidFill>
              <a:srgbClr val="525252"/>
            </a:solidFill>
            <a:prstDash val="dash"/>
          </a:ln>
        </p:spPr>
        <p:style>
          <a:lnRef idx="1">
            <a:schemeClr val="accent1"/>
          </a:lnRef>
          <a:fillRef idx="3">
            <a:schemeClr val="accent1"/>
          </a:fillRef>
          <a:effectRef idx="2">
            <a:schemeClr val="accent1"/>
          </a:effectRef>
          <a:fontRef idx="minor">
            <a:schemeClr val="lt1"/>
          </a:fontRef>
        </p:style>
        <p:txBody>
          <a:bodyPr rtlCol="0" anchor="ctr" wrap="square" lIns="182880" rIns="182880"/>
          <a:lstStyle/>
          <a:p>
            <a:pPr algn="ctr"/>
            <a:r>
              <a:rPr sz="1800" b="1">
                <a:solidFill>
                  <a:srgbClr val="525252"/>
                </a:solidFill>
                <a:latin typeface="Arial"/>
              </a:rPr>
              <a:t>PLACEHOLDER: dashboard screenshots, Live Feed and Alert Detail with the Scam Drain HOLD (Armaan, by 4 PM)</a:t>
            </a:r>
          </a:p>
        </p:txBody>
      </p:sp>
      <p:sp>
        <p:nvSpPr>
          <p:cNvPr id="9" name="TextBox 8"/>
          <p:cNvSpPr txBox="1"/>
          <p:nvPr/>
        </p:nvSpPr>
        <p:spPr>
          <a:xfrm>
            <a:off x="548640" y="5349240"/>
            <a:ext cx="11155680" cy="1005840"/>
          </a:xfrm>
          <a:prstGeom prst="rect">
            <a:avLst/>
          </a:prstGeom>
          <a:noFill/>
        </p:spPr>
        <p:txBody>
          <a:bodyPr wrap="square" anchor="t" lIns="45720" rIns="45720">
            <a:spAutoFit/>
          </a:bodyPr>
          <a:lstStyle/>
          <a:p>
            <a:pPr algn="l"/>
            <a:r>
              <a:rPr sz="1200" b="0" i="1">
                <a:solidFill>
                  <a:srgbClr val="525252"/>
                </a:solidFill>
                <a:latin typeface="Arial"/>
              </a:rPr>
              <a:t>Scam Drain alert text, as produced by the code: "We paused a payment of ₹9,000 for a safety review. Reason: account emptied in one transfer, large payment at an unusual hour, new recipient. Our team will contact you. Never share your OTP or PIN."</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228600" cy="6858000"/>
          </a:xfrm>
          <a:prstGeom prst="rect">
            <a:avLst/>
          </a:prstGeom>
          <a:solidFill>
            <a:srgbClr val="0F62F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274320"/>
            <a:ext cx="11247120" cy="1188720"/>
          </a:xfrm>
          <a:prstGeom prst="rect">
            <a:avLst/>
          </a:prstGeom>
          <a:noFill/>
        </p:spPr>
        <p:txBody>
          <a:bodyPr wrap="square" anchor="ctr" lIns="45720" rIns="45720">
            <a:spAutoFit/>
          </a:bodyPr>
          <a:lstStyle/>
          <a:p>
            <a:pPr algn="l"/>
            <a:r>
              <a:rPr sz="2800" b="1" i="0">
                <a:solidFill>
                  <a:srgbClr val="161616"/>
                </a:solidFill>
                <a:latin typeface="Arial"/>
              </a:rPr>
              <a:t>One short path from payment to decision, with every step logged.</a:t>
            </a:r>
          </a:p>
        </p:txBody>
      </p:sp>
      <p:cxnSp>
        <p:nvCxnSpPr>
          <p:cNvPr id="4" name="Connector 3"/>
          <p:cNvCxnSpPr/>
          <p:nvPr/>
        </p:nvCxnSpPr>
        <p:spPr>
          <a:xfrm>
            <a:off x="548640" y="1508760"/>
            <a:ext cx="11064240" cy="0"/>
          </a:xfrm>
          <a:prstGeom prst="line">
            <a:avLst/>
          </a:prstGeom>
          <a:ln w="25400">
            <a:solidFill>
              <a:srgbClr val="0F62FE"/>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457200" y="6400800"/>
            <a:ext cx="7315200" cy="320040"/>
          </a:xfrm>
          <a:prstGeom prst="rect">
            <a:avLst/>
          </a:prstGeom>
          <a:noFill/>
        </p:spPr>
        <p:txBody>
          <a:bodyPr wrap="square" anchor="t" lIns="45720" rIns="45720">
            <a:spAutoFit/>
          </a:bodyPr>
          <a:lstStyle/>
          <a:p>
            <a:pPr algn="l"/>
            <a:r>
              <a:rPr sz="1200" b="0" i="0">
                <a:solidFill>
                  <a:srgbClr val="525252"/>
                </a:solidFill>
                <a:latin typeface="Arial"/>
              </a:rPr>
              <a:t>ZShield | IBM Z Datathon 2026</a:t>
            </a:r>
          </a:p>
        </p:txBody>
      </p:sp>
      <p:sp>
        <p:nvSpPr>
          <p:cNvPr id="6" name="TextBox 5"/>
          <p:cNvSpPr txBox="1"/>
          <p:nvPr/>
        </p:nvSpPr>
        <p:spPr>
          <a:xfrm>
            <a:off x="10789920" y="6400800"/>
            <a:ext cx="914400" cy="320040"/>
          </a:xfrm>
          <a:prstGeom prst="rect">
            <a:avLst/>
          </a:prstGeom>
          <a:noFill/>
        </p:spPr>
        <p:txBody>
          <a:bodyPr wrap="square" anchor="t" lIns="45720" rIns="45720">
            <a:spAutoFit/>
          </a:bodyPr>
          <a:lstStyle/>
          <a:p>
            <a:pPr algn="r"/>
            <a:r>
              <a:rPr sz="1200" b="0" i="0">
                <a:solidFill>
                  <a:srgbClr val="525252"/>
                </a:solidFill>
                <a:latin typeface="Arial"/>
              </a:rPr>
              <a:t>5</a:t>
            </a:r>
          </a:p>
        </p:txBody>
      </p:sp>
      <p:sp>
        <p:nvSpPr>
          <p:cNvPr id="7" name="TextBox 6"/>
          <p:cNvSpPr txBox="1"/>
          <p:nvPr/>
        </p:nvSpPr>
        <p:spPr>
          <a:xfrm>
            <a:off x="548640" y="1691640"/>
            <a:ext cx="6309360" cy="3566160"/>
          </a:xfrm>
          <a:prstGeom prst="rect">
            <a:avLst/>
          </a:prstGeom>
          <a:noFill/>
        </p:spPr>
        <p:txBody>
          <a:bodyPr wrap="square">
            <a:spAutoFit/>
          </a:bodyPr>
          <a:lstStyle/>
          <a:p>
            <a:pPr>
              <a:spcAft>
                <a:spcPts val="1000"/>
              </a:spcAft>
            </a:pPr>
            <a:r>
              <a:rPr sz="2000">
                <a:solidFill>
                  <a:srgbClr val="161616"/>
                </a:solidFill>
                <a:latin typeface="Arial"/>
              </a:rPr>
              <a:t>•  Stream, then POST /score, live features, ONNX model, decision engine.</a:t>
            </a:r>
          </a:p>
          <a:p>
            <a:pPr>
              <a:spcAft>
                <a:spcPts val="1000"/>
              </a:spcAft>
            </a:pPr>
            <a:r>
              <a:rPr sz="2000">
                <a:solidFill>
                  <a:srgbClr val="161616"/>
                </a:solidFill>
                <a:latin typeface="Arial"/>
              </a:rPr>
              <a:t>•  Flagged payments get reasons and an alert. Every decision goes to an audit log, then the dashboard.</a:t>
            </a:r>
          </a:p>
          <a:p>
            <a:pPr>
              <a:spcAft>
                <a:spcPts val="1000"/>
              </a:spcAft>
            </a:pPr>
            <a:r>
              <a:rPr sz="2000">
                <a:solidFill>
                  <a:srgbClr val="161616"/>
                </a:solidFill>
                <a:latin typeface="Arial"/>
              </a:rPr>
              <a:t>•  If any step fails, the result is STEP_UP and the error is stored.</a:t>
            </a:r>
          </a:p>
        </p:txBody>
      </p:sp>
      <p:sp>
        <p:nvSpPr>
          <p:cNvPr id="8" name="Rectangle 7"/>
          <p:cNvSpPr/>
          <p:nvPr/>
        </p:nvSpPr>
        <p:spPr>
          <a:xfrm>
            <a:off x="7132320" y="1737360"/>
            <a:ext cx="4572000" cy="3291840"/>
          </a:xfrm>
          <a:prstGeom prst="rect">
            <a:avLst/>
          </a:prstGeom>
          <a:solidFill>
            <a:srgbClr val="F2F4F8"/>
          </a:solidFill>
          <a:ln w="19050">
            <a:solidFill>
              <a:srgbClr val="525252"/>
            </a:solidFill>
            <a:prstDash val="dash"/>
          </a:ln>
        </p:spPr>
        <p:style>
          <a:lnRef idx="1">
            <a:schemeClr val="accent1"/>
          </a:lnRef>
          <a:fillRef idx="3">
            <a:schemeClr val="accent1"/>
          </a:fillRef>
          <a:effectRef idx="2">
            <a:schemeClr val="accent1"/>
          </a:effectRef>
          <a:fontRef idx="minor">
            <a:schemeClr val="lt1"/>
          </a:fontRef>
        </p:style>
        <p:txBody>
          <a:bodyPr rtlCol="0" anchor="ctr" wrap="square" lIns="182880" rIns="182880"/>
          <a:lstStyle/>
          <a:p>
            <a:pPr algn="ctr"/>
            <a:r>
              <a:rPr sz="1800" b="1">
                <a:solidFill>
                  <a:srgbClr val="525252"/>
                </a:solidFill>
                <a:latin typeface="Arial"/>
              </a:rPr>
              <a:t>PLACEHOLDER: architecture diagram, stream to dashboard, with the GenAI step and fail-safe marked (Vishaal, by 4 PM)</a:t>
            </a:r>
          </a:p>
        </p:txBody>
      </p:sp>
      <p:sp>
        <p:nvSpPr>
          <p:cNvPr id="9" name="TextBox 8"/>
          <p:cNvSpPr txBox="1"/>
          <p:nvPr/>
        </p:nvSpPr>
        <p:spPr>
          <a:xfrm>
            <a:off x="548640" y="5349240"/>
            <a:ext cx="11155680" cy="1005840"/>
          </a:xfrm>
          <a:prstGeom prst="rect">
            <a:avLst/>
          </a:prstGeom>
          <a:noFill/>
        </p:spPr>
        <p:txBody>
          <a:bodyPr wrap="square" anchor="t" lIns="45720" rIns="45720">
            <a:spAutoFit/>
          </a:bodyPr>
          <a:lstStyle/>
          <a:p>
            <a:pPr algn="l"/>
            <a:r>
              <a:rPr sz="1200" b="0" i="1">
                <a:solidFill>
                  <a:srgbClr val="525252"/>
                </a:solidFill>
                <a:latin typeface="Arial"/>
              </a:rPr>
              <a:t>The backend latency measured so far is from a placeholder rule scorer, not the real model.</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228600" cy="6858000"/>
          </a:xfrm>
          <a:prstGeom prst="rect">
            <a:avLst/>
          </a:prstGeom>
          <a:solidFill>
            <a:srgbClr val="0F62F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274320"/>
            <a:ext cx="11247120" cy="1188720"/>
          </a:xfrm>
          <a:prstGeom prst="rect">
            <a:avLst/>
          </a:prstGeom>
          <a:noFill/>
        </p:spPr>
        <p:txBody>
          <a:bodyPr wrap="square" anchor="ctr" lIns="45720" rIns="45720">
            <a:spAutoFit/>
          </a:bodyPr>
          <a:lstStyle/>
          <a:p>
            <a:pPr algn="l"/>
            <a:r>
              <a:rPr sz="2800" b="1" i="0">
                <a:solidFill>
                  <a:srgbClr val="161616"/>
                </a:solidFill>
                <a:latin typeface="Arial"/>
              </a:rPr>
              <a:t>ZShield is designed for IBM Z and deployable on LinuxONE, next to where payments already run.</a:t>
            </a:r>
          </a:p>
        </p:txBody>
      </p:sp>
      <p:cxnSp>
        <p:nvCxnSpPr>
          <p:cNvPr id="4" name="Connector 3"/>
          <p:cNvCxnSpPr/>
          <p:nvPr/>
        </p:nvCxnSpPr>
        <p:spPr>
          <a:xfrm>
            <a:off x="548640" y="1508760"/>
            <a:ext cx="11064240" cy="0"/>
          </a:xfrm>
          <a:prstGeom prst="line">
            <a:avLst/>
          </a:prstGeom>
          <a:ln w="25400">
            <a:solidFill>
              <a:srgbClr val="0F62FE"/>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457200" y="6400800"/>
            <a:ext cx="7315200" cy="320040"/>
          </a:xfrm>
          <a:prstGeom prst="rect">
            <a:avLst/>
          </a:prstGeom>
          <a:noFill/>
        </p:spPr>
        <p:txBody>
          <a:bodyPr wrap="square" anchor="t" lIns="45720" rIns="45720">
            <a:spAutoFit/>
          </a:bodyPr>
          <a:lstStyle/>
          <a:p>
            <a:pPr algn="l"/>
            <a:r>
              <a:rPr sz="1200" b="0" i="0">
                <a:solidFill>
                  <a:srgbClr val="525252"/>
                </a:solidFill>
                <a:latin typeface="Arial"/>
              </a:rPr>
              <a:t>ZShield | IBM Z Datathon 2026</a:t>
            </a:r>
          </a:p>
        </p:txBody>
      </p:sp>
      <p:sp>
        <p:nvSpPr>
          <p:cNvPr id="6" name="TextBox 5"/>
          <p:cNvSpPr txBox="1"/>
          <p:nvPr/>
        </p:nvSpPr>
        <p:spPr>
          <a:xfrm>
            <a:off x="10789920" y="6400800"/>
            <a:ext cx="914400" cy="320040"/>
          </a:xfrm>
          <a:prstGeom prst="rect">
            <a:avLst/>
          </a:prstGeom>
          <a:noFill/>
        </p:spPr>
        <p:txBody>
          <a:bodyPr wrap="square" anchor="t" lIns="45720" rIns="45720">
            <a:spAutoFit/>
          </a:bodyPr>
          <a:lstStyle/>
          <a:p>
            <a:pPr algn="r"/>
            <a:r>
              <a:rPr sz="1200" b="0" i="0">
                <a:solidFill>
                  <a:srgbClr val="525252"/>
                </a:solidFill>
                <a:latin typeface="Arial"/>
              </a:rPr>
              <a:t>6</a:t>
            </a:r>
          </a:p>
        </p:txBody>
      </p:sp>
      <p:sp>
        <p:nvSpPr>
          <p:cNvPr id="7" name="TextBox 6"/>
          <p:cNvSpPr txBox="1"/>
          <p:nvPr/>
        </p:nvSpPr>
        <p:spPr>
          <a:xfrm>
            <a:off x="548640" y="1691640"/>
            <a:ext cx="6309360" cy="3566160"/>
          </a:xfrm>
          <a:prstGeom prst="rect">
            <a:avLst/>
          </a:prstGeom>
          <a:noFill/>
        </p:spPr>
        <p:txBody>
          <a:bodyPr wrap="square">
            <a:spAutoFit/>
          </a:bodyPr>
          <a:lstStyle/>
          <a:p>
            <a:pPr>
              <a:spcAft>
                <a:spcPts val="1000"/>
              </a:spcAft>
            </a:pPr>
            <a:r>
              <a:rPr sz="2000">
                <a:solidFill>
                  <a:srgbClr val="161616"/>
                </a:solidFill>
                <a:latin typeface="Arial"/>
              </a:rPr>
              <a:t>•  Core payments already run on IBM Z. Scoring next to the transaction avoids moving sensitive data across networks.</a:t>
            </a:r>
          </a:p>
          <a:p>
            <a:pPr>
              <a:spcAft>
                <a:spcPts val="1000"/>
              </a:spcAft>
            </a:pPr>
            <a:r>
              <a:rPr sz="2000">
                <a:solidFill>
                  <a:srgbClr val="161616"/>
                </a:solidFill>
                <a:latin typeface="Arial"/>
              </a:rPr>
              <a:t>•  Low, predictable latency matters before settlement. Telum-class processors include on-chip AI acceleration for in-transaction inference. ZShield is designed to use it.</a:t>
            </a:r>
          </a:p>
          <a:p>
            <a:pPr>
              <a:spcAft>
                <a:spcPts val="1000"/>
              </a:spcAft>
            </a:pPr>
            <a:r>
              <a:rPr sz="2000">
                <a:solidFill>
                  <a:srgbClr val="161616"/>
                </a:solidFill>
                <a:latin typeface="Arial"/>
              </a:rPr>
              <a:t>•  ONNX keeps the model portable to s390x. IBM Z security and reliability match our responsible-AI design.</a:t>
            </a:r>
          </a:p>
        </p:txBody>
      </p:sp>
      <p:sp>
        <p:nvSpPr>
          <p:cNvPr id="8" name="Rectangle 7"/>
          <p:cNvSpPr/>
          <p:nvPr/>
        </p:nvSpPr>
        <p:spPr>
          <a:xfrm>
            <a:off x="7132320" y="1737360"/>
            <a:ext cx="4572000" cy="3291840"/>
          </a:xfrm>
          <a:prstGeom prst="rect">
            <a:avLst/>
          </a:prstGeom>
          <a:solidFill>
            <a:srgbClr val="F2F4F8"/>
          </a:solidFill>
          <a:ln w="19050">
            <a:solidFill>
              <a:srgbClr val="525252"/>
            </a:solidFill>
            <a:prstDash val="dash"/>
          </a:ln>
        </p:spPr>
        <p:style>
          <a:lnRef idx="1">
            <a:schemeClr val="accent1"/>
          </a:lnRef>
          <a:fillRef idx="3">
            <a:schemeClr val="accent1"/>
          </a:fillRef>
          <a:effectRef idx="2">
            <a:schemeClr val="accent1"/>
          </a:effectRef>
          <a:fontRef idx="minor">
            <a:schemeClr val="lt1"/>
          </a:fontRef>
        </p:style>
        <p:txBody>
          <a:bodyPr rtlCol="0" anchor="ctr" wrap="square" lIns="182880" rIns="182880"/>
          <a:lstStyle/>
          <a:p>
            <a:pPr algn="ctr"/>
            <a:r>
              <a:rPr sz="1800" b="1">
                <a:solidFill>
                  <a:srgbClr val="525252"/>
                </a:solidFill>
                <a:latin typeface="Arial"/>
              </a:rPr>
              <a:t>PLACEHOLDER: [[NEEDS: Vishaal: what actually ran on LinuxONE, with screenshot]]</a:t>
            </a:r>
          </a:p>
        </p:txBody>
      </p:sp>
      <p:sp>
        <p:nvSpPr>
          <p:cNvPr id="9" name="TextBox 8"/>
          <p:cNvSpPr txBox="1"/>
          <p:nvPr/>
        </p:nvSpPr>
        <p:spPr>
          <a:xfrm>
            <a:off x="548640" y="5349240"/>
            <a:ext cx="11155680" cy="1005840"/>
          </a:xfrm>
          <a:prstGeom prst="rect">
            <a:avLst/>
          </a:prstGeom>
          <a:noFill/>
        </p:spPr>
        <p:txBody>
          <a:bodyPr wrap="square" anchor="t" lIns="45720" rIns="45720">
            <a:spAutoFit/>
          </a:bodyPr>
          <a:lstStyle/>
          <a:p>
            <a:pPr algn="l"/>
            <a:r>
              <a:rPr sz="1200" b="0" i="1">
                <a:solidFill>
                  <a:srgbClr val="525252"/>
                </a:solidFill>
                <a:latin typeface="Arial"/>
              </a:rPr>
              <a:t>Scale: UPI recorded 2,366 crore transactions in July 2026 (PIB, key statistics attributed to NPCI). This is context, not a benchmark of ours.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228600" cy="6858000"/>
          </a:xfrm>
          <a:prstGeom prst="rect">
            <a:avLst/>
          </a:prstGeom>
          <a:solidFill>
            <a:srgbClr val="0F62F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274320"/>
            <a:ext cx="11247120" cy="1188720"/>
          </a:xfrm>
          <a:prstGeom prst="rect">
            <a:avLst/>
          </a:prstGeom>
          <a:noFill/>
        </p:spPr>
        <p:txBody>
          <a:bodyPr wrap="square" anchor="ctr" lIns="45720" rIns="45720">
            <a:spAutoFit/>
          </a:bodyPr>
          <a:lstStyle/>
          <a:p>
            <a:pPr algn="l"/>
            <a:r>
              <a:rPr sz="2800" b="1" i="0">
                <a:solidFill>
                  <a:srgbClr val="161616"/>
                </a:solidFill>
                <a:latin typeface="Arial"/>
              </a:rPr>
              <a:t>We test the way a bank would: time-based split, no leakage, and honest metrics.</a:t>
            </a:r>
          </a:p>
        </p:txBody>
      </p:sp>
      <p:cxnSp>
        <p:nvCxnSpPr>
          <p:cNvPr id="4" name="Connector 3"/>
          <p:cNvCxnSpPr/>
          <p:nvPr/>
        </p:nvCxnSpPr>
        <p:spPr>
          <a:xfrm>
            <a:off x="548640" y="1508760"/>
            <a:ext cx="11064240" cy="0"/>
          </a:xfrm>
          <a:prstGeom prst="line">
            <a:avLst/>
          </a:prstGeom>
          <a:ln w="25400">
            <a:solidFill>
              <a:srgbClr val="0F62FE"/>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457200" y="6400800"/>
            <a:ext cx="7315200" cy="320040"/>
          </a:xfrm>
          <a:prstGeom prst="rect">
            <a:avLst/>
          </a:prstGeom>
          <a:noFill/>
        </p:spPr>
        <p:txBody>
          <a:bodyPr wrap="square" anchor="t" lIns="45720" rIns="45720">
            <a:spAutoFit/>
          </a:bodyPr>
          <a:lstStyle/>
          <a:p>
            <a:pPr algn="l"/>
            <a:r>
              <a:rPr sz="1200" b="0" i="0">
                <a:solidFill>
                  <a:srgbClr val="525252"/>
                </a:solidFill>
                <a:latin typeface="Arial"/>
              </a:rPr>
              <a:t>ZShield | IBM Z Datathon 2026</a:t>
            </a:r>
          </a:p>
        </p:txBody>
      </p:sp>
      <p:sp>
        <p:nvSpPr>
          <p:cNvPr id="6" name="TextBox 5"/>
          <p:cNvSpPr txBox="1"/>
          <p:nvPr/>
        </p:nvSpPr>
        <p:spPr>
          <a:xfrm>
            <a:off x="10789920" y="6400800"/>
            <a:ext cx="914400" cy="320040"/>
          </a:xfrm>
          <a:prstGeom prst="rect">
            <a:avLst/>
          </a:prstGeom>
          <a:noFill/>
        </p:spPr>
        <p:txBody>
          <a:bodyPr wrap="square" anchor="t" lIns="45720" rIns="45720">
            <a:spAutoFit/>
          </a:bodyPr>
          <a:lstStyle/>
          <a:p>
            <a:pPr algn="r"/>
            <a:r>
              <a:rPr sz="1200" b="0" i="0">
                <a:solidFill>
                  <a:srgbClr val="525252"/>
                </a:solidFill>
                <a:latin typeface="Arial"/>
              </a:rPr>
              <a:t>7</a:t>
            </a:r>
          </a:p>
        </p:txBody>
      </p:sp>
      <p:sp>
        <p:nvSpPr>
          <p:cNvPr id="7" name="TextBox 6"/>
          <p:cNvSpPr txBox="1"/>
          <p:nvPr/>
        </p:nvSpPr>
        <p:spPr>
          <a:xfrm>
            <a:off x="548640" y="1691640"/>
            <a:ext cx="6309360" cy="3566160"/>
          </a:xfrm>
          <a:prstGeom prst="rect">
            <a:avLst/>
          </a:prstGeom>
          <a:noFill/>
        </p:spPr>
        <p:txBody>
          <a:bodyPr wrap="square">
            <a:spAutoFit/>
          </a:bodyPr>
          <a:lstStyle/>
          <a:p>
            <a:pPr>
              <a:spcAft>
                <a:spcPts val="1000"/>
              </a:spcAft>
            </a:pPr>
            <a:r>
              <a:rPr sz="2000">
                <a:solidFill>
                  <a:srgbClr val="161616"/>
                </a:solidFill>
                <a:latin typeface="Arial"/>
              </a:rPr>
              <a:t>•  PaySim synthetic payments (Kaggle). No real personal data. Split by time (step), no leakage.</a:t>
            </a:r>
          </a:p>
          <a:p>
            <a:pPr>
              <a:spcAft>
                <a:spcPts val="1000"/>
              </a:spcAft>
            </a:pPr>
            <a:r>
              <a:rPr sz="2000">
                <a:solidFill>
                  <a:srgbClr val="161616"/>
                </a:solidFill>
                <a:latin typeface="Arial"/>
              </a:rPr>
              <a:t>•  Class weights for rare fraud. Metrics: PR-AUC and recall at a fixed false-positive rate. No accuracy.</a:t>
            </a:r>
          </a:p>
          <a:p>
            <a:pPr>
              <a:spcAft>
                <a:spcPts val="1000"/>
              </a:spcAft>
            </a:pPr>
            <a:r>
              <a:rPr sz="2000">
                <a:solidFill>
                  <a:srgbClr val="161616"/>
                </a:solidFill>
                <a:latin typeface="Arial"/>
              </a:rPr>
              <a:t>•  Logistic regression baseline. Thresholds set by cost: a missed fraud costs more than an extra check.</a:t>
            </a:r>
          </a:p>
        </p:txBody>
      </p:sp>
      <p:sp>
        <p:nvSpPr>
          <p:cNvPr id="8" name="Rectangle 7"/>
          <p:cNvSpPr/>
          <p:nvPr/>
        </p:nvSpPr>
        <p:spPr>
          <a:xfrm>
            <a:off x="7132320" y="1737360"/>
            <a:ext cx="4572000" cy="3291840"/>
          </a:xfrm>
          <a:prstGeom prst="rect">
            <a:avLst/>
          </a:prstGeom>
          <a:solidFill>
            <a:srgbClr val="F2F4F8"/>
          </a:solidFill>
          <a:ln w="19050">
            <a:solidFill>
              <a:srgbClr val="525252"/>
            </a:solidFill>
            <a:prstDash val="dash"/>
          </a:ln>
        </p:spPr>
        <p:style>
          <a:lnRef idx="1">
            <a:schemeClr val="accent1"/>
          </a:lnRef>
          <a:fillRef idx="3">
            <a:schemeClr val="accent1"/>
          </a:fillRef>
          <a:effectRef idx="2">
            <a:schemeClr val="accent1"/>
          </a:effectRef>
          <a:fontRef idx="minor">
            <a:schemeClr val="lt1"/>
          </a:fontRef>
        </p:style>
        <p:txBody>
          <a:bodyPr rtlCol="0" anchor="ctr" wrap="square" lIns="182880" rIns="182880"/>
          <a:lstStyle/>
          <a:p>
            <a:pPr algn="ctr"/>
            <a:r>
              <a:rPr sz="1800" b="1">
                <a:solidFill>
                  <a:srgbClr val="525252"/>
                </a:solidFill>
                <a:latin typeface="Arial"/>
              </a:rPr>
              <a:t>PLACEHOLDER: EDA chart, fraud by type and over time (Balaa, docs/eda/, by 4 PM)</a:t>
            </a:r>
          </a:p>
        </p:txBody>
      </p:sp>
      <p:sp>
        <p:nvSpPr>
          <p:cNvPr id="9" name="TextBox 8"/>
          <p:cNvSpPr txBox="1"/>
          <p:nvPr/>
        </p:nvSpPr>
        <p:spPr>
          <a:xfrm>
            <a:off x="548640" y="5349240"/>
            <a:ext cx="11155680" cy="1005840"/>
          </a:xfrm>
          <a:prstGeom prst="rect">
            <a:avLst/>
          </a:prstGeom>
          <a:noFill/>
        </p:spPr>
        <p:txBody>
          <a:bodyPr wrap="square" anchor="t" lIns="45720" rIns="45720">
            <a:spAutoFit/>
          </a:bodyPr>
          <a:lstStyle/>
          <a:p>
            <a:pPr algn="l"/>
            <a:r>
              <a:rPr sz="1200" b="0" i="1">
                <a:solidFill>
                  <a:srgbClr val="525252"/>
                </a:solidFill>
                <a:latin typeface="Arial"/>
              </a:rPr>
              <a:t>PaySim is synthetic and relatively easy, so real-world performance is unknown.</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228600" cy="6858000"/>
          </a:xfrm>
          <a:prstGeom prst="rect">
            <a:avLst/>
          </a:prstGeom>
          <a:solidFill>
            <a:srgbClr val="0F62F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274320"/>
            <a:ext cx="11247120" cy="1188720"/>
          </a:xfrm>
          <a:prstGeom prst="rect">
            <a:avLst/>
          </a:prstGeom>
          <a:noFill/>
        </p:spPr>
        <p:txBody>
          <a:bodyPr wrap="square" anchor="ctr" lIns="45720" rIns="45720">
            <a:spAutoFit/>
          </a:bodyPr>
          <a:lstStyle/>
          <a:p>
            <a:pPr algn="l"/>
            <a:r>
              <a:rPr sz="2800" b="1" i="0">
                <a:solidFill>
                  <a:srgbClr val="161616"/>
                </a:solidFill>
                <a:latin typeface="Arial"/>
              </a:rPr>
              <a:t>We report ranking quality, catch rate at a fixed false-alarm rate, and latency, all measured, none assumed.</a:t>
            </a:r>
          </a:p>
        </p:txBody>
      </p:sp>
      <p:cxnSp>
        <p:nvCxnSpPr>
          <p:cNvPr id="4" name="Connector 3"/>
          <p:cNvCxnSpPr/>
          <p:nvPr/>
        </p:nvCxnSpPr>
        <p:spPr>
          <a:xfrm>
            <a:off x="548640" y="1508760"/>
            <a:ext cx="11064240" cy="0"/>
          </a:xfrm>
          <a:prstGeom prst="line">
            <a:avLst/>
          </a:prstGeom>
          <a:ln w="25400">
            <a:solidFill>
              <a:srgbClr val="0F62FE"/>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457200" y="6400800"/>
            <a:ext cx="7315200" cy="320040"/>
          </a:xfrm>
          <a:prstGeom prst="rect">
            <a:avLst/>
          </a:prstGeom>
          <a:noFill/>
        </p:spPr>
        <p:txBody>
          <a:bodyPr wrap="square" anchor="t" lIns="45720" rIns="45720">
            <a:spAutoFit/>
          </a:bodyPr>
          <a:lstStyle/>
          <a:p>
            <a:pPr algn="l"/>
            <a:r>
              <a:rPr sz="1200" b="0" i="0">
                <a:solidFill>
                  <a:srgbClr val="525252"/>
                </a:solidFill>
                <a:latin typeface="Arial"/>
              </a:rPr>
              <a:t>ZShield | IBM Z Datathon 2026</a:t>
            </a:r>
          </a:p>
        </p:txBody>
      </p:sp>
      <p:sp>
        <p:nvSpPr>
          <p:cNvPr id="6" name="TextBox 5"/>
          <p:cNvSpPr txBox="1"/>
          <p:nvPr/>
        </p:nvSpPr>
        <p:spPr>
          <a:xfrm>
            <a:off x="10789920" y="6400800"/>
            <a:ext cx="914400" cy="320040"/>
          </a:xfrm>
          <a:prstGeom prst="rect">
            <a:avLst/>
          </a:prstGeom>
          <a:noFill/>
        </p:spPr>
        <p:txBody>
          <a:bodyPr wrap="square" anchor="t" lIns="45720" rIns="45720">
            <a:spAutoFit/>
          </a:bodyPr>
          <a:lstStyle/>
          <a:p>
            <a:pPr algn="r"/>
            <a:r>
              <a:rPr sz="1200" b="0" i="0">
                <a:solidFill>
                  <a:srgbClr val="525252"/>
                </a:solidFill>
                <a:latin typeface="Arial"/>
              </a:rPr>
              <a:t>8</a:t>
            </a:r>
          </a:p>
        </p:txBody>
      </p:sp>
      <p:sp>
        <p:nvSpPr>
          <p:cNvPr id="7" name="TextBox 6"/>
          <p:cNvSpPr txBox="1"/>
          <p:nvPr/>
        </p:nvSpPr>
        <p:spPr>
          <a:xfrm>
            <a:off x="548640" y="1691640"/>
            <a:ext cx="6309360" cy="3566160"/>
          </a:xfrm>
          <a:prstGeom prst="rect">
            <a:avLst/>
          </a:prstGeom>
          <a:noFill/>
        </p:spPr>
        <p:txBody>
          <a:bodyPr wrap="square">
            <a:spAutoFit/>
          </a:bodyPr>
          <a:lstStyle/>
          <a:p>
            <a:pPr>
              <a:spcAft>
                <a:spcPts val="1000"/>
              </a:spcAft>
            </a:pPr>
            <a:r>
              <a:rPr sz="2000">
                <a:solidFill>
                  <a:srgbClr val="161616"/>
                </a:solidFill>
                <a:latin typeface="Arial"/>
              </a:rPr>
              <a:t>•  PR-AUC: [[NEEDS: PR-AUC from Joshua]] against baseline [[NEEDS: baseline PR-AUC from Joshua]].</a:t>
            </a:r>
          </a:p>
          <a:p>
            <a:pPr>
              <a:spcAft>
                <a:spcPts val="1000"/>
              </a:spcAft>
            </a:pPr>
            <a:r>
              <a:rPr sz="2000">
                <a:solidFill>
                  <a:srgbClr val="161616"/>
                </a:solidFill>
                <a:latin typeface="Arial"/>
              </a:rPr>
              <a:t>•  Recall at fixed FPR: [[NEEDS: recall at fixed FPR from Joshua]]. Confusion matrix and SHAP summary: [[NEEDS: charts from Joshua]].</a:t>
            </a:r>
          </a:p>
          <a:p>
            <a:pPr>
              <a:spcAft>
                <a:spcPts val="1000"/>
              </a:spcAft>
            </a:pPr>
            <a:r>
              <a:rPr sz="2000">
                <a:solidFill>
                  <a:srgbClr val="161616"/>
                </a:solidFill>
                <a:latin typeface="Arial"/>
              </a:rPr>
              <a:t>•  Latency: p95 [[NEEDS: p95 latency on LinuxONE from Vishaal/Abhinava]].</a:t>
            </a:r>
          </a:p>
        </p:txBody>
      </p:sp>
      <p:sp>
        <p:nvSpPr>
          <p:cNvPr id="8" name="Rectangle 7"/>
          <p:cNvSpPr/>
          <p:nvPr/>
        </p:nvSpPr>
        <p:spPr>
          <a:xfrm>
            <a:off x="7132320" y="1737360"/>
            <a:ext cx="4572000" cy="3291840"/>
          </a:xfrm>
          <a:prstGeom prst="rect">
            <a:avLst/>
          </a:prstGeom>
          <a:solidFill>
            <a:srgbClr val="F2F4F8"/>
          </a:solidFill>
          <a:ln w="19050">
            <a:solidFill>
              <a:srgbClr val="525252"/>
            </a:solidFill>
            <a:prstDash val="dash"/>
          </a:ln>
        </p:spPr>
        <p:style>
          <a:lnRef idx="1">
            <a:schemeClr val="accent1"/>
          </a:lnRef>
          <a:fillRef idx="3">
            <a:schemeClr val="accent1"/>
          </a:fillRef>
          <a:effectRef idx="2">
            <a:schemeClr val="accent1"/>
          </a:effectRef>
          <a:fontRef idx="minor">
            <a:schemeClr val="lt1"/>
          </a:fontRef>
        </p:style>
        <p:txBody>
          <a:bodyPr rtlCol="0" anchor="ctr" wrap="square" lIns="182880" rIns="182880"/>
          <a:lstStyle/>
          <a:p>
            <a:pPr algn="ctr"/>
            <a:r>
              <a:rPr sz="1800" b="1">
                <a:solidFill>
                  <a:srgbClr val="525252"/>
                </a:solidFill>
                <a:latin typeface="Arial"/>
              </a:rPr>
              <a:t>PLACEHOLDER: PR curve, model vs baseline; confusion matrix; SHAP summary; latency table (Joshua, by 4 PM)</a:t>
            </a:r>
          </a:p>
        </p:txBody>
      </p:sp>
      <p:sp>
        <p:nvSpPr>
          <p:cNvPr id="9" name="TextBox 8"/>
          <p:cNvSpPr txBox="1"/>
          <p:nvPr/>
        </p:nvSpPr>
        <p:spPr>
          <a:xfrm>
            <a:off x="548640" y="5349240"/>
            <a:ext cx="11155680" cy="1005840"/>
          </a:xfrm>
          <a:prstGeom prst="rect">
            <a:avLst/>
          </a:prstGeom>
          <a:noFill/>
        </p:spPr>
        <p:txBody>
          <a:bodyPr wrap="square" anchor="t" lIns="45720" rIns="45720">
            <a:spAutoFit/>
          </a:bodyPr>
          <a:lstStyle/>
          <a:p>
            <a:pPr algn="l"/>
            <a:r>
              <a:rPr sz="1200" b="0" i="1">
                <a:solidFill>
                  <a:srgbClr val="525252"/>
                </a:solidFill>
                <a:latin typeface="Arial"/>
              </a:rPr>
              <a:t>Honest note: the backend latency measured so far comes from a placeholder rule scorer on x86, not the real model and not IBM Z. We do not quote it as a result.</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228600" cy="6858000"/>
          </a:xfrm>
          <a:prstGeom prst="rect">
            <a:avLst/>
          </a:prstGeom>
          <a:solidFill>
            <a:srgbClr val="0F62F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274320"/>
            <a:ext cx="11247120" cy="1188720"/>
          </a:xfrm>
          <a:prstGeom prst="rect">
            <a:avLst/>
          </a:prstGeom>
          <a:noFill/>
        </p:spPr>
        <p:txBody>
          <a:bodyPr wrap="square" anchor="ctr" lIns="45720" rIns="45720">
            <a:spAutoFit/>
          </a:bodyPr>
          <a:lstStyle/>
          <a:p>
            <a:pPr algn="l"/>
            <a:r>
              <a:rPr sz="2800" b="1" i="0">
                <a:solidFill>
                  <a:srgbClr val="161616"/>
                </a:solidFill>
                <a:latin typeface="Arial"/>
              </a:rPr>
              <a:t>The AI explains and a human decides, and every limit is stated.</a:t>
            </a:r>
          </a:p>
        </p:txBody>
      </p:sp>
      <p:cxnSp>
        <p:nvCxnSpPr>
          <p:cNvPr id="4" name="Connector 3"/>
          <p:cNvCxnSpPr/>
          <p:nvPr/>
        </p:nvCxnSpPr>
        <p:spPr>
          <a:xfrm>
            <a:off x="548640" y="1508760"/>
            <a:ext cx="11064240" cy="0"/>
          </a:xfrm>
          <a:prstGeom prst="line">
            <a:avLst/>
          </a:prstGeom>
          <a:ln w="25400">
            <a:solidFill>
              <a:srgbClr val="0F62FE"/>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457200" y="6400800"/>
            <a:ext cx="7315200" cy="320040"/>
          </a:xfrm>
          <a:prstGeom prst="rect">
            <a:avLst/>
          </a:prstGeom>
          <a:noFill/>
        </p:spPr>
        <p:txBody>
          <a:bodyPr wrap="square" anchor="t" lIns="45720" rIns="45720">
            <a:spAutoFit/>
          </a:bodyPr>
          <a:lstStyle/>
          <a:p>
            <a:pPr algn="l"/>
            <a:r>
              <a:rPr sz="1200" b="0" i="0">
                <a:solidFill>
                  <a:srgbClr val="525252"/>
                </a:solidFill>
                <a:latin typeface="Arial"/>
              </a:rPr>
              <a:t>ZShield | IBM Z Datathon 2026</a:t>
            </a:r>
          </a:p>
        </p:txBody>
      </p:sp>
      <p:sp>
        <p:nvSpPr>
          <p:cNvPr id="6" name="TextBox 5"/>
          <p:cNvSpPr txBox="1"/>
          <p:nvPr/>
        </p:nvSpPr>
        <p:spPr>
          <a:xfrm>
            <a:off x="10789920" y="6400800"/>
            <a:ext cx="914400" cy="320040"/>
          </a:xfrm>
          <a:prstGeom prst="rect">
            <a:avLst/>
          </a:prstGeom>
          <a:noFill/>
        </p:spPr>
        <p:txBody>
          <a:bodyPr wrap="square" anchor="t" lIns="45720" rIns="45720">
            <a:spAutoFit/>
          </a:bodyPr>
          <a:lstStyle/>
          <a:p>
            <a:pPr algn="r"/>
            <a:r>
              <a:rPr sz="1200" b="0" i="0">
                <a:solidFill>
                  <a:srgbClr val="525252"/>
                </a:solidFill>
                <a:latin typeface="Arial"/>
              </a:rPr>
              <a:t>9</a:t>
            </a:r>
          </a:p>
        </p:txBody>
      </p:sp>
      <p:sp>
        <p:nvSpPr>
          <p:cNvPr id="7" name="TextBox 6"/>
          <p:cNvSpPr txBox="1"/>
          <p:nvPr/>
        </p:nvSpPr>
        <p:spPr>
          <a:xfrm>
            <a:off x="548640" y="1691640"/>
            <a:ext cx="6309360" cy="3566160"/>
          </a:xfrm>
          <a:prstGeom prst="rect">
            <a:avLst/>
          </a:prstGeom>
          <a:noFill/>
        </p:spPr>
        <p:txBody>
          <a:bodyPr wrap="square">
            <a:spAutoFit/>
          </a:bodyPr>
          <a:lstStyle/>
          <a:p>
            <a:pPr>
              <a:spcAft>
                <a:spcPts val="1000"/>
              </a:spcAft>
            </a:pPr>
            <a:r>
              <a:rPr sz="2000">
                <a:solidFill>
                  <a:srgbClr val="161616"/>
                </a:solidFill>
                <a:latin typeface="Arial"/>
              </a:rPr>
              <a:t>•  Synthetic data only. No names or demographics. Every flagged payment shows its reasons.</a:t>
            </a:r>
          </a:p>
          <a:p>
            <a:pPr>
              <a:spcAft>
                <a:spcPts val="1000"/>
              </a:spcAft>
            </a:pPr>
            <a:r>
              <a:rPr sz="2000">
                <a:solidFill>
                  <a:srgbClr val="161616"/>
                </a:solidFill>
                <a:latin typeface="Arial"/>
              </a:rPr>
              <a:t>•  GenAI only rephrases facts we give it. Output is checked, with a template fallback. It cannot change a decision.</a:t>
            </a:r>
          </a:p>
          <a:p>
            <a:pPr>
              <a:spcAft>
                <a:spcPts val="1000"/>
              </a:spcAft>
            </a:pPr>
            <a:r>
              <a:rPr sz="2000">
                <a:solidFill>
                  <a:srgbClr val="161616"/>
                </a:solidFill>
                <a:latin typeface="Arial"/>
              </a:rPr>
              <a:t>•  Fail-safe to STEP_UP. Every decision is logged. Fairness is checked by type and amount band: [[NEEDS: fairness numbers from Joshua]].</a:t>
            </a:r>
          </a:p>
        </p:txBody>
      </p:sp>
      <p:sp>
        <p:nvSpPr>
          <p:cNvPr id="8" name="Rectangle 7"/>
          <p:cNvSpPr/>
          <p:nvPr/>
        </p:nvSpPr>
        <p:spPr>
          <a:xfrm>
            <a:off x="7132320" y="1737360"/>
            <a:ext cx="4572000" cy="3291840"/>
          </a:xfrm>
          <a:prstGeom prst="rect">
            <a:avLst/>
          </a:prstGeom>
          <a:solidFill>
            <a:srgbClr val="F2F4F8"/>
          </a:solidFill>
          <a:ln w="19050">
            <a:solidFill>
              <a:srgbClr val="525252"/>
            </a:solidFill>
            <a:prstDash val="dash"/>
          </a:ln>
        </p:spPr>
        <p:style>
          <a:lnRef idx="1">
            <a:schemeClr val="accent1"/>
          </a:lnRef>
          <a:fillRef idx="3">
            <a:schemeClr val="accent1"/>
          </a:fillRef>
          <a:effectRef idx="2">
            <a:schemeClr val="accent1"/>
          </a:effectRef>
          <a:fontRef idx="minor">
            <a:schemeClr val="lt1"/>
          </a:fontRef>
        </p:style>
        <p:txBody>
          <a:bodyPr rtlCol="0" anchor="ctr" wrap="square" lIns="182880" rIns="182880"/>
          <a:lstStyle/>
          <a:p>
            <a:pPr algn="ctr"/>
            <a:r>
              <a:rPr sz="1800" b="1">
                <a:solidFill>
                  <a:srgbClr val="525252"/>
                </a:solidFill>
                <a:latin typeface="Arial"/>
              </a:rPr>
              <a:t>PLACEHOLDER: responsible-AI checklist graphic and fairness table (Arun graphic; Joshua numbers, by 4 PM)</a:t>
            </a:r>
          </a:p>
        </p:txBody>
      </p:sp>
      <p:sp>
        <p:nvSpPr>
          <p:cNvPr id="9" name="TextBox 8"/>
          <p:cNvSpPr txBox="1"/>
          <p:nvPr/>
        </p:nvSpPr>
        <p:spPr>
          <a:xfrm>
            <a:off x="548640" y="5349240"/>
            <a:ext cx="11155680" cy="1005840"/>
          </a:xfrm>
          <a:prstGeom prst="rect">
            <a:avLst/>
          </a:prstGeom>
          <a:noFill/>
        </p:spPr>
        <p:txBody>
          <a:bodyPr wrap="square" anchor="t" lIns="45720" rIns="45720">
            <a:spAutoFit/>
          </a:bodyPr>
          <a:lstStyle/>
          <a:p>
            <a:pPr algn="l"/>
            <a:r>
              <a:rPr sz="1200" b="0" i="1">
                <a:solidFill>
                  <a:srgbClr val="525252"/>
                </a:solidFill>
                <a:latin typeface="Arial"/>
              </a:rPr>
              <a:t>Status: validator, fail-safe and audit log are built. SHAP reasons and the fairness table are pending. See docs/responsible_ai.md.</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228600" cy="6858000"/>
          </a:xfrm>
          <a:prstGeom prst="rect">
            <a:avLst/>
          </a:prstGeom>
          <a:solidFill>
            <a:srgbClr val="0F62F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274320"/>
            <a:ext cx="11247120" cy="1188720"/>
          </a:xfrm>
          <a:prstGeom prst="rect">
            <a:avLst/>
          </a:prstGeom>
          <a:noFill/>
        </p:spPr>
        <p:txBody>
          <a:bodyPr wrap="square" anchor="ctr" lIns="45720" rIns="45720">
            <a:spAutoFit/>
          </a:bodyPr>
          <a:lstStyle/>
          <a:p>
            <a:pPr algn="l"/>
            <a:r>
              <a:rPr sz="2800" b="1" i="0">
                <a:solidFill>
                  <a:srgbClr val="161616"/>
                </a:solidFill>
                <a:latin typeface="Arial"/>
              </a:rPr>
              <a:t>Stopping a payment before settlement is the point where a scam can still be undone.</a:t>
            </a:r>
          </a:p>
        </p:txBody>
      </p:sp>
      <p:cxnSp>
        <p:nvCxnSpPr>
          <p:cNvPr id="4" name="Connector 3"/>
          <p:cNvCxnSpPr/>
          <p:nvPr/>
        </p:nvCxnSpPr>
        <p:spPr>
          <a:xfrm>
            <a:off x="548640" y="1508760"/>
            <a:ext cx="11064240" cy="0"/>
          </a:xfrm>
          <a:prstGeom prst="line">
            <a:avLst/>
          </a:prstGeom>
          <a:ln w="25400">
            <a:solidFill>
              <a:srgbClr val="0F62FE"/>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457200" y="6400800"/>
            <a:ext cx="7315200" cy="320040"/>
          </a:xfrm>
          <a:prstGeom prst="rect">
            <a:avLst/>
          </a:prstGeom>
          <a:noFill/>
        </p:spPr>
        <p:txBody>
          <a:bodyPr wrap="square" anchor="t" lIns="45720" rIns="45720">
            <a:spAutoFit/>
          </a:bodyPr>
          <a:lstStyle/>
          <a:p>
            <a:pPr algn="l"/>
            <a:r>
              <a:rPr sz="1200" b="0" i="0">
                <a:solidFill>
                  <a:srgbClr val="525252"/>
                </a:solidFill>
                <a:latin typeface="Arial"/>
              </a:rPr>
              <a:t>ZShield | IBM Z Datathon 2026</a:t>
            </a:r>
          </a:p>
        </p:txBody>
      </p:sp>
      <p:sp>
        <p:nvSpPr>
          <p:cNvPr id="6" name="TextBox 5"/>
          <p:cNvSpPr txBox="1"/>
          <p:nvPr/>
        </p:nvSpPr>
        <p:spPr>
          <a:xfrm>
            <a:off x="10789920" y="6400800"/>
            <a:ext cx="914400" cy="320040"/>
          </a:xfrm>
          <a:prstGeom prst="rect">
            <a:avLst/>
          </a:prstGeom>
          <a:noFill/>
        </p:spPr>
        <p:txBody>
          <a:bodyPr wrap="square" anchor="t" lIns="45720" rIns="45720">
            <a:spAutoFit/>
          </a:bodyPr>
          <a:lstStyle/>
          <a:p>
            <a:pPr algn="r"/>
            <a:r>
              <a:rPr sz="1200" b="0" i="0">
                <a:solidFill>
                  <a:srgbClr val="525252"/>
                </a:solidFill>
                <a:latin typeface="Arial"/>
              </a:rPr>
              <a:t>10</a:t>
            </a:r>
          </a:p>
        </p:txBody>
      </p:sp>
      <p:sp>
        <p:nvSpPr>
          <p:cNvPr id="7" name="TextBox 6"/>
          <p:cNvSpPr txBox="1"/>
          <p:nvPr/>
        </p:nvSpPr>
        <p:spPr>
          <a:xfrm>
            <a:off x="548640" y="1691640"/>
            <a:ext cx="6309360" cy="3566160"/>
          </a:xfrm>
          <a:prstGeom prst="rect">
            <a:avLst/>
          </a:prstGeom>
          <a:noFill/>
        </p:spPr>
        <p:txBody>
          <a:bodyPr wrap="square">
            <a:spAutoFit/>
          </a:bodyPr>
          <a:lstStyle/>
          <a:p>
            <a:pPr>
              <a:spcAft>
                <a:spcPts val="1000"/>
              </a:spcAft>
            </a:pPr>
            <a:r>
              <a:rPr sz="2000">
                <a:solidFill>
                  <a:srgbClr val="161616"/>
                </a:solidFill>
                <a:latin typeface="Arial"/>
              </a:rPr>
              <a:t>•  In our demo run, value intercepted: [[NEEDS: value intercepted from demo run]]. It excludes payments an analyst approved.</a:t>
            </a:r>
          </a:p>
          <a:p>
            <a:pPr>
              <a:spcAft>
                <a:spcPts val="1000"/>
              </a:spcAft>
            </a:pPr>
            <a:r>
              <a:rPr sz="2000">
                <a:solidFill>
                  <a:srgbClr val="161616"/>
                </a:solidFill>
                <a:latin typeface="Arial"/>
              </a:rPr>
              <a:t>•  After-the-fact freezing helps: more than ₹11,158 crore saved in more than 32.80 lakh complaints (till 30.06.2026). ZShield acts earlier.</a:t>
            </a:r>
          </a:p>
          <a:p>
            <a:pPr>
              <a:spcAft>
                <a:spcPts val="1000"/>
              </a:spcAft>
            </a:pPr>
            <a:r>
              <a:rPr sz="2000">
                <a:solidFill>
                  <a:srgbClr val="161616"/>
                </a:solidFill>
                <a:latin typeface="Arial"/>
              </a:rPr>
              <a:t>•  Next: real model on LinuxONE, SHAP reasons, pilot with real review queues, drift monitoring.</a:t>
            </a:r>
          </a:p>
        </p:txBody>
      </p:sp>
      <p:sp>
        <p:nvSpPr>
          <p:cNvPr id="8" name="Rectangle 7"/>
          <p:cNvSpPr/>
          <p:nvPr/>
        </p:nvSpPr>
        <p:spPr>
          <a:xfrm>
            <a:off x="7132320" y="1737360"/>
            <a:ext cx="4572000" cy="3291840"/>
          </a:xfrm>
          <a:prstGeom prst="rect">
            <a:avLst/>
          </a:prstGeom>
          <a:solidFill>
            <a:srgbClr val="F2F4F8"/>
          </a:solidFill>
          <a:ln w="19050">
            <a:solidFill>
              <a:srgbClr val="525252"/>
            </a:solidFill>
            <a:prstDash val="dash"/>
          </a:ln>
        </p:spPr>
        <p:style>
          <a:lnRef idx="1">
            <a:schemeClr val="accent1"/>
          </a:lnRef>
          <a:fillRef idx="3">
            <a:schemeClr val="accent1"/>
          </a:fillRef>
          <a:effectRef idx="2">
            <a:schemeClr val="accent1"/>
          </a:effectRef>
          <a:fontRef idx="minor">
            <a:schemeClr val="lt1"/>
          </a:fontRef>
        </p:style>
        <p:txBody>
          <a:bodyPr rtlCol="0" anchor="ctr" wrap="square" lIns="182880" rIns="182880"/>
          <a:lstStyle/>
          <a:p>
            <a:pPr algn="ctr"/>
            <a:r>
              <a:rPr sz="1800" b="1">
                <a:solidFill>
                  <a:srgbClr val="525252"/>
                </a:solidFill>
                <a:latin typeface="Arial"/>
              </a:rPr>
              <a:t>PLACEHOLDER: impact panel, demo-run counts and value intercepted from /stats (Armaan, by 4 PM)</a:t>
            </a:r>
          </a:p>
        </p:txBody>
      </p:sp>
      <p:sp>
        <p:nvSpPr>
          <p:cNvPr id="9" name="TextBox 8"/>
          <p:cNvSpPr txBox="1"/>
          <p:nvPr/>
        </p:nvSpPr>
        <p:spPr>
          <a:xfrm>
            <a:off x="548640" y="5349240"/>
            <a:ext cx="11155680" cy="1005840"/>
          </a:xfrm>
          <a:prstGeom prst="rect">
            <a:avLst/>
          </a:prstGeom>
          <a:noFill/>
        </p:spPr>
        <p:txBody>
          <a:bodyPr wrap="square" anchor="t" lIns="45720" rIns="45720">
            <a:spAutoFit/>
          </a:bodyPr>
          <a:lstStyle/>
          <a:p>
            <a:pPr algn="l"/>
            <a:r>
              <a:rPr sz="1200" b="0" i="1">
                <a:solidFill>
                  <a:srgbClr val="525252"/>
                </a:solidFill>
                <a:latin typeface="Arial"/>
              </a:rPr>
              <a:t>Source: PIB, MHA, "National Cyber Crime Data", 21 Jul 2026. "Saved" and "reported" cover different periods. We do not compute a recovery rate.</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228600" cy="6858000"/>
          </a:xfrm>
          <a:prstGeom prst="rect">
            <a:avLst/>
          </a:prstGeom>
          <a:solidFill>
            <a:srgbClr val="0F62F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274320"/>
            <a:ext cx="11247120" cy="1188720"/>
          </a:xfrm>
          <a:prstGeom prst="rect">
            <a:avLst/>
          </a:prstGeom>
          <a:noFill/>
        </p:spPr>
        <p:txBody>
          <a:bodyPr wrap="square" anchor="ctr" lIns="45720" rIns="45720">
            <a:spAutoFit/>
          </a:bodyPr>
          <a:lstStyle/>
          <a:p>
            <a:pPr algn="l"/>
            <a:r>
              <a:rPr sz="2800" b="1" i="0">
                <a:solidFill>
                  <a:srgbClr val="161616"/>
                </a:solidFill>
                <a:latin typeface="Arial"/>
              </a:rPr>
              <a:t>Appendix: sources and notes</a:t>
            </a:r>
          </a:p>
        </p:txBody>
      </p:sp>
      <p:cxnSp>
        <p:nvCxnSpPr>
          <p:cNvPr id="4" name="Connector 3"/>
          <p:cNvCxnSpPr/>
          <p:nvPr/>
        </p:nvCxnSpPr>
        <p:spPr>
          <a:xfrm>
            <a:off x="548640" y="1508760"/>
            <a:ext cx="11064240" cy="0"/>
          </a:xfrm>
          <a:prstGeom prst="line">
            <a:avLst/>
          </a:prstGeom>
          <a:ln w="25400">
            <a:solidFill>
              <a:srgbClr val="0F62FE"/>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457200" y="6400800"/>
            <a:ext cx="7315200" cy="320040"/>
          </a:xfrm>
          <a:prstGeom prst="rect">
            <a:avLst/>
          </a:prstGeom>
          <a:noFill/>
        </p:spPr>
        <p:txBody>
          <a:bodyPr wrap="square" anchor="t" lIns="45720" rIns="45720">
            <a:spAutoFit/>
          </a:bodyPr>
          <a:lstStyle/>
          <a:p>
            <a:pPr algn="l"/>
            <a:r>
              <a:rPr sz="1200" b="0" i="0">
                <a:solidFill>
                  <a:srgbClr val="525252"/>
                </a:solidFill>
                <a:latin typeface="Arial"/>
              </a:rPr>
              <a:t>ZShield | IBM Z Datathon 2026</a:t>
            </a:r>
          </a:p>
        </p:txBody>
      </p:sp>
      <p:sp>
        <p:nvSpPr>
          <p:cNvPr id="6" name="TextBox 5"/>
          <p:cNvSpPr txBox="1"/>
          <p:nvPr/>
        </p:nvSpPr>
        <p:spPr>
          <a:xfrm>
            <a:off x="10789920" y="6400800"/>
            <a:ext cx="914400" cy="320040"/>
          </a:xfrm>
          <a:prstGeom prst="rect">
            <a:avLst/>
          </a:prstGeom>
          <a:noFill/>
        </p:spPr>
        <p:txBody>
          <a:bodyPr wrap="square" anchor="t" lIns="45720" rIns="45720">
            <a:spAutoFit/>
          </a:bodyPr>
          <a:lstStyle/>
          <a:p>
            <a:pPr algn="r"/>
            <a:r>
              <a:rPr sz="1200" b="0" i="0">
                <a:solidFill>
                  <a:srgbClr val="525252"/>
                </a:solidFill>
                <a:latin typeface="Arial"/>
              </a:rPr>
              <a:t>11</a:t>
            </a:r>
          </a:p>
        </p:txBody>
      </p:sp>
      <p:sp>
        <p:nvSpPr>
          <p:cNvPr id="7" name="TextBox 6"/>
          <p:cNvSpPr txBox="1"/>
          <p:nvPr/>
        </p:nvSpPr>
        <p:spPr>
          <a:xfrm>
            <a:off x="548640" y="1691640"/>
            <a:ext cx="11155680" cy="4572000"/>
          </a:xfrm>
          <a:prstGeom prst="rect">
            <a:avLst/>
          </a:prstGeom>
          <a:noFill/>
        </p:spPr>
        <p:txBody>
          <a:bodyPr wrap="square">
            <a:spAutoFit/>
          </a:bodyPr>
          <a:lstStyle/>
          <a:p>
            <a:pPr>
              <a:spcAft>
                <a:spcPts val="600"/>
              </a:spcAft>
            </a:pPr>
            <a:r>
              <a:rPr sz="1300">
                <a:solidFill>
                  <a:srgbClr val="161616"/>
                </a:solidFill>
                <a:latin typeface="Arial"/>
              </a:rPr>
              <a:t>•  Stat 2 (opener): RBI, "Discussion Paper - Exploring safeguards in digital payments to curb frauds", 9 Apr 2026. https://www.rbi.org.in/Scripts/PublicationsView.aspx?id=23810 (accessed 2026-10-17)</a:t>
            </a:r>
          </a:p>
          <a:p>
            <a:pPr>
              <a:spcAft>
                <a:spcPts val="600"/>
              </a:spcAft>
            </a:pPr>
            <a:r>
              <a:rPr sz="1300">
                <a:solidFill>
                  <a:srgbClr val="161616"/>
                </a:solidFill>
                <a:latin typeface="Arial"/>
              </a:rPr>
              <a:t>•  Stat 4 (slide 10): PIB / MHA, "National Cyber Crime Data", 21 Jul 2026. https://www.pib.gov.in/PressReleasePage.aspx?PRID=2287039&amp;reg=48&amp;lang=2 (accessed 2026-10-17)</a:t>
            </a:r>
          </a:p>
          <a:p>
            <a:pPr>
              <a:spcAft>
                <a:spcPts val="600"/>
              </a:spcAft>
            </a:pPr>
            <a:r>
              <a:rPr sz="1300">
                <a:solidFill>
                  <a:srgbClr val="161616"/>
                </a:solidFill>
                <a:latin typeface="Arial"/>
              </a:rPr>
              <a:t>•  Stat 5 (slide 6): PIB, "UPI Completes 10 Years of Digital Payments Revolution", 24 Aug 2026, key statistics attributed to NPCI. https://www.pib.gov.in/PressReleasePage.aspx?PRID=2302657&amp;reg=48&amp;lang=2 (accessed 2026-10-17)</a:t>
            </a:r>
          </a:p>
          <a:p>
            <a:pPr>
              <a:spcAft>
                <a:spcPts val="600"/>
              </a:spcAft>
            </a:pPr>
            <a:r>
              <a:rPr sz="1300">
                <a:solidFill>
                  <a:srgbClr val="161616"/>
                </a:solidFill>
                <a:latin typeface="Arial"/>
              </a:rPr>
              <a:t>•  Persona 3 reference: PIB (MHA), alert on "Digital Arrest" scams, 14 May 2024. https://www.pib.gov.in/PressReleasePage.aspx?PRID=2020570 (accessed 2026-10-17)</a:t>
            </a:r>
          </a:p>
          <a:p>
            <a:pPr>
              <a:spcAft>
                <a:spcPts val="600"/>
              </a:spcAft>
            </a:pPr>
            <a:r>
              <a:rPr sz="1300">
                <a:solidFill>
                  <a:srgbClr val="161616"/>
                </a:solidFill>
                <a:latin typeface="Arial"/>
              </a:rPr>
              <a:t>•  Not used on slides: Stat 1 (RBI Annual Report 2024-25) and Stat 3 (MHA, Lok Sabha, 2 Dec 2025). Their 2024 numbers differ from other cuts and must not be mixed with the opener.</a:t>
            </a:r>
          </a:p>
          <a:p>
            <a:pPr>
              <a:spcAft>
                <a:spcPts val="600"/>
              </a:spcAft>
            </a:pPr>
            <a:r>
              <a:rPr sz="1300">
                <a:solidFill>
                  <a:srgbClr val="161616"/>
                </a:solidFill>
                <a:latin typeface="Arial"/>
              </a:rPr>
              <a:t>•  Units: lakh = 100,000; crore = 10 million. Figures are "reported", not confirmed losses.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