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stat and say "reported", not "lost". Then read the problem line slowly. It is the question the rest of the deck answers.</a:t>
            </a:r>
          </a:p>
          <a:p/>
          <a:p>
            <a:r>
              <a:t>Visual needed: Stat card: bar chart of the RBI table (2.6 lakh in 2021 up to 28 lakh in 2025) with the opener quote. Use only that one table. Do not add the MHA or PIB 2024 numbers.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insight has three parts: timing, reasons, human control. Say the personas are illustrative. Keep The Caller at the level of public scam patterns, no method.</a:t>
            </a:r>
          </a:p>
          <a:p/>
          <a:p>
            <a:r>
              <a:t>Visual needed: Three persona cards, each with one line of pain point and one line of what changes. Text from `docs/problem/personas.md`.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lanes in one breath. Stress that STEP_UP is the middle path that protects honest customers. The GenAI never makes or changes a decision.</a:t>
            </a:r>
          </a:p>
          <a:p/>
          <a:p>
            <a:r>
              <a:t>Visual needed: One graphic: a payment enters, a score appears, three lanes. HOLD lane ends at "analyst: Approve, Block or Escalate".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live. If it fails, play the backup clip and show the audit log. Replay each story after a reset so decisions are fresh. Full wording is in demo_script.md.</a:t>
            </a:r>
          </a:p>
          <a:p/>
          <a:p>
            <a:r>
              <a:t>Visual needed: Two screenshots: Live Feed during Normal Day, and Alert Detail for the held Scam Drain payment with the Block button. (Supplier: Armaan (docs/screenshots/))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path left to right. Point out that the GenAI sits after the decision and cannot change it. Mention the fail-safe once.</a:t>
            </a:r>
          </a:p>
          <a:p/>
          <a:p>
            <a:r>
              <a:t>Visual needed: Block diagram: stream, FastAPI /score, live features, ONNX model, decision engine, audit log (SQLite), dashboard (Streamlit). GenAI alert branch off the decision engine. (Supplier: Vishaal (diagram), Arun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"designed for" and "deployable on". Do not say we used or tested the on-chip accelerator or the compiler unless Vishaal confirms it. If LinuxONE ran the API, say exactly that and show the screenshot.</a:t>
            </a:r>
          </a:p>
          <a:p/>
          <a:p>
            <a:r>
              <a:t>Visual needed: Screenshot of /health and a /score call on LinuxONE, plus one line stating exactly what ran. If nothing ran, keep the "designed for / deployable on" wording and say so. (Supplier: Vishaal)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accuracy is misleading when fraud is rare. Say the baseline exists so the boosted-tree model has to earn its place. Name the limit: synthetic data.</a:t>
            </a:r>
          </a:p>
          <a:p/>
          <a:p>
            <a:r>
              <a:t>Visual needed: One EDA chart that shows how rare fraud is and which transaction types carry it. (Supplier: Balaa)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every number from a real run and label the machine. If the real model is not in by the deadline, say so on this slide. Never show the placeholder scorer's numbers as model results.</a:t>
            </a:r>
          </a:p>
          <a:p/>
          <a:p>
            <a:r>
              <a:t>Visual needed: Four items: PR curve against the baseline, confusion matrix, SHAP summary, latency table labelled with the machine. (Supplier: Joshua (charts), Abhinava / Vishaal (latency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built and what is pending. Name the limits: synthetic data, drift, fraudsters adapt, fairness checked only through proxies. Honesty here is a strength.</a:t>
            </a:r>
          </a:p>
          <a:p/>
          <a:p>
            <a:r>
              <a:t>Visual needed: Six icons for the six short-version bullets, plus the fairness table when Joshua's numbers arrive. (Supplier: Arun (graphic), Joshua (numbers))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the demo number only from the real run. Do not say this recovers money at any rate. Close on the problem line: score, stop, explain, keep a human in control.</a:t>
            </a:r>
          </a:p>
          <a:p/>
          <a:p>
            <a:r>
              <a:t>Visual needed: Dashboard Impact page screenshot. (Supplier: Armaan)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All figures are from docs/problem/stats.md, quoted with their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Instant payments leave almost no time to stop a scam.</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a:t>
            </a:r>
          </a:p>
        </p:txBody>
      </p:sp>
      <p:sp>
        <p:nvSpPr>
          <p:cNvPr id="7" name="TextBox 6"/>
          <p:cNvSpPr txBox="1"/>
          <p:nvPr/>
        </p:nvSpPr>
        <p:spPr>
          <a:xfrm>
            <a:off x="548640" y="1691640"/>
            <a:ext cx="6309360" cy="2743200"/>
          </a:xfrm>
          <a:prstGeom prst="rect">
            <a:avLst/>
          </a:prstGeom>
          <a:noFill/>
        </p:spPr>
        <p:txBody>
          <a:bodyPr wrap="square">
            <a:spAutoFit/>
          </a:bodyPr>
          <a:lstStyle/>
          <a:p>
            <a:pPr>
              <a:spcAft>
                <a:spcPts val="1000"/>
              </a:spcAft>
            </a:pPr>
            <a:r>
              <a:rPr sz="2000">
                <a:solidFill>
                  <a:srgbClr val="161616"/>
                </a:solidFill>
                <a:latin typeface="Arial"/>
              </a:rPr>
              <a:t>•  In 2025, 28 lakh digital payment frauds were reported on the National Cyber Crime Reporting Portal, worth ₹22,931 crore.</a:t>
            </a:r>
          </a:p>
          <a:p>
            <a:pPr>
              <a:spcAft>
                <a:spcPts val="1000"/>
              </a:spcAft>
            </a:pPr>
            <a:r>
              <a:rPr sz="2000">
                <a:solidFill>
                  <a:srgbClr val="161616"/>
                </a:solidFill>
                <a:latin typeface="Arial"/>
              </a:rPr>
              <a:t>•  The RBI says the "scope for timely intervention and recovery of funds becomes limited".</a:t>
            </a:r>
          </a:p>
          <a:p>
            <a:pPr>
              <a:spcAft>
                <a:spcPts val="1000"/>
              </a:spcAft>
            </a:pPr>
            <a:r>
              <a:rPr sz="2000">
                <a:solidFill>
                  <a:srgbClr val="161616"/>
                </a:solidFill>
                <a:latin typeface="Arial"/>
              </a:rPr>
              <a:t>•  Checks that run after settlement come too late.</a:t>
            </a:r>
          </a:p>
        </p:txBody>
      </p:sp>
      <p:sp>
        <p:nvSpPr>
          <p:cNvPr id="8" name="Rectangle 7"/>
          <p:cNvSpPr/>
          <p:nvPr/>
        </p:nvSpPr>
        <p:spPr>
          <a:xfrm>
            <a:off x="7132320" y="1737360"/>
            <a:ext cx="4572000" cy="256032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stat card, NCRP frauds reported 2021 to 2025, from the RBI table only (Arun, by 4 PM)</a:t>
            </a:r>
          </a:p>
        </p:txBody>
      </p:sp>
      <p:sp>
        <p:nvSpPr>
          <p:cNvPr id="9" name="Rectangle 8"/>
          <p:cNvSpPr/>
          <p:nvPr/>
        </p:nvSpPr>
        <p:spPr>
          <a:xfrm>
            <a:off x="548640" y="4434840"/>
            <a:ext cx="11155680" cy="1143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2000" b="1">
                <a:solidFill>
                  <a:srgbClr val="FFFFFF"/>
                </a:solidFill>
                <a:latin typeface="Arial"/>
              </a:rPr>
              <a:t>How can we score every payment as it happens, stop the dangerous ones before settlement, explain the decision in plain language, and keep a human in control, without blocking honest customers?</a:t>
            </a:r>
          </a:p>
        </p:txBody>
      </p:sp>
      <p:sp>
        <p:nvSpPr>
          <p:cNvPr id="10" name="TextBox 9"/>
          <p:cNvSpPr txBox="1"/>
          <p:nvPr/>
        </p:nvSpPr>
        <p:spPr>
          <a:xfrm>
            <a:off x="548640" y="5669280"/>
            <a:ext cx="11155680" cy="685800"/>
          </a:xfrm>
          <a:prstGeom prst="rect">
            <a:avLst/>
          </a:prstGeom>
          <a:noFill/>
        </p:spPr>
        <p:txBody>
          <a:bodyPr wrap="square" anchor="t" lIns="45720" rIns="45720">
            <a:spAutoFit/>
          </a:bodyPr>
          <a:lstStyle/>
          <a:p>
            <a:pPr algn="l"/>
            <a:r>
              <a:rPr sz="1200" b="0" i="1">
                <a:solidFill>
                  <a:srgbClr val="525252"/>
                </a:solidFill>
                <a:latin typeface="Arial"/>
              </a:rPr>
              <a:t>Source: Reserve Bank of India, "Discussion Paper - Exploring safeguards in digital payments to curb frauds", 9 Apr 2026. Figures are frauds reported on NCRP, not confirmed losses.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decision must happen before settlement, and a score alone is not enough.</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2</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Before settlement: after the money moves, recovery is limited.</a:t>
            </a:r>
          </a:p>
          <a:p>
            <a:pPr>
              <a:spcAft>
                <a:spcPts val="1000"/>
              </a:spcAft>
            </a:pPr>
            <a:r>
              <a:rPr sz="2000">
                <a:solidFill>
                  <a:srgbClr val="161616"/>
                </a:solidFill>
                <a:latin typeface="Arial"/>
              </a:rPr>
              <a:t>•  With reasons: Meera, the analyst, needs to know why a payment is different, not just a number.</a:t>
            </a:r>
          </a:p>
          <a:p>
            <a:pPr>
              <a:spcAft>
                <a:spcPts val="1000"/>
              </a:spcAft>
            </a:pPr>
            <a:r>
              <a:rPr sz="2000">
                <a:solidFill>
                  <a:srgbClr val="161616"/>
                </a:solidFill>
                <a:latin typeface="Arial"/>
              </a:rPr>
              <a:t>•  With a human in control: Kamla, a first-time UPI user, should not be blocked without a reason. The Caller relies on speed.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 persona cards, Meera / Kamla / The Caller, marked "illustrative"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Meera, Kamla and The Caller are illustrative composites, not real people. Source for the recovery point: RBI discussion paper, 9 Apr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scores every payment in milliseconds and sends it to APPROVE, STEP_UP or HOLD.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3</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APPROVE: pass straight through. STEP_UP: an extra check (warning, OTP or call-back). HOLD: paused for a human analyst.</a:t>
            </a:r>
          </a:p>
          <a:p>
            <a:pPr>
              <a:spcAft>
                <a:spcPts val="1000"/>
              </a:spcAft>
            </a:pPr>
            <a:r>
              <a:rPr sz="2000">
                <a:solidFill>
                  <a:srgbClr val="161616"/>
                </a:solidFill>
                <a:latin typeface="Arial"/>
              </a:rPr>
              <a:t>•  Flagged payments get the top 3 reasons and a plain-language alert.</a:t>
            </a:r>
          </a:p>
          <a:p>
            <a:pPr>
              <a:spcAft>
                <a:spcPts val="1000"/>
              </a:spcAft>
            </a:pPr>
            <a:r>
              <a:rPr sz="2000">
                <a:solidFill>
                  <a:srgbClr val="161616"/>
                </a:solidFill>
                <a:latin typeface="Arial"/>
              </a:rPr>
              <a:t>•  The AI explains. A human decides. If scoring fails, the result is STEP_UP, never a silent approve.</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three-lane routing graphic, APPROVE / STEP_UP / HOLD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Alert text is made from fixed templates by default. A language model is optional, and every output is checked.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Three stories show the system working: a drain is held, a burst is flagged, a normal day flows.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4</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Scam Drain: at 2 AM the whole balance goes to a brand-new recipient. Result: HOLD. The analyst clicks Block.</a:t>
            </a:r>
          </a:p>
          <a:p>
            <a:pPr>
              <a:spcAft>
                <a:spcPts val="1000"/>
              </a:spcAft>
            </a:pPr>
            <a:r>
              <a:rPr sz="2000">
                <a:solidFill>
                  <a:srgbClr val="161616"/>
                </a:solidFill>
                <a:latin typeface="Arial"/>
              </a:rPr>
              <a:t>•  Mule Burst: one destination receives many transfers fast. Result: flagged.</a:t>
            </a:r>
          </a:p>
          <a:p>
            <a:pPr>
              <a:spcAft>
                <a:spcPts val="1000"/>
              </a:spcAft>
            </a:pPr>
            <a:r>
              <a:rPr sz="2000">
                <a:solidFill>
                  <a:srgbClr val="161616"/>
                </a:solidFill>
                <a:latin typeface="Arial"/>
              </a:rPr>
              <a:t>•  Normal Day: hundreds of honest payments pass in milliseconds.</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dashboard screenshots, Live Feed and Alert Detail with the Scam Drain HOLD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Example alert text (example; the live amount comes from the demo story): "We paused a payment of ₹9,000 for a safety review. Reason: account emptied in one transfer, new recipient, large payment at an unusual hour. Our team will contact you. Never share your OTP or PIN."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One short path from payment to decision, with every step logged.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5</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Stream, then POST /score, live features, ONNX model (placeholder rule until Joshua's model lands), decision engine.</a:t>
            </a:r>
          </a:p>
          <a:p>
            <a:pPr>
              <a:spcAft>
                <a:spcPts val="1000"/>
              </a:spcAft>
            </a:pPr>
            <a:r>
              <a:rPr sz="2000">
                <a:solidFill>
                  <a:srgbClr val="161616"/>
                </a:solidFill>
                <a:latin typeface="Arial"/>
              </a:rPr>
              <a:t>•  Flagged payments get reasons and an alert. Every decision goes to an audit log, then the dashboard.</a:t>
            </a:r>
          </a:p>
          <a:p>
            <a:pPr>
              <a:spcAft>
                <a:spcPts val="1000"/>
              </a:spcAft>
            </a:pPr>
            <a:r>
              <a:rPr sz="2000">
                <a:solidFill>
                  <a:srgbClr val="161616"/>
                </a:solidFill>
                <a:latin typeface="Arial"/>
              </a:rPr>
              <a:t>•  If scoring fails, the result is STEP_UP and the error is stored.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architecture diagram, stream to dashboard, with the GenAI step and fail-safe marked (Vishaal,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The backend latency measured so far is from a placeholder rule scorer, not the real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is designed for IBM Z and deployable on LinuxONE, next to where many banks already run core payments.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6</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1800">
                <a:solidFill>
                  <a:srgbClr val="161616"/>
                </a:solidFill>
                <a:latin typeface="Arial"/>
              </a:rPr>
              <a:t>•  Many banks run core payment systems on IBM Z. Scoring next to the transaction avoids moving sensitive data across networks.</a:t>
            </a:r>
          </a:p>
          <a:p>
            <a:pPr>
              <a:spcAft>
                <a:spcPts val="1000"/>
              </a:spcAft>
            </a:pPr>
            <a:r>
              <a:rPr sz="1800">
                <a:solidFill>
                  <a:srgbClr val="161616"/>
                </a:solidFill>
                <a:latin typeface="Arial"/>
              </a:rPr>
              <a:t>•  IBM Telum processors include an on-chip AI accelerator for in-transaction inference. Because our model is ONNX, it could be compiled for it (for example with the IBM Z Deep Learning Compiler). Not tested.</a:t>
            </a:r>
          </a:p>
          <a:p>
            <a:pPr>
              <a:spcAft>
                <a:spcPts val="1000"/>
              </a:spcAft>
            </a:pPr>
            <a:r>
              <a:rPr sz="1800">
                <a:solidFill>
                  <a:srgbClr val="161616"/>
                </a:solidFill>
                <a:latin typeface="Arial"/>
              </a:rPr>
              <a:t>•  ONNX is a portable format; on s390x it needs ONNX Runtime built for s390x or the IBM Z Deep Learning Compiler (Vishaal to confirm).</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[[NEEDS: Vishaal: what actually ran on LinuxONE, with screenshot]]</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Low, predictable latency matters before settlement, and IBM Z security and reliability match our responsible-AI design. Scale: UPI recorded 2,366 crore transactions in July 2026 (PIB, key statistics attributed to NPCI). This is context, not a benchmark of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test the way a bank would: time-based split, no leakage, and honest metrics.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7</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PaySim synthetic payments (Kaggle). No real personal data. Split by time (step), no leakage.</a:t>
            </a:r>
          </a:p>
          <a:p>
            <a:pPr>
              <a:spcAft>
                <a:spcPts val="1000"/>
              </a:spcAft>
            </a:pPr>
            <a:r>
              <a:rPr sz="2000">
                <a:solidFill>
                  <a:srgbClr val="161616"/>
                </a:solidFill>
                <a:latin typeface="Arial"/>
              </a:rPr>
              <a:t>•  Class weights for rare fraud. Metrics: PR-AUC and recall at a fixed false-positive rate. No accuracy.</a:t>
            </a:r>
          </a:p>
          <a:p>
            <a:pPr>
              <a:spcAft>
                <a:spcPts val="1000"/>
              </a:spcAft>
            </a:pPr>
            <a:r>
              <a:rPr sz="2000">
                <a:solidFill>
                  <a:srgbClr val="161616"/>
                </a:solidFill>
                <a:latin typeface="Arial"/>
              </a:rPr>
              <a:t>•  Logistic regression baseline. Thresholds set by cost: a missed fraud costs more than an extra check.</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EDA chart, fraud by type and over time (Balaa, docs/eda/,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Method as planned; results on slide 8. PaySim is synthetic and relatively easy, so real-world performance is unknown.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report ranking quality, catch rate at a fixed false-alarm rate, and latency, all measured, none assumed.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8</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PR-AUC: [[NEEDS: PR-AUC from Joshua]] against baseline [[NEEDS: baseline PR-AUC from Joshua]].</a:t>
            </a:r>
          </a:p>
          <a:p>
            <a:pPr>
              <a:spcAft>
                <a:spcPts val="1000"/>
              </a:spcAft>
            </a:pPr>
            <a:r>
              <a:rPr sz="2000">
                <a:solidFill>
                  <a:srgbClr val="161616"/>
                </a:solidFill>
                <a:latin typeface="Arial"/>
              </a:rPr>
              <a:t>•  Recall at fixed FPR: [[NEEDS: recall at fixed FPR from Joshua]]. Confusion matrix and SHAP summary: [[NEEDS: charts from Joshua]].</a:t>
            </a:r>
          </a:p>
          <a:p>
            <a:pPr>
              <a:spcAft>
                <a:spcPts val="1000"/>
              </a:spcAft>
            </a:pPr>
            <a:r>
              <a:rPr sz="2000">
                <a:solidFill>
                  <a:srgbClr val="161616"/>
                </a:solidFill>
                <a:latin typeface="Arial"/>
              </a:rPr>
              <a:t>•  Latency: p95 [[NEEDS: p95 latency on LinuxONE from Vishaal/Abhinava]].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PR curve, model vs baseline; confusion matrix; SHAP summary; latency table (charts: Joshua; latency table: Abhinava / Vishaal;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Honest note: the backend latency measured so far comes from a placeholder rule scorer on x86, not the real model and not IBM Z. We do not quote it as a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AI explains and a human decides, and every limit is stated.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9</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Synthetic data only. No names or demographics. Every flagged payment shows its reasons.</a:t>
            </a:r>
          </a:p>
          <a:p>
            <a:pPr>
              <a:spcAft>
                <a:spcPts val="1000"/>
              </a:spcAft>
            </a:pPr>
            <a:r>
              <a:rPr sz="2000">
                <a:solidFill>
                  <a:srgbClr val="161616"/>
                </a:solidFill>
                <a:latin typeface="Arial"/>
              </a:rPr>
              <a:t>•  GenAI only rephrases facts we give it. Output is checked, with a template fallback. It cannot change a decision.</a:t>
            </a:r>
          </a:p>
          <a:p>
            <a:pPr>
              <a:spcAft>
                <a:spcPts val="1000"/>
              </a:spcAft>
            </a:pPr>
            <a:r>
              <a:rPr sz="2000">
                <a:solidFill>
                  <a:srgbClr val="161616"/>
                </a:solidFill>
                <a:latin typeface="Arial"/>
              </a:rPr>
              <a:t>•  Fail-safe to STEP_UP. Every decision is logged. Fairness is checked by type and amount band: [[NEEDS: fairness numbers from Joshua]].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responsible-AI checklist graphic and fairness table (Arun graphic; Joshua numbers,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Status: validator, fail-safe and audit log are built. SHAP reasons and the fairness table are pending. See docs/responsible_ai.md.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Stopping a payment before settlement is the point where a scam can still be undone.</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10</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In our demo run, value intercepted: [[NEEDS: value intercepted from demo run]]. It excludes payments an analyst approved.</a:t>
            </a:r>
          </a:p>
          <a:p>
            <a:pPr>
              <a:spcAft>
                <a:spcPts val="1000"/>
              </a:spcAft>
            </a:pPr>
            <a:r>
              <a:rPr sz="2000">
                <a:solidFill>
                  <a:srgbClr val="161616"/>
                </a:solidFill>
                <a:latin typeface="Arial"/>
              </a:rPr>
              <a:t>•  Reporting after the fact still saves some money: more than ₹11,158 crore saved in more than 32.80 lakh complaints (till 30.06.2026). ZShield acts earlier.</a:t>
            </a:r>
          </a:p>
          <a:p>
            <a:pPr>
              <a:spcAft>
                <a:spcPts val="1000"/>
              </a:spcAft>
            </a:pPr>
            <a:r>
              <a:rPr sz="2000">
                <a:solidFill>
                  <a:srgbClr val="161616"/>
                </a:solidFill>
                <a:latin typeface="Arial"/>
              </a:rPr>
              <a:t>•  Next: real model on LinuxONE, SHAP reasons, pilot with real review queues, drift monitoring.</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impact panel, demo-run counts and value intercepted from /stats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Source: PIB, MHA, "National Cyber Crime Data", 21 Jul 2026. "Saved" covers complaints till 30.06.2026; we do not compute a recovery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Appendix: sources and notes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11</a:t>
            </a:r>
          </a:p>
        </p:txBody>
      </p:sp>
      <p:sp>
        <p:nvSpPr>
          <p:cNvPr id="7" name="TextBox 6"/>
          <p:cNvSpPr txBox="1"/>
          <p:nvPr/>
        </p:nvSpPr>
        <p:spPr>
          <a:xfrm>
            <a:off x="548640" y="1691640"/>
            <a:ext cx="11155680" cy="4572000"/>
          </a:xfrm>
          <a:prstGeom prst="rect">
            <a:avLst/>
          </a:prstGeom>
          <a:noFill/>
        </p:spPr>
        <p:txBody>
          <a:bodyPr wrap="square">
            <a:spAutoFit/>
          </a:bodyPr>
          <a:lstStyle/>
          <a:p>
            <a:pPr>
              <a:spcAft>
                <a:spcPts val="600"/>
              </a:spcAft>
            </a:pPr>
            <a:r>
              <a:rPr sz="1300">
                <a:solidFill>
                  <a:srgbClr val="161616"/>
                </a:solidFill>
                <a:latin typeface="Arial"/>
              </a:rPr>
              <a:t>•  Stat 2 (opener): RBI, "Discussion Paper - Exploring safeguards in digital payments to curb frauds", 9 Apr 2026. https://www.rbi.org.in/Scripts/PublicationsView.aspx?id=23810 (accessed 2026-10-17)</a:t>
            </a:r>
          </a:p>
          <a:p>
            <a:pPr>
              <a:spcAft>
                <a:spcPts val="600"/>
              </a:spcAft>
            </a:pPr>
            <a:r>
              <a:rPr sz="1300">
                <a:solidFill>
                  <a:srgbClr val="161616"/>
                </a:solidFill>
                <a:latin typeface="Arial"/>
              </a:rPr>
              <a:t>•  Stat 4 (slide 10): PIB / MHA, "National Cyber Crime Data", 21 Jul 2026. https://www.pib.gov.in/PressReleasePage.aspx?PRID=2287039&amp;reg=48&amp;lang=2 (accessed 2026-10-17)</a:t>
            </a:r>
          </a:p>
          <a:p>
            <a:pPr>
              <a:spcAft>
                <a:spcPts val="600"/>
              </a:spcAft>
            </a:pPr>
            <a:r>
              <a:rPr sz="1300">
                <a:solidFill>
                  <a:srgbClr val="161616"/>
                </a:solidFill>
                <a:latin typeface="Arial"/>
              </a:rPr>
              <a:t>•  Stat 5 (slide 6): PIB, "UPI Completes 10 Years of Digital Payments Revolution", 24 Aug 2026, key statistics attributed to NPCI. https://www.pib.gov.in/PressReleasePage.aspx?PRID=2302657&amp;reg=48&amp;lang=2 (accessed 2026-10-17)</a:t>
            </a:r>
          </a:p>
          <a:p>
            <a:pPr>
              <a:spcAft>
                <a:spcPts val="600"/>
              </a:spcAft>
            </a:pPr>
            <a:r>
              <a:rPr sz="1300">
                <a:solidFill>
                  <a:srgbClr val="161616"/>
                </a:solidFill>
                <a:latin typeface="Arial"/>
              </a:rPr>
              <a:t>•  Persona 3 reference: PIB (MHA), alert on "Digital Arrest" scams, 14 May 2024. https://www.pib.gov.in/PressReleasePage.aspx?PRID=2020570 (accessed 2026-10-17)</a:t>
            </a:r>
          </a:p>
          <a:p>
            <a:pPr>
              <a:spcAft>
                <a:spcPts val="600"/>
              </a:spcAft>
            </a:pPr>
            <a:r>
              <a:rPr sz="1300">
                <a:solidFill>
                  <a:srgbClr val="161616"/>
                </a:solidFill>
                <a:latin typeface="Arial"/>
              </a:rPr>
              <a:t>•  Not used on slides: Stat 1 (RBI Annual Report 2024-25) and Stat 3 (MHA, Lok Sabha, 2 Dec 2025). Their 2024 numbers differ from other cuts and must not be mixed with the opener.</a:t>
            </a:r>
          </a:p>
          <a:p>
            <a:pPr>
              <a:spcAft>
                <a:spcPts val="600"/>
              </a:spcAft>
            </a:pPr>
            <a:r>
              <a:rPr sz="1300">
                <a:solidFill>
                  <a:srgbClr val="161616"/>
                </a:solidFill>
                <a:latin typeface="Arial"/>
              </a:rPr>
              <a:t>•  Units: lakh = 100,000; crore = 10 million. Figures are "reported", not confirmed losses.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ZShield deck draft</dc:title>
  <dc:subject/>
  <dc:creator>ZShield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