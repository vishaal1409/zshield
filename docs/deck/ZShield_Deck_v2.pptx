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Arial"/>
              </a:defRPr>
            </a:pPr>
            <a:r>
              <a:rPr sz="1400" b="0" i="0" u="none" strike="noStrike">
                <a:solidFill>
                  <a:srgbClr val="0B1F3A"/>
                </a:solidFill>
                <a:latin typeface="Arial"/>
              </a:rPr>
              <a:t>PR-AUC on the test period (higher is better)</a:t>
            </a:r>
          </a:p>
        </c:rich>
      </c:tx>
      <c:layout/>
      <c:overlay val="0"/>
    </c:title>
    <c:autoTitleDeleted val="0"/>
    <c:plotArea>
      <c:layout/>
      <c:barChart>
        <c:barDir val="col"/>
        <c:grouping val="clustered"/>
        <c:varyColors val="0"/>
        <c:ser>
          <c:idx val="0"/>
          <c:order val="0"/>
          <c:tx>
            <c:strRef>
              <c:f>Sheet1!$B$1</c:f>
              <c:strCache>
                <c:ptCount val="1"/>
                <c:pt idx="0">
                  <c:v>PR-AUC</c:v>
                </c:pt>
              </c:strCache>
            </c:strRef>
          </c:tx>
          <c:spPr>
            <a:solidFill>
              <a:srgbClr val="5F6B7A"/>
            </a:solidFill>
            <a:effectLst/>
          </c:spPr>
          <c:invertIfNegative val="0"/>
          <c:dLbls>
            <c:numFmt formatCode="0.000" sourceLinked="0"/>
            <c:txPr>
              <a:bodyPr/>
              <a:lstStyle/>
              <a:p>
                <a:pPr>
                  <a:defRPr b="0" i="0" strike="noStrike" sz="1300" u="none">
                    <a:solidFill>
                      <a:srgbClr val="1B2430"/>
                    </a:solidFill>
                    <a:latin typeface="Arial"/>
                  </a:defRPr>
                </a:pPr>
              </a:p>
            </c:txPr>
            <c:showLegendKey val="0"/>
            <c:showVal val="1"/>
            <c:showCatName val="0"/>
            <c:showSerName val="0"/>
            <c:showPercent val="0"/>
            <c:showBubbleSize val="0"/>
            <c:showLeaderLines val="0"/>
          </c:dLbls>
          <c:dPt>
            <c:idx val="0"/>
            <c:invertIfNegative val="0"/>
            <c:bubble3D val="0"/>
            <c:spPr>
              <a:solidFill>
                <a:srgbClr val="5F6B7A"/>
              </a:solidFill>
              <a:effectLst/>
            </c:spPr>
          </c:dPt>
          <c:dPt>
            <c:idx val="1"/>
            <c:invertIfNegative val="0"/>
            <c:bubble3D val="0"/>
            <c:spPr>
              <a:solidFill>
                <a:srgbClr val="0F62FE"/>
              </a:solidFill>
              <a:effectLst/>
            </c:spPr>
          </c:dPt>
          <c:cat>
            <c:multiLvlStrRef>
              <c:f>Sheet1!$A$2:$A$3</c:f>
              <c:multiLvlStrCache>
                <c:ptCount val="2"/>
                <c:lvl>
                  <c:pt idx="0">
                    <c:v>Logistic regression baseline</c:v>
                  </c:pt>
                  <c:pt idx="1">
                    <c:v>ZShield model</c:v>
                  </c:pt>
                </c:lvl>
              </c:multiLvlStrCache>
            </c:multiLvlStrRef>
          </c:cat>
          <c:val>
            <c:numRef>
              <c:f>Sheet1!$B$2:$B$3</c:f>
              <c:numCache>
                <c:formatCode>General</c:formatCode>
                <c:ptCount val="2"/>
                <c:pt idx="0">
                  <c:v>0.752</c:v>
                </c:pt>
                <c:pt idx="1">
                  <c:v>0.99999</c:v>
                </c:pt>
              </c:numCache>
            </c:numRef>
          </c:val>
        </c:ser>
        <c:dLbls>
          <c:numFmt formatCode="0.000" sourceLinked="0"/>
          <c:txPr>
            <a:bodyPr/>
            <a:lstStyle/>
            <a:p>
              <a:pPr>
                <a:defRPr b="0" i="0" strike="noStrike" sz="13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stat and say 'reported', not 'lost'. Then read the problem line slowly. It is the question the rest of the deck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insight has three parts: timing, reasons, human control. Say the personas are illustrative composites. Keep The Caller at the level of public scam patterns, no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lanes in one breath. Stress that STEP_UP is the middle path that protects honest customers. The alert text never makes or changes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replay live with the producer. Block the held payment from the API docs page, then show BLOCK in the dashboard table. If anything fails, show the audit log in /alerts. Full wording is in demo_script.md.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path left to right. Point out that the alert step sits after the decision and cannot change it. Mention the fail-safe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'past events only': the current payment is added to history after its features are computed, so nothing leaks from the future. Say the split is by time, never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offline model numbers from Joshua's artifacts/metrics.json on the test period. PaySim is synthetic and easy, so say these will be lower on real traffic. The model misses the Mule Burst pattern, so a rule covers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machine and the scorer every time you quote a number. These are pipeline numbers on a laptop, not fraud-detection accuracy and not IBM Z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'designed for'. Do not say it runs on IBM Z or uses any IBM Z accelerator. We registered, tried to deploy, the server stayed in spawning and the portal showed errors; we emailed IBM support. We made no performance claim for IBM Z and did not substitute an emulator.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each point is and where a judge can see it in the repo (docs/responsible_ai.md). Name the limits plainly. Honesty here is a strength. Say fairness was checked by proxy on the demo file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only the replay numbers and the sourced figure. Close on the problem line: score, stop, explain, keep a human in control. Replay amounts are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All figures are from docs/problem/stats.md, quoted with their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F62FE"/>
          </a:solidFill>
          <a:ln/>
        </p:spPr>
      </p:sp>
      <p:sp>
        <p:nvSpPr>
          <p:cNvPr id="3" name="Shape 1"/>
          <p:cNvSpPr/>
          <p:nvPr/>
        </p:nvSpPr>
        <p:spPr>
          <a:xfrm>
            <a:off x="548640" y="1261872"/>
            <a:ext cx="11091672" cy="0"/>
          </a:xfrm>
          <a:prstGeom prst="line">
            <a:avLst/>
          </a:prstGeom>
          <a:noFill/>
          <a:ln w="12700">
            <a:solidFill>
              <a:srgbClr val="C9D1DC"/>
            </a:solidFill>
            <a:prstDash val="solid"/>
          </a:ln>
        </p:spPr>
      </p:sp>
      <p:sp>
        <p:nvSpPr>
          <p:cNvPr id="4" name="Text 2"/>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5F6B7A"/>
                </a:solidFill>
              </a:rPr>
              <a:t>ZShield | IBM Z Datathon 2026</a:t>
            </a:r>
            <a:endParaRPr lang="en-US" sz="1000" dirty="0"/>
          </a:p>
        </p:txBody>
      </p:sp>
      <p:sp>
        <p:nvSpPr>
          <p:cNvPr id="5" name="Text 3"/>
          <p:cNvSpPr/>
          <p:nvPr>
            <p:ph idx="103" type="title" hasCustomPrompt="1"/>
          </p:nvPr>
        </p:nvSpPr>
        <p:spPr>
          <a:xfrm>
            <a:off x="548640" y="274320"/>
            <a:ext cx="11091672" cy="914400"/>
          </a:xfrm>
          <a:prstGeom prst="rect">
            <a:avLst/>
          </a:prstGeom>
          <a:noFill/>
          <a:ln/>
        </p:spPr>
        <p:txBody>
          <a:bodyPr wrap="square" rtlCol="0"/>
          <a:lstStyle>
            <a:lvl1pPr algn="l" indent="0" marL="0">
              <a:buNone/>
              <a:defRPr lang="en-US" sz="2400" b="1" dirty="0">
                <a:solidFill>
                  <a:srgbClr val="0B1F3A"/>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Instant payments leave almost no time to stop a scam.</a:t>
            </a:r>
            <a:endParaRPr lang="en-US" sz="2400" dirty="0"/>
          </a:p>
        </p:txBody>
      </p:sp>
      <p:sp>
        <p:nvSpPr>
          <p:cNvPr id="4" name="stat-2021"/>
          <p:cNvSpPr/>
          <p:nvPr/>
        </p:nvSpPr>
        <p:spPr>
          <a:xfrm>
            <a:off x="548640" y="1508760"/>
            <a:ext cx="3200400" cy="2103120"/>
          </a:xfrm>
          <a:prstGeom prst="roundRect">
            <a:avLst>
              <a:gd name="adj" fmla="val 3478"/>
            </a:avLst>
          </a:prstGeom>
          <a:solidFill>
            <a:srgbClr val="F2F4F8"/>
          </a:solidFill>
          <a:ln w="9525">
            <a:solidFill>
              <a:srgbClr val="C9D1DC"/>
            </a:solidFill>
            <a:prstDash val="solid"/>
          </a:ln>
        </p:spPr>
      </p:sp>
      <p:sp>
        <p:nvSpPr>
          <p:cNvPr id="5" name="Text 2"/>
          <p:cNvSpPr txBox="1"/>
          <p:nvPr/>
        </p:nvSpPr>
        <p:spPr>
          <a:xfrm>
            <a:off x="731520" y="1691640"/>
            <a:ext cx="2834640" cy="822960"/>
          </a:xfrm>
          <a:prstGeom prst="rect">
            <a:avLst/>
          </a:prstGeom>
          <a:noFill/>
          <a:ln/>
        </p:spPr>
        <p:txBody>
          <a:bodyPr wrap="square" lIns="0" tIns="0" rIns="0" bIns="0" rtlCol="0" anchor="t"/>
          <a:lstStyle/>
          <a:p>
            <a:pPr indent="0" marL="0">
              <a:buNone/>
            </a:pPr>
            <a:r>
              <a:rPr lang="en-US" sz="4000" b="1" dirty="0">
                <a:solidFill>
                  <a:srgbClr val="0B1F3A"/>
                </a:solidFill>
              </a:rPr>
              <a:t>2.6 lakh</a:t>
            </a:r>
            <a:endParaRPr lang="en-US" sz="4000" dirty="0"/>
          </a:p>
        </p:txBody>
      </p:sp>
      <p:sp>
        <p:nvSpPr>
          <p:cNvPr id="6" name="Text 3"/>
          <p:cNvSpPr txBox="1"/>
          <p:nvPr/>
        </p:nvSpPr>
        <p:spPr>
          <a:xfrm>
            <a:off x="731520" y="2606040"/>
            <a:ext cx="2834640" cy="914400"/>
          </a:xfrm>
          <a:prstGeom prst="rect">
            <a:avLst/>
          </a:prstGeom>
          <a:noFill/>
          <a:ln/>
        </p:spPr>
        <p:txBody>
          <a:bodyPr wrap="square" lIns="0" tIns="0" rIns="0" bIns="0" rtlCol="0" anchor="t"/>
          <a:lstStyle/>
          <a:p>
            <a:pPr indent="0" marL="0">
              <a:buNone/>
            </a:pPr>
            <a:r>
              <a:rPr lang="en-US" sz="1400" dirty="0">
                <a:solidFill>
                  <a:srgbClr val="5F6B7A"/>
                </a:solidFill>
              </a:rPr>
              <a:t>digital payment frauds reported on the National Cyber Crime Reporting Portal in 2021</a:t>
            </a:r>
            <a:endParaRPr lang="en-US" sz="1400" dirty="0"/>
          </a:p>
        </p:txBody>
      </p:sp>
      <p:sp>
        <p:nvSpPr>
          <p:cNvPr id="7" name="Shape 4"/>
          <p:cNvSpPr/>
          <p:nvPr/>
        </p:nvSpPr>
        <p:spPr>
          <a:xfrm>
            <a:off x="3840480" y="2560320"/>
            <a:ext cx="594360" cy="0"/>
          </a:xfrm>
          <a:prstGeom prst="line">
            <a:avLst/>
          </a:prstGeom>
          <a:noFill/>
          <a:ln w="25400">
            <a:solidFill>
              <a:srgbClr val="0F62FE"/>
            </a:solidFill>
            <a:prstDash val="solid"/>
            <a:tailEnd type="triangle"/>
          </a:ln>
        </p:spPr>
      </p:sp>
      <p:sp>
        <p:nvSpPr>
          <p:cNvPr id="8" name="stat-2025"/>
          <p:cNvSpPr/>
          <p:nvPr/>
        </p:nvSpPr>
        <p:spPr>
          <a:xfrm>
            <a:off x="4526280" y="1508760"/>
            <a:ext cx="3383280" cy="2103120"/>
          </a:xfrm>
          <a:prstGeom prst="roundRect">
            <a:avLst>
              <a:gd name="adj" fmla="val 3478"/>
            </a:avLst>
          </a:prstGeom>
          <a:solidFill>
            <a:srgbClr val="0F62FE"/>
          </a:solidFill>
          <a:ln w="9525">
            <a:solidFill>
              <a:srgbClr val="0F62FE"/>
            </a:solidFill>
            <a:prstDash val="solid"/>
          </a:ln>
        </p:spPr>
      </p:sp>
      <p:sp>
        <p:nvSpPr>
          <p:cNvPr id="9" name="Text 6"/>
          <p:cNvSpPr txBox="1"/>
          <p:nvPr/>
        </p:nvSpPr>
        <p:spPr>
          <a:xfrm>
            <a:off x="4709160" y="1691640"/>
            <a:ext cx="3017520" cy="822960"/>
          </a:xfrm>
          <a:prstGeom prst="rect">
            <a:avLst/>
          </a:prstGeom>
          <a:noFill/>
          <a:ln/>
        </p:spPr>
        <p:txBody>
          <a:bodyPr wrap="square" lIns="0" tIns="0" rIns="0" bIns="0" rtlCol="0" anchor="t"/>
          <a:lstStyle/>
          <a:p>
            <a:pPr indent="0" marL="0">
              <a:buNone/>
            </a:pPr>
            <a:r>
              <a:rPr lang="en-US" sz="4000" b="1" dirty="0">
                <a:solidFill>
                  <a:srgbClr val="FFFFFF"/>
                </a:solidFill>
              </a:rPr>
              <a:t>28 lakh</a:t>
            </a:r>
            <a:endParaRPr lang="en-US" sz="4000" dirty="0"/>
          </a:p>
        </p:txBody>
      </p:sp>
      <p:sp>
        <p:nvSpPr>
          <p:cNvPr id="10" name="Text 7"/>
          <p:cNvSpPr txBox="1"/>
          <p:nvPr/>
        </p:nvSpPr>
        <p:spPr>
          <a:xfrm>
            <a:off x="4709160" y="2606040"/>
            <a:ext cx="3017520" cy="914400"/>
          </a:xfrm>
          <a:prstGeom prst="rect">
            <a:avLst/>
          </a:prstGeom>
          <a:noFill/>
          <a:ln/>
        </p:spPr>
        <p:txBody>
          <a:bodyPr wrap="square" lIns="0" tIns="0" rIns="0" bIns="0" rtlCol="0" anchor="t"/>
          <a:lstStyle/>
          <a:p>
            <a:pPr indent="0" marL="0">
              <a:buNone/>
            </a:pPr>
            <a:r>
              <a:rPr lang="en-US" sz="1400" dirty="0">
                <a:solidFill>
                  <a:srgbClr val="FFFFFF"/>
                </a:solidFill>
              </a:rPr>
              <a:t>reported in 2025, worth ₹22,931 crore</a:t>
            </a:r>
            <a:endParaRPr lang="en-US" sz="1400" dirty="0"/>
          </a:p>
        </p:txBody>
      </p:sp>
      <p:sp>
        <p:nvSpPr>
          <p:cNvPr id="11" name="rbi-quote"/>
          <p:cNvSpPr/>
          <p:nvPr/>
        </p:nvSpPr>
        <p:spPr>
          <a:xfrm>
            <a:off x="8183880" y="1508760"/>
            <a:ext cx="3456432" cy="2103120"/>
          </a:xfrm>
          <a:prstGeom prst="roundRect">
            <a:avLst>
              <a:gd name="adj" fmla="val 3478"/>
            </a:avLst>
          </a:prstGeom>
          <a:solidFill>
            <a:srgbClr val="FFFFFF"/>
          </a:solidFill>
          <a:ln w="9525">
            <a:solidFill>
              <a:srgbClr val="C9D1DC"/>
            </a:solidFill>
            <a:prstDash val="solid"/>
          </a:ln>
        </p:spPr>
      </p:sp>
      <p:sp>
        <p:nvSpPr>
          <p:cNvPr id="12" name="Text 9"/>
          <p:cNvSpPr txBox="1"/>
          <p:nvPr/>
        </p:nvSpPr>
        <p:spPr>
          <a:xfrm>
            <a:off x="8366760" y="1691640"/>
            <a:ext cx="3108960" cy="1097280"/>
          </a:xfrm>
          <a:prstGeom prst="rect">
            <a:avLst/>
          </a:prstGeom>
          <a:noFill/>
          <a:ln/>
        </p:spPr>
        <p:txBody>
          <a:bodyPr wrap="square" lIns="0" tIns="0" rIns="0" bIns="0" rtlCol="0" anchor="t"/>
          <a:lstStyle/>
          <a:p>
            <a:pPr indent="0" marL="0">
              <a:buNone/>
            </a:pPr>
            <a:r>
              <a:rPr lang="en-US" sz="1500" i="1" dirty="0">
                <a:solidFill>
                  <a:srgbClr val="0B1F3A"/>
                </a:solidFill>
              </a:rPr>
              <a:t>The RBI says the “scope for timely intervention and recovery of funds becomes limited”.</a:t>
            </a:r>
            <a:endParaRPr lang="en-US" sz="1500" dirty="0"/>
          </a:p>
        </p:txBody>
      </p:sp>
      <p:sp>
        <p:nvSpPr>
          <p:cNvPr id="13" name="Text 10"/>
          <p:cNvSpPr txBox="1"/>
          <p:nvPr/>
        </p:nvSpPr>
        <p:spPr>
          <a:xfrm>
            <a:off x="8366760" y="2834640"/>
            <a:ext cx="3108960" cy="640080"/>
          </a:xfrm>
          <a:prstGeom prst="rect">
            <a:avLst/>
          </a:prstGeom>
          <a:noFill/>
          <a:ln/>
        </p:spPr>
        <p:txBody>
          <a:bodyPr wrap="square" lIns="0" tIns="0" rIns="0" bIns="0" rtlCol="0" anchor="t"/>
          <a:lstStyle/>
          <a:p>
            <a:pPr indent="0" marL="0">
              <a:buNone/>
            </a:pPr>
            <a:r>
              <a:rPr lang="en-US" sz="1400" b="1" dirty="0">
                <a:solidFill>
                  <a:srgbClr val="DA1E28"/>
                </a:solidFill>
              </a:rPr>
              <a:t>Checks that run after settlement come too late.</a:t>
            </a:r>
            <a:endParaRPr lang="en-US" sz="1400" dirty="0"/>
          </a:p>
        </p:txBody>
      </p:sp>
      <p:sp>
        <p:nvSpPr>
          <p:cNvPr id="14" name="problem-band"/>
          <p:cNvSpPr/>
          <p:nvPr/>
        </p:nvSpPr>
        <p:spPr>
          <a:xfrm>
            <a:off x="548640" y="3931920"/>
            <a:ext cx="11091672" cy="1600200"/>
          </a:xfrm>
          <a:prstGeom prst="rect">
            <a:avLst/>
          </a:prstGeom>
          <a:solidFill>
            <a:srgbClr val="0B1F3A"/>
          </a:solidFill>
          <a:ln w="6350">
            <a:solidFill>
              <a:srgbClr val="0B1F3A"/>
            </a:solidFill>
            <a:prstDash val="solid"/>
          </a:ln>
        </p:spPr>
      </p:sp>
      <p:sp>
        <p:nvSpPr>
          <p:cNvPr id="15" name="Text 12"/>
          <p:cNvSpPr txBox="1"/>
          <p:nvPr/>
        </p:nvSpPr>
        <p:spPr>
          <a:xfrm>
            <a:off x="822960" y="4069080"/>
            <a:ext cx="3657600" cy="274320"/>
          </a:xfrm>
          <a:prstGeom prst="rect">
            <a:avLst/>
          </a:prstGeom>
          <a:noFill/>
          <a:ln/>
        </p:spPr>
        <p:txBody>
          <a:bodyPr wrap="square" lIns="0" tIns="0" rIns="0" bIns="0" rtlCol="0" anchor="t"/>
          <a:lstStyle/>
          <a:p>
            <a:pPr indent="0" marL="0">
              <a:buNone/>
            </a:pPr>
            <a:r>
              <a:rPr lang="en-US" sz="1200" b="1" spc="200" kern="0" dirty="0">
                <a:solidFill>
                  <a:srgbClr val="8FB8FF"/>
                </a:solidFill>
              </a:rPr>
              <a:t>OUR QUESTION</a:t>
            </a:r>
            <a:endParaRPr lang="en-US" sz="1200" dirty="0"/>
          </a:p>
        </p:txBody>
      </p:sp>
      <p:sp>
        <p:nvSpPr>
          <p:cNvPr id="16" name="Text 13"/>
          <p:cNvSpPr txBox="1"/>
          <p:nvPr/>
        </p:nvSpPr>
        <p:spPr>
          <a:xfrm>
            <a:off x="822960" y="4389120"/>
            <a:ext cx="10515600" cy="1005840"/>
          </a:xfrm>
          <a:prstGeom prst="rect">
            <a:avLst/>
          </a:prstGeom>
          <a:noFill/>
          <a:ln/>
        </p:spPr>
        <p:txBody>
          <a:bodyPr wrap="square" lIns="0" tIns="0" rIns="0" bIns="0" rtlCol="0" anchor="t"/>
          <a:lstStyle/>
          <a:p>
            <a:pPr indent="0" marL="0">
              <a:buNone/>
            </a:pPr>
            <a:r>
              <a:rPr lang="en-US" sz="2000" b="1" dirty="0">
                <a:solidFill>
                  <a:srgbClr val="FFFFFF"/>
                </a:solidFill>
              </a:rPr>
              <a:t>How can we score every payment as it happens, stop the dangerous ones before settlement, explain the decision in plain language, and keep a human in control, without blocking honest customers?</a:t>
            </a:r>
            <a:endParaRPr lang="en-US" sz="2000" dirty="0"/>
          </a:p>
        </p:txBody>
      </p:sp>
      <p:sp>
        <p:nvSpPr>
          <p:cNvPr id="17" name="Text 14"/>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50" i="1" dirty="0">
                <a:solidFill>
                  <a:srgbClr val="5F6B7A"/>
                </a:solidFill>
              </a:rPr>
              <a:t>Source: Reserve Bank of India, “Discussion Paper - Exploring safeguards in digital payments to curb frauds”, 9 Apr 2026. Figures are frauds reported on NCRP, not confirmed losses.</a:t>
            </a:r>
            <a:endParaRPr lang="en-US" sz="105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The decision must happen before settlement, and a score alone is not enough.</a:t>
            </a:r>
            <a:endParaRPr lang="en-US" sz="2400" dirty="0"/>
          </a:p>
        </p:txBody>
      </p:sp>
      <p:sp>
        <p:nvSpPr>
          <p:cNvPr id="4" name="persona-Meera"/>
          <p:cNvSpPr/>
          <p:nvPr/>
        </p:nvSpPr>
        <p:spPr>
          <a:xfrm>
            <a:off x="548640" y="1508760"/>
            <a:ext cx="3593592" cy="3337560"/>
          </a:xfrm>
          <a:prstGeom prst="roundRect">
            <a:avLst>
              <a:gd name="adj" fmla="val 2192"/>
            </a:avLst>
          </a:prstGeom>
          <a:solidFill>
            <a:srgbClr val="FFFFFF"/>
          </a:solidFill>
          <a:ln w="9525">
            <a:solidFill>
              <a:srgbClr val="C9D1DC"/>
            </a:solidFill>
            <a:prstDash val="solid"/>
          </a:ln>
        </p:spPr>
      </p:sp>
      <p:sp>
        <p:nvSpPr>
          <p:cNvPr id="5" name="Shape 2"/>
          <p:cNvSpPr/>
          <p:nvPr/>
        </p:nvSpPr>
        <p:spPr>
          <a:xfrm>
            <a:off x="548640" y="1508760"/>
            <a:ext cx="3593592" cy="82296"/>
          </a:xfrm>
          <a:prstGeom prst="rect">
            <a:avLst/>
          </a:prstGeom>
          <a:solidFill>
            <a:srgbClr val="0F62FE"/>
          </a:solidFill>
          <a:ln w="6350">
            <a:solidFill>
              <a:srgbClr val="0F62FE"/>
            </a:solidFill>
            <a:prstDash val="solid"/>
          </a:ln>
        </p:spPr>
      </p:sp>
      <p:sp>
        <p:nvSpPr>
          <p:cNvPr id="6" name="Text 3"/>
          <p:cNvSpPr txBox="1"/>
          <p:nvPr/>
        </p:nvSpPr>
        <p:spPr>
          <a:xfrm>
            <a:off x="777240" y="1737360"/>
            <a:ext cx="3108960" cy="411480"/>
          </a:xfrm>
          <a:prstGeom prst="rect">
            <a:avLst/>
          </a:prstGeom>
          <a:noFill/>
          <a:ln/>
        </p:spPr>
        <p:txBody>
          <a:bodyPr wrap="square" lIns="0" tIns="0" rIns="0" bIns="0" rtlCol="0" anchor="t"/>
          <a:lstStyle/>
          <a:p>
            <a:pPr indent="0" marL="0">
              <a:buNone/>
            </a:pPr>
            <a:r>
              <a:rPr lang="en-US" sz="2200" b="1" dirty="0">
                <a:solidFill>
                  <a:srgbClr val="0B1F3A"/>
                </a:solidFill>
              </a:rPr>
              <a:t>Meera</a:t>
            </a:r>
            <a:endParaRPr lang="en-US" sz="2200" dirty="0"/>
          </a:p>
        </p:txBody>
      </p:sp>
      <p:sp>
        <p:nvSpPr>
          <p:cNvPr id="7" name="Text 4"/>
          <p:cNvSpPr txBox="1"/>
          <p:nvPr/>
        </p:nvSpPr>
        <p:spPr>
          <a:xfrm>
            <a:off x="777240" y="2176272"/>
            <a:ext cx="3108960" cy="274320"/>
          </a:xfrm>
          <a:prstGeom prst="rect">
            <a:avLst/>
          </a:prstGeom>
          <a:noFill/>
          <a:ln/>
        </p:spPr>
        <p:txBody>
          <a:bodyPr wrap="square" lIns="0" tIns="0" rIns="0" bIns="0" rtlCol="0" anchor="t"/>
          <a:lstStyle/>
          <a:p>
            <a:pPr indent="0" marL="0">
              <a:buNone/>
            </a:pPr>
            <a:r>
              <a:rPr lang="en-US" sz="1200" dirty="0">
                <a:solidFill>
                  <a:srgbClr val="5F6B7A"/>
                </a:solidFill>
              </a:rPr>
              <a:t>Fraud analyst  ·  illustrative</a:t>
            </a:r>
            <a:endParaRPr lang="en-US" sz="1200" dirty="0"/>
          </a:p>
        </p:txBody>
      </p:sp>
      <p:sp>
        <p:nvSpPr>
          <p:cNvPr id="8" name="Text 5"/>
          <p:cNvSpPr txBox="1"/>
          <p:nvPr/>
        </p:nvSpPr>
        <p:spPr>
          <a:xfrm>
            <a:off x="777240" y="2606040"/>
            <a:ext cx="3108960" cy="228600"/>
          </a:xfrm>
          <a:prstGeom prst="rect">
            <a:avLst/>
          </a:prstGeom>
          <a:noFill/>
          <a:ln/>
        </p:spPr>
        <p:txBody>
          <a:bodyPr wrap="square" lIns="0" tIns="0" rIns="0" bIns="0" rtlCol="0" anchor="t"/>
          <a:lstStyle/>
          <a:p>
            <a:pPr indent="0" marL="0">
              <a:buNone/>
            </a:pPr>
            <a:r>
              <a:rPr lang="en-US" sz="1100" b="1" spc="100" kern="0" dirty="0">
                <a:solidFill>
                  <a:srgbClr val="0F62FE"/>
                </a:solidFill>
              </a:rPr>
              <a:t>THE PAIN</a:t>
            </a:r>
            <a:endParaRPr lang="en-US" sz="1100" dirty="0"/>
          </a:p>
        </p:txBody>
      </p:sp>
      <p:sp>
        <p:nvSpPr>
          <p:cNvPr id="9" name="Text 6"/>
          <p:cNvSpPr txBox="1"/>
          <p:nvPr/>
        </p:nvSpPr>
        <p:spPr>
          <a:xfrm>
            <a:off x="777240" y="2852928"/>
            <a:ext cx="3154680" cy="822960"/>
          </a:xfrm>
          <a:prstGeom prst="rect">
            <a:avLst/>
          </a:prstGeom>
          <a:noFill/>
          <a:ln/>
        </p:spPr>
        <p:txBody>
          <a:bodyPr wrap="square" lIns="0" tIns="0" rIns="0" bIns="0" rtlCol="0" anchor="t"/>
          <a:lstStyle/>
          <a:p>
            <a:pPr indent="0" marL="0">
              <a:buNone/>
            </a:pPr>
            <a:r>
              <a:rPr lang="en-US" sz="1400" dirty="0">
                <a:solidFill>
                  <a:srgbClr val="1B2430"/>
                </a:solidFill>
              </a:rPr>
              <a:t>Needs to know why a payment is different, not just a number.</a:t>
            </a:r>
            <a:endParaRPr lang="en-US" sz="1400" dirty="0"/>
          </a:p>
        </p:txBody>
      </p:sp>
      <p:sp>
        <p:nvSpPr>
          <p:cNvPr id="10" name="Text 7"/>
          <p:cNvSpPr txBox="1"/>
          <p:nvPr/>
        </p:nvSpPr>
        <p:spPr>
          <a:xfrm>
            <a:off x="777240" y="3703320"/>
            <a:ext cx="3108960" cy="228600"/>
          </a:xfrm>
          <a:prstGeom prst="rect">
            <a:avLst/>
          </a:prstGeom>
          <a:noFill/>
          <a:ln/>
        </p:spPr>
        <p:txBody>
          <a:bodyPr wrap="square" lIns="0" tIns="0" rIns="0" bIns="0" rtlCol="0" anchor="t"/>
          <a:lstStyle/>
          <a:p>
            <a:pPr indent="0" marL="0">
              <a:buNone/>
            </a:pPr>
            <a:r>
              <a:rPr lang="en-US" sz="1100" b="1" spc="100" kern="0" dirty="0">
                <a:solidFill>
                  <a:srgbClr val="0F62FE"/>
                </a:solidFill>
              </a:rPr>
              <a:t>WHAT CHANGES</a:t>
            </a:r>
            <a:endParaRPr lang="en-US" sz="1100" dirty="0"/>
          </a:p>
        </p:txBody>
      </p:sp>
      <p:sp>
        <p:nvSpPr>
          <p:cNvPr id="11" name="Text 8"/>
          <p:cNvSpPr txBox="1"/>
          <p:nvPr/>
        </p:nvSpPr>
        <p:spPr>
          <a:xfrm>
            <a:off x="777240" y="3950208"/>
            <a:ext cx="3154680" cy="822960"/>
          </a:xfrm>
          <a:prstGeom prst="rect">
            <a:avLst/>
          </a:prstGeom>
          <a:noFill/>
          <a:ln/>
        </p:spPr>
        <p:txBody>
          <a:bodyPr wrap="square" lIns="0" tIns="0" rIns="0" bIns="0" rtlCol="0" anchor="t"/>
          <a:lstStyle/>
          <a:p>
            <a:pPr indent="0" marL="0">
              <a:buNone/>
            </a:pPr>
            <a:r>
              <a:rPr lang="en-US" sz="1400" dirty="0">
                <a:solidFill>
                  <a:srgbClr val="1B2430"/>
                </a:solidFill>
              </a:rPr>
              <a:t>Every flag arrives with plain reasons and a case summary.</a:t>
            </a:r>
            <a:endParaRPr lang="en-US" sz="1400" dirty="0"/>
          </a:p>
        </p:txBody>
      </p:sp>
      <p:sp>
        <p:nvSpPr>
          <p:cNvPr id="12" name="persona-Kamla"/>
          <p:cNvSpPr/>
          <p:nvPr/>
        </p:nvSpPr>
        <p:spPr>
          <a:xfrm>
            <a:off x="4297680" y="1508760"/>
            <a:ext cx="3593592" cy="3337560"/>
          </a:xfrm>
          <a:prstGeom prst="roundRect">
            <a:avLst>
              <a:gd name="adj" fmla="val 2192"/>
            </a:avLst>
          </a:prstGeom>
          <a:solidFill>
            <a:srgbClr val="FFFFFF"/>
          </a:solidFill>
          <a:ln w="9525">
            <a:solidFill>
              <a:srgbClr val="C9D1DC"/>
            </a:solidFill>
            <a:prstDash val="solid"/>
          </a:ln>
        </p:spPr>
      </p:sp>
      <p:sp>
        <p:nvSpPr>
          <p:cNvPr id="13" name="Shape 10"/>
          <p:cNvSpPr/>
          <p:nvPr/>
        </p:nvSpPr>
        <p:spPr>
          <a:xfrm>
            <a:off x="4297680" y="1508760"/>
            <a:ext cx="3593592" cy="82296"/>
          </a:xfrm>
          <a:prstGeom prst="rect">
            <a:avLst/>
          </a:prstGeom>
          <a:solidFill>
            <a:srgbClr val="007D79"/>
          </a:solidFill>
          <a:ln w="6350">
            <a:solidFill>
              <a:srgbClr val="007D79"/>
            </a:solidFill>
            <a:prstDash val="solid"/>
          </a:ln>
        </p:spPr>
      </p:sp>
      <p:sp>
        <p:nvSpPr>
          <p:cNvPr id="14" name="Text 11"/>
          <p:cNvSpPr txBox="1"/>
          <p:nvPr/>
        </p:nvSpPr>
        <p:spPr>
          <a:xfrm>
            <a:off x="4526280" y="1737360"/>
            <a:ext cx="3108960" cy="411480"/>
          </a:xfrm>
          <a:prstGeom prst="rect">
            <a:avLst/>
          </a:prstGeom>
          <a:noFill/>
          <a:ln/>
        </p:spPr>
        <p:txBody>
          <a:bodyPr wrap="square" lIns="0" tIns="0" rIns="0" bIns="0" rtlCol="0" anchor="t"/>
          <a:lstStyle/>
          <a:p>
            <a:pPr indent="0" marL="0">
              <a:buNone/>
            </a:pPr>
            <a:r>
              <a:rPr lang="en-US" sz="2200" b="1" dirty="0">
                <a:solidFill>
                  <a:srgbClr val="0B1F3A"/>
                </a:solidFill>
              </a:rPr>
              <a:t>Kamla</a:t>
            </a:r>
            <a:endParaRPr lang="en-US" sz="2200" dirty="0"/>
          </a:p>
        </p:txBody>
      </p:sp>
      <p:sp>
        <p:nvSpPr>
          <p:cNvPr id="15" name="Text 12"/>
          <p:cNvSpPr txBox="1"/>
          <p:nvPr/>
        </p:nvSpPr>
        <p:spPr>
          <a:xfrm>
            <a:off x="4526280" y="2176272"/>
            <a:ext cx="3108960" cy="274320"/>
          </a:xfrm>
          <a:prstGeom prst="rect">
            <a:avLst/>
          </a:prstGeom>
          <a:noFill/>
          <a:ln/>
        </p:spPr>
        <p:txBody>
          <a:bodyPr wrap="square" lIns="0" tIns="0" rIns="0" bIns="0" rtlCol="0" anchor="t"/>
          <a:lstStyle/>
          <a:p>
            <a:pPr indent="0" marL="0">
              <a:buNone/>
            </a:pPr>
            <a:r>
              <a:rPr lang="en-US" sz="1200" dirty="0">
                <a:solidFill>
                  <a:srgbClr val="5F6B7A"/>
                </a:solidFill>
              </a:rPr>
              <a:t>First-time UPI user  ·  illustrative</a:t>
            </a:r>
            <a:endParaRPr lang="en-US" sz="1200" dirty="0"/>
          </a:p>
        </p:txBody>
      </p:sp>
      <p:sp>
        <p:nvSpPr>
          <p:cNvPr id="16" name="Text 13"/>
          <p:cNvSpPr txBox="1"/>
          <p:nvPr/>
        </p:nvSpPr>
        <p:spPr>
          <a:xfrm>
            <a:off x="4526280" y="2606040"/>
            <a:ext cx="3108960" cy="228600"/>
          </a:xfrm>
          <a:prstGeom prst="rect">
            <a:avLst/>
          </a:prstGeom>
          <a:noFill/>
          <a:ln/>
        </p:spPr>
        <p:txBody>
          <a:bodyPr wrap="square" lIns="0" tIns="0" rIns="0" bIns="0" rtlCol="0" anchor="t"/>
          <a:lstStyle/>
          <a:p>
            <a:pPr indent="0" marL="0">
              <a:buNone/>
            </a:pPr>
            <a:r>
              <a:rPr lang="en-US" sz="1100" b="1" spc="100" kern="0" dirty="0">
                <a:solidFill>
                  <a:srgbClr val="007D79"/>
                </a:solidFill>
              </a:rPr>
              <a:t>THE PAIN</a:t>
            </a:r>
            <a:endParaRPr lang="en-US" sz="1100" dirty="0"/>
          </a:p>
        </p:txBody>
      </p:sp>
      <p:sp>
        <p:nvSpPr>
          <p:cNvPr id="17" name="Text 14"/>
          <p:cNvSpPr txBox="1"/>
          <p:nvPr/>
        </p:nvSpPr>
        <p:spPr>
          <a:xfrm>
            <a:off x="4526280" y="2852928"/>
            <a:ext cx="3154680" cy="822960"/>
          </a:xfrm>
          <a:prstGeom prst="rect">
            <a:avLst/>
          </a:prstGeom>
          <a:noFill/>
          <a:ln/>
        </p:spPr>
        <p:txBody>
          <a:bodyPr wrap="square" lIns="0" tIns="0" rIns="0" bIns="0" rtlCol="0" anchor="t"/>
          <a:lstStyle/>
          <a:p>
            <a:pPr indent="0" marL="0">
              <a:buNone/>
            </a:pPr>
            <a:r>
              <a:rPr lang="en-US" sz="1400" dirty="0">
                <a:solidFill>
                  <a:srgbClr val="1B2430"/>
                </a:solidFill>
              </a:rPr>
              <a:t>Should not be blocked without a reason, or lose savings to a scam.</a:t>
            </a:r>
            <a:endParaRPr lang="en-US" sz="1400" dirty="0"/>
          </a:p>
        </p:txBody>
      </p:sp>
      <p:sp>
        <p:nvSpPr>
          <p:cNvPr id="18" name="Text 15"/>
          <p:cNvSpPr txBox="1"/>
          <p:nvPr/>
        </p:nvSpPr>
        <p:spPr>
          <a:xfrm>
            <a:off x="4526280" y="3703320"/>
            <a:ext cx="3108960" cy="228600"/>
          </a:xfrm>
          <a:prstGeom prst="rect">
            <a:avLst/>
          </a:prstGeom>
          <a:noFill/>
          <a:ln/>
        </p:spPr>
        <p:txBody>
          <a:bodyPr wrap="square" lIns="0" tIns="0" rIns="0" bIns="0" rtlCol="0" anchor="t"/>
          <a:lstStyle/>
          <a:p>
            <a:pPr indent="0" marL="0">
              <a:buNone/>
            </a:pPr>
            <a:r>
              <a:rPr lang="en-US" sz="1100" b="1" spc="100" kern="0" dirty="0">
                <a:solidFill>
                  <a:srgbClr val="007D79"/>
                </a:solidFill>
              </a:rPr>
              <a:t>WHAT CHANGES</a:t>
            </a:r>
            <a:endParaRPr lang="en-US" sz="1100" dirty="0"/>
          </a:p>
        </p:txBody>
      </p:sp>
      <p:sp>
        <p:nvSpPr>
          <p:cNvPr id="19" name="Text 16"/>
          <p:cNvSpPr txBox="1"/>
          <p:nvPr/>
        </p:nvSpPr>
        <p:spPr>
          <a:xfrm>
            <a:off x="4526280" y="3950208"/>
            <a:ext cx="3154680" cy="822960"/>
          </a:xfrm>
          <a:prstGeom prst="rect">
            <a:avLst/>
          </a:prstGeom>
          <a:noFill/>
          <a:ln/>
        </p:spPr>
        <p:txBody>
          <a:bodyPr wrap="square" lIns="0" tIns="0" rIns="0" bIns="0" rtlCol="0" anchor="t"/>
          <a:lstStyle/>
          <a:p>
            <a:pPr indent="0" marL="0">
              <a:buNone/>
            </a:pPr>
            <a:r>
              <a:rPr lang="en-US" sz="1400" dirty="0">
                <a:solidFill>
                  <a:srgbClr val="1B2430"/>
                </a:solidFill>
              </a:rPr>
              <a:t>A middle path: an extra check (STEP_UP) and a clear message.</a:t>
            </a:r>
            <a:endParaRPr lang="en-US" sz="1400" dirty="0"/>
          </a:p>
        </p:txBody>
      </p:sp>
      <p:sp>
        <p:nvSpPr>
          <p:cNvPr id="20" name="persona-The Caller"/>
          <p:cNvSpPr/>
          <p:nvPr/>
        </p:nvSpPr>
        <p:spPr>
          <a:xfrm>
            <a:off x="8046720" y="1508760"/>
            <a:ext cx="3593592" cy="3337560"/>
          </a:xfrm>
          <a:prstGeom prst="roundRect">
            <a:avLst>
              <a:gd name="adj" fmla="val 2192"/>
            </a:avLst>
          </a:prstGeom>
          <a:solidFill>
            <a:srgbClr val="FFFFFF"/>
          </a:solidFill>
          <a:ln w="9525">
            <a:solidFill>
              <a:srgbClr val="C9D1DC"/>
            </a:solidFill>
            <a:prstDash val="solid"/>
          </a:ln>
        </p:spPr>
      </p:sp>
      <p:sp>
        <p:nvSpPr>
          <p:cNvPr id="21" name="Shape 18"/>
          <p:cNvSpPr/>
          <p:nvPr/>
        </p:nvSpPr>
        <p:spPr>
          <a:xfrm>
            <a:off x="8046720" y="1508760"/>
            <a:ext cx="3593592" cy="82296"/>
          </a:xfrm>
          <a:prstGeom prst="rect">
            <a:avLst/>
          </a:prstGeom>
          <a:solidFill>
            <a:srgbClr val="DA1E28"/>
          </a:solidFill>
          <a:ln w="6350">
            <a:solidFill>
              <a:srgbClr val="DA1E28"/>
            </a:solidFill>
            <a:prstDash val="solid"/>
          </a:ln>
        </p:spPr>
      </p:sp>
      <p:sp>
        <p:nvSpPr>
          <p:cNvPr id="22" name="Text 19"/>
          <p:cNvSpPr txBox="1"/>
          <p:nvPr/>
        </p:nvSpPr>
        <p:spPr>
          <a:xfrm>
            <a:off x="8275320" y="1737360"/>
            <a:ext cx="3108960" cy="411480"/>
          </a:xfrm>
          <a:prstGeom prst="rect">
            <a:avLst/>
          </a:prstGeom>
          <a:noFill/>
          <a:ln/>
        </p:spPr>
        <p:txBody>
          <a:bodyPr wrap="square" lIns="0" tIns="0" rIns="0" bIns="0" rtlCol="0" anchor="t"/>
          <a:lstStyle/>
          <a:p>
            <a:pPr indent="0" marL="0">
              <a:buNone/>
            </a:pPr>
            <a:r>
              <a:rPr lang="en-US" sz="2200" b="1" dirty="0">
                <a:solidFill>
                  <a:srgbClr val="0B1F3A"/>
                </a:solidFill>
              </a:rPr>
              <a:t>The Caller</a:t>
            </a:r>
            <a:endParaRPr lang="en-US" sz="2200" dirty="0"/>
          </a:p>
        </p:txBody>
      </p:sp>
      <p:sp>
        <p:nvSpPr>
          <p:cNvPr id="23" name="Text 20"/>
          <p:cNvSpPr txBox="1"/>
          <p:nvPr/>
        </p:nvSpPr>
        <p:spPr>
          <a:xfrm>
            <a:off x="8275320" y="2176272"/>
            <a:ext cx="3108960" cy="274320"/>
          </a:xfrm>
          <a:prstGeom prst="rect">
            <a:avLst/>
          </a:prstGeom>
          <a:noFill/>
          <a:ln/>
        </p:spPr>
        <p:txBody>
          <a:bodyPr wrap="square" lIns="0" tIns="0" rIns="0" bIns="0" rtlCol="0" anchor="t"/>
          <a:lstStyle/>
          <a:p>
            <a:pPr indent="0" marL="0">
              <a:buNone/>
            </a:pPr>
            <a:r>
              <a:rPr lang="en-US" sz="1200" dirty="0">
                <a:solidFill>
                  <a:srgbClr val="5F6B7A"/>
                </a:solidFill>
              </a:rPr>
              <a:t>Scammer  ·  illustrative</a:t>
            </a:r>
            <a:endParaRPr lang="en-US" sz="1200" dirty="0"/>
          </a:p>
        </p:txBody>
      </p:sp>
      <p:sp>
        <p:nvSpPr>
          <p:cNvPr id="24" name="Text 21"/>
          <p:cNvSpPr txBox="1"/>
          <p:nvPr/>
        </p:nvSpPr>
        <p:spPr>
          <a:xfrm>
            <a:off x="8275320" y="2606040"/>
            <a:ext cx="3108960" cy="228600"/>
          </a:xfrm>
          <a:prstGeom prst="rect">
            <a:avLst/>
          </a:prstGeom>
          <a:noFill/>
          <a:ln/>
        </p:spPr>
        <p:txBody>
          <a:bodyPr wrap="square" lIns="0" tIns="0" rIns="0" bIns="0" rtlCol="0" anchor="t"/>
          <a:lstStyle/>
          <a:p>
            <a:pPr indent="0" marL="0">
              <a:buNone/>
            </a:pPr>
            <a:r>
              <a:rPr lang="en-US" sz="1100" b="1" spc="100" kern="0" dirty="0">
                <a:solidFill>
                  <a:srgbClr val="DA1E28"/>
                </a:solidFill>
              </a:rPr>
              <a:t>THE PAIN</a:t>
            </a:r>
            <a:endParaRPr lang="en-US" sz="1100" dirty="0"/>
          </a:p>
        </p:txBody>
      </p:sp>
      <p:sp>
        <p:nvSpPr>
          <p:cNvPr id="25" name="Text 22"/>
          <p:cNvSpPr txBox="1"/>
          <p:nvPr/>
        </p:nvSpPr>
        <p:spPr>
          <a:xfrm>
            <a:off x="8275320" y="2852928"/>
            <a:ext cx="3154680" cy="822960"/>
          </a:xfrm>
          <a:prstGeom prst="rect">
            <a:avLst/>
          </a:prstGeom>
          <a:noFill/>
          <a:ln/>
        </p:spPr>
        <p:txBody>
          <a:bodyPr wrap="square" lIns="0" tIns="0" rIns="0" bIns="0" rtlCol="0" anchor="t"/>
          <a:lstStyle/>
          <a:p>
            <a:pPr indent="0" marL="0">
              <a:buNone/>
            </a:pPr>
            <a:r>
              <a:rPr lang="en-US" sz="1400" dirty="0">
                <a:solidFill>
                  <a:srgbClr val="1B2430"/>
                </a:solidFill>
              </a:rPr>
              <a:t>Relies on speed: the money is gone before anyone looks.</a:t>
            </a:r>
            <a:endParaRPr lang="en-US" sz="1400" dirty="0"/>
          </a:p>
        </p:txBody>
      </p:sp>
      <p:sp>
        <p:nvSpPr>
          <p:cNvPr id="26" name="Text 23"/>
          <p:cNvSpPr txBox="1"/>
          <p:nvPr/>
        </p:nvSpPr>
        <p:spPr>
          <a:xfrm>
            <a:off x="8275320" y="3703320"/>
            <a:ext cx="3108960" cy="228600"/>
          </a:xfrm>
          <a:prstGeom prst="rect">
            <a:avLst/>
          </a:prstGeom>
          <a:noFill/>
          <a:ln/>
        </p:spPr>
        <p:txBody>
          <a:bodyPr wrap="square" lIns="0" tIns="0" rIns="0" bIns="0" rtlCol="0" anchor="t"/>
          <a:lstStyle/>
          <a:p>
            <a:pPr indent="0" marL="0">
              <a:buNone/>
            </a:pPr>
            <a:r>
              <a:rPr lang="en-US" sz="1100" b="1" spc="100" kern="0" dirty="0">
                <a:solidFill>
                  <a:srgbClr val="DA1E28"/>
                </a:solidFill>
              </a:rPr>
              <a:t>WHAT CHANGES</a:t>
            </a:r>
            <a:endParaRPr lang="en-US" sz="1100" dirty="0"/>
          </a:p>
        </p:txBody>
      </p:sp>
      <p:sp>
        <p:nvSpPr>
          <p:cNvPr id="27" name="Text 24"/>
          <p:cNvSpPr txBox="1"/>
          <p:nvPr/>
        </p:nvSpPr>
        <p:spPr>
          <a:xfrm>
            <a:off x="8275320" y="3950208"/>
            <a:ext cx="3154680" cy="822960"/>
          </a:xfrm>
          <a:prstGeom prst="rect">
            <a:avLst/>
          </a:prstGeom>
          <a:noFill/>
          <a:ln/>
        </p:spPr>
        <p:txBody>
          <a:bodyPr wrap="square" lIns="0" tIns="0" rIns="0" bIns="0" rtlCol="0" anchor="t"/>
          <a:lstStyle/>
          <a:p>
            <a:pPr indent="0" marL="0">
              <a:buNone/>
            </a:pPr>
            <a:r>
              <a:rPr lang="en-US" sz="1400" dirty="0">
                <a:solidFill>
                  <a:srgbClr val="1B2430"/>
                </a:solidFill>
              </a:rPr>
              <a:t>The decision lands before settlement, when it can still be stopped.</a:t>
            </a:r>
            <a:endParaRPr lang="en-US" sz="1400" dirty="0"/>
          </a:p>
        </p:txBody>
      </p:sp>
      <p:sp>
        <p:nvSpPr>
          <p:cNvPr id="28" name="Shape 25"/>
          <p:cNvSpPr/>
          <p:nvPr/>
        </p:nvSpPr>
        <p:spPr>
          <a:xfrm>
            <a:off x="548640" y="5029200"/>
            <a:ext cx="3593592" cy="777240"/>
          </a:xfrm>
          <a:prstGeom prst="rect">
            <a:avLst/>
          </a:prstGeom>
          <a:solidFill>
            <a:srgbClr val="F2F4F8"/>
          </a:solidFill>
          <a:ln w="6350">
            <a:solidFill>
              <a:srgbClr val="C9D1DC"/>
            </a:solidFill>
            <a:prstDash val="solid"/>
          </a:ln>
        </p:spPr>
      </p:sp>
      <p:sp>
        <p:nvSpPr>
          <p:cNvPr id="29" name="Text 26"/>
          <p:cNvSpPr txBox="1"/>
          <p:nvPr/>
        </p:nvSpPr>
        <p:spPr>
          <a:xfrm>
            <a:off x="731520" y="5102352"/>
            <a:ext cx="3246120" cy="640080"/>
          </a:xfrm>
          <a:prstGeom prst="rect">
            <a:avLst/>
          </a:prstGeom>
          <a:noFill/>
          <a:ln/>
        </p:spPr>
        <p:txBody>
          <a:bodyPr wrap="square" lIns="0" tIns="0" rIns="0" bIns="0" rtlCol="0" anchor="ctr"/>
          <a:lstStyle/>
          <a:p>
            <a:pPr indent="0" marL="0">
              <a:buNone/>
            </a:pPr>
            <a:r>
              <a:rPr lang="en-US" sz="1300" b="1" dirty="0">
                <a:solidFill>
                  <a:srgbClr val="0B1F3A"/>
                </a:solidFill>
              </a:rPr>
              <a:t>Before settlement</a:t>
            </a:r>
            <a:endParaRPr lang="en-US" sz="1300" dirty="0"/>
          </a:p>
          <a:p>
            <a:pPr indent="0" marL="0">
              <a:buNone/>
            </a:pPr>
            <a:r>
              <a:rPr lang="en-US" sz="1300" dirty="0">
                <a:solidFill>
                  <a:srgbClr val="5F6B7A"/>
                </a:solidFill>
              </a:rPr>
              <a:t>after the money moves, recovery is limited</a:t>
            </a:r>
            <a:endParaRPr lang="en-US" sz="1300" dirty="0"/>
          </a:p>
        </p:txBody>
      </p:sp>
      <p:sp>
        <p:nvSpPr>
          <p:cNvPr id="30" name="Shape 27"/>
          <p:cNvSpPr/>
          <p:nvPr/>
        </p:nvSpPr>
        <p:spPr>
          <a:xfrm>
            <a:off x="4297680" y="5029200"/>
            <a:ext cx="3593592" cy="777240"/>
          </a:xfrm>
          <a:prstGeom prst="rect">
            <a:avLst/>
          </a:prstGeom>
          <a:solidFill>
            <a:srgbClr val="F2F4F8"/>
          </a:solidFill>
          <a:ln w="6350">
            <a:solidFill>
              <a:srgbClr val="C9D1DC"/>
            </a:solidFill>
            <a:prstDash val="solid"/>
          </a:ln>
        </p:spPr>
      </p:sp>
      <p:sp>
        <p:nvSpPr>
          <p:cNvPr id="31" name="Text 28"/>
          <p:cNvSpPr txBox="1"/>
          <p:nvPr/>
        </p:nvSpPr>
        <p:spPr>
          <a:xfrm>
            <a:off x="4480560" y="5102352"/>
            <a:ext cx="3246120" cy="640080"/>
          </a:xfrm>
          <a:prstGeom prst="rect">
            <a:avLst/>
          </a:prstGeom>
          <a:noFill/>
          <a:ln/>
        </p:spPr>
        <p:txBody>
          <a:bodyPr wrap="square" lIns="0" tIns="0" rIns="0" bIns="0" rtlCol="0" anchor="ctr"/>
          <a:lstStyle/>
          <a:p>
            <a:pPr indent="0" marL="0">
              <a:buNone/>
            </a:pPr>
            <a:r>
              <a:rPr lang="en-US" sz="1300" b="1" dirty="0">
                <a:solidFill>
                  <a:srgbClr val="0B1F3A"/>
                </a:solidFill>
              </a:rPr>
              <a:t>With reasons</a:t>
            </a:r>
            <a:endParaRPr lang="en-US" sz="1300" dirty="0"/>
          </a:p>
          <a:p>
            <a:pPr indent="0" marL="0">
              <a:buNone/>
            </a:pPr>
            <a:r>
              <a:rPr lang="en-US" sz="1300" dirty="0">
                <a:solidFill>
                  <a:srgbClr val="5F6B7A"/>
                </a:solidFill>
              </a:rPr>
              <a:t>a number alone cannot be trusted or explained</a:t>
            </a:r>
            <a:endParaRPr lang="en-US" sz="1300" dirty="0"/>
          </a:p>
        </p:txBody>
      </p:sp>
      <p:sp>
        <p:nvSpPr>
          <p:cNvPr id="32" name="Shape 29"/>
          <p:cNvSpPr/>
          <p:nvPr/>
        </p:nvSpPr>
        <p:spPr>
          <a:xfrm>
            <a:off x="8046720" y="5029200"/>
            <a:ext cx="3593592" cy="777240"/>
          </a:xfrm>
          <a:prstGeom prst="rect">
            <a:avLst/>
          </a:prstGeom>
          <a:solidFill>
            <a:srgbClr val="F2F4F8"/>
          </a:solidFill>
          <a:ln w="6350">
            <a:solidFill>
              <a:srgbClr val="C9D1DC"/>
            </a:solidFill>
            <a:prstDash val="solid"/>
          </a:ln>
        </p:spPr>
      </p:sp>
      <p:sp>
        <p:nvSpPr>
          <p:cNvPr id="33" name="Text 30"/>
          <p:cNvSpPr txBox="1"/>
          <p:nvPr/>
        </p:nvSpPr>
        <p:spPr>
          <a:xfrm>
            <a:off x="8229600" y="5102352"/>
            <a:ext cx="3246120" cy="640080"/>
          </a:xfrm>
          <a:prstGeom prst="rect">
            <a:avLst/>
          </a:prstGeom>
          <a:noFill/>
          <a:ln/>
        </p:spPr>
        <p:txBody>
          <a:bodyPr wrap="square" lIns="0" tIns="0" rIns="0" bIns="0" rtlCol="0" anchor="ctr"/>
          <a:lstStyle/>
          <a:p>
            <a:pPr indent="0" marL="0">
              <a:buNone/>
            </a:pPr>
            <a:r>
              <a:rPr lang="en-US" sz="1300" b="1" dirty="0">
                <a:solidFill>
                  <a:srgbClr val="0B1F3A"/>
                </a:solidFill>
              </a:rPr>
              <a:t>With a human in control</a:t>
            </a:r>
            <a:endParaRPr lang="en-US" sz="1300" dirty="0"/>
          </a:p>
          <a:p>
            <a:pPr indent="0" marL="0">
              <a:buNone/>
            </a:pPr>
            <a:r>
              <a:rPr lang="en-US" sz="1300" dirty="0">
                <a:solidFill>
                  <a:srgbClr val="5F6B7A"/>
                </a:solidFill>
              </a:rPr>
              <a:t>the AI recommends, a person decides</a:t>
            </a:r>
            <a:endParaRPr lang="en-US" sz="1300" dirty="0"/>
          </a:p>
        </p:txBody>
      </p:sp>
      <p:sp>
        <p:nvSpPr>
          <p:cNvPr id="34" name="Text 31"/>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50" i="1" dirty="0">
                <a:solidFill>
                  <a:srgbClr val="5F6B7A"/>
                </a:solidFill>
              </a:rPr>
              <a:t>Meera, Kamla and The Caller are illustrative composites, not real people. Source for the recovery point: RBI discussion paper, 9 Apr 2026.</a:t>
            </a:r>
            <a:endParaRPr lang="en-US" sz="105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ZShield scores every payment in milliseconds and sends it to APPROVE, STEP_UP or HOLD.</a:t>
            </a:r>
            <a:endParaRPr lang="en-US" sz="2400" dirty="0"/>
          </a:p>
        </p:txBody>
      </p:sp>
      <p:sp>
        <p:nvSpPr>
          <p:cNvPr id="4" name="payment"/>
          <p:cNvSpPr/>
          <p:nvPr/>
        </p:nvSpPr>
        <p:spPr>
          <a:xfrm>
            <a:off x="548640" y="2651760"/>
            <a:ext cx="2011680" cy="1371600"/>
          </a:xfrm>
          <a:prstGeom prst="roundRect">
            <a:avLst>
              <a:gd name="adj" fmla="val 5333"/>
            </a:avLst>
          </a:prstGeom>
          <a:solidFill>
            <a:srgbClr val="FFFFFF"/>
          </a:solidFill>
          <a:ln w="9525">
            <a:solidFill>
              <a:srgbClr val="C9D1DC"/>
            </a:solidFill>
            <a:prstDash val="solid"/>
          </a:ln>
        </p:spPr>
      </p:sp>
      <p:sp>
        <p:nvSpPr>
          <p:cNvPr id="5" name="Text 2"/>
          <p:cNvSpPr txBox="1"/>
          <p:nvPr/>
        </p:nvSpPr>
        <p:spPr>
          <a:xfrm>
            <a:off x="685800" y="2834640"/>
            <a:ext cx="1783080" cy="1005840"/>
          </a:xfrm>
          <a:prstGeom prst="rect">
            <a:avLst/>
          </a:prstGeom>
          <a:noFill/>
          <a:ln/>
        </p:spPr>
        <p:txBody>
          <a:bodyPr wrap="square" lIns="0" tIns="0" rIns="0" bIns="0" rtlCol="0" anchor="ctr"/>
          <a:lstStyle/>
          <a:p>
            <a:pPr algn="ctr" indent="0" marL="0">
              <a:buNone/>
            </a:pPr>
            <a:r>
              <a:rPr lang="en-US" sz="1800" b="1" dirty="0">
                <a:solidFill>
                  <a:srgbClr val="0B1F3A"/>
                </a:solidFill>
              </a:rPr>
              <a:t>Payment</a:t>
            </a:r>
            <a:endParaRPr lang="en-US" sz="1400" dirty="0"/>
          </a:p>
          <a:p>
            <a:pPr algn="ctr" indent="0" marL="0">
              <a:buNone/>
            </a:pPr>
            <a:r>
              <a:rPr lang="en-US" sz="1200" dirty="0">
                <a:solidFill>
                  <a:srgbClr val="5F6B7A"/>
                </a:solidFill>
              </a:rPr>
              <a:t>arrives on POST /score</a:t>
            </a:r>
            <a:endParaRPr lang="en-US" sz="1400" dirty="0"/>
          </a:p>
        </p:txBody>
      </p:sp>
      <p:sp>
        <p:nvSpPr>
          <p:cNvPr id="6" name="Shape 3"/>
          <p:cNvSpPr/>
          <p:nvPr/>
        </p:nvSpPr>
        <p:spPr>
          <a:xfrm>
            <a:off x="2606040" y="3337560"/>
            <a:ext cx="640080" cy="0"/>
          </a:xfrm>
          <a:prstGeom prst="line">
            <a:avLst/>
          </a:prstGeom>
          <a:noFill/>
          <a:ln w="25400">
            <a:solidFill>
              <a:srgbClr val="5F6B7A"/>
            </a:solidFill>
            <a:prstDash val="solid"/>
            <a:tailEnd type="triangle"/>
          </a:ln>
        </p:spPr>
      </p:sp>
      <p:sp>
        <p:nvSpPr>
          <p:cNvPr id="7" name="score"/>
          <p:cNvSpPr/>
          <p:nvPr/>
        </p:nvSpPr>
        <p:spPr>
          <a:xfrm>
            <a:off x="3291840" y="2651760"/>
            <a:ext cx="2011680" cy="1371600"/>
          </a:xfrm>
          <a:prstGeom prst="roundRect">
            <a:avLst>
              <a:gd name="adj" fmla="val 5333"/>
            </a:avLst>
          </a:prstGeom>
          <a:solidFill>
            <a:srgbClr val="0B1F3A"/>
          </a:solidFill>
          <a:ln w="6350">
            <a:solidFill>
              <a:srgbClr val="0B1F3A"/>
            </a:solidFill>
            <a:prstDash val="solid"/>
          </a:ln>
        </p:spPr>
      </p:sp>
      <p:sp>
        <p:nvSpPr>
          <p:cNvPr id="8" name="Text 5"/>
          <p:cNvSpPr txBox="1"/>
          <p:nvPr/>
        </p:nvSpPr>
        <p:spPr>
          <a:xfrm>
            <a:off x="3383280" y="2834640"/>
            <a:ext cx="1828800" cy="1005840"/>
          </a:xfrm>
          <a:prstGeom prst="rect">
            <a:avLst/>
          </a:prstGeom>
          <a:noFill/>
          <a:ln/>
        </p:spPr>
        <p:txBody>
          <a:bodyPr wrap="square" lIns="0" tIns="0" rIns="0" bIns="0" rtlCol="0" anchor="ctr"/>
          <a:lstStyle/>
          <a:p>
            <a:pPr algn="ctr" indent="0" marL="0">
              <a:buNone/>
            </a:pPr>
            <a:r>
              <a:rPr lang="en-US" sz="1800" b="1" dirty="0">
                <a:solidFill>
                  <a:srgbClr val="FFFFFF"/>
                </a:solidFill>
              </a:rPr>
              <a:t>Risk score</a:t>
            </a:r>
            <a:endParaRPr lang="en-US" sz="1400" dirty="0"/>
          </a:p>
          <a:p>
            <a:pPr algn="ctr" indent="0" marL="0">
              <a:buNone/>
            </a:pPr>
            <a:r>
              <a:rPr lang="en-US" sz="1200" dirty="0">
                <a:solidFill>
                  <a:srgbClr val="C8D3E6"/>
                </a:solidFill>
              </a:rPr>
              <a:t>from past activity + the payment</a:t>
            </a:r>
            <a:endParaRPr lang="en-US" sz="1400" dirty="0"/>
          </a:p>
        </p:txBody>
      </p:sp>
      <p:sp>
        <p:nvSpPr>
          <p:cNvPr id="9" name="Shape 6"/>
          <p:cNvSpPr/>
          <p:nvPr/>
        </p:nvSpPr>
        <p:spPr>
          <a:xfrm flipV="1">
            <a:off x="5349240" y="1965960"/>
            <a:ext cx="640080" cy="1371600"/>
          </a:xfrm>
          <a:prstGeom prst="line">
            <a:avLst/>
          </a:prstGeom>
          <a:noFill/>
          <a:ln w="25400">
            <a:solidFill>
              <a:srgbClr val="5F6B7A"/>
            </a:solidFill>
            <a:prstDash val="solid"/>
            <a:tailEnd type="triangle"/>
          </a:ln>
        </p:spPr>
      </p:sp>
      <p:sp>
        <p:nvSpPr>
          <p:cNvPr id="10" name="lane-APPROVE"/>
          <p:cNvSpPr/>
          <p:nvPr/>
        </p:nvSpPr>
        <p:spPr>
          <a:xfrm>
            <a:off x="6035040" y="1508760"/>
            <a:ext cx="5605272" cy="914400"/>
          </a:xfrm>
          <a:prstGeom prst="roundRect">
            <a:avLst>
              <a:gd name="adj" fmla="val 8000"/>
            </a:avLst>
          </a:prstGeom>
          <a:solidFill>
            <a:srgbClr val="FFFFFF"/>
          </a:solidFill>
          <a:ln w="25400">
            <a:solidFill>
              <a:srgbClr val="198038"/>
            </a:solidFill>
            <a:prstDash val="solid"/>
          </a:ln>
        </p:spPr>
      </p:sp>
      <p:sp>
        <p:nvSpPr>
          <p:cNvPr id="11" name="Shape 8"/>
          <p:cNvSpPr/>
          <p:nvPr/>
        </p:nvSpPr>
        <p:spPr>
          <a:xfrm>
            <a:off x="6035040" y="1600200"/>
            <a:ext cx="73152" cy="731520"/>
          </a:xfrm>
          <a:prstGeom prst="rect">
            <a:avLst/>
          </a:prstGeom>
          <a:solidFill>
            <a:srgbClr val="198038"/>
          </a:solidFill>
          <a:ln w="6350">
            <a:solidFill>
              <a:srgbClr val="198038"/>
            </a:solidFill>
            <a:prstDash val="solid"/>
          </a:ln>
        </p:spPr>
      </p:sp>
      <p:sp>
        <p:nvSpPr>
          <p:cNvPr id="12" name="Text 9"/>
          <p:cNvSpPr txBox="1"/>
          <p:nvPr/>
        </p:nvSpPr>
        <p:spPr>
          <a:xfrm>
            <a:off x="6263640" y="1508760"/>
            <a:ext cx="1554480" cy="914400"/>
          </a:xfrm>
          <a:prstGeom prst="rect">
            <a:avLst/>
          </a:prstGeom>
          <a:noFill/>
          <a:ln/>
        </p:spPr>
        <p:txBody>
          <a:bodyPr wrap="square" lIns="0" tIns="0" rIns="0" bIns="0" rtlCol="0" anchor="ctr"/>
          <a:lstStyle/>
          <a:p>
            <a:pPr indent="0" marL="0">
              <a:buNone/>
            </a:pPr>
            <a:r>
              <a:rPr lang="en-US" sz="1800" b="1" dirty="0">
                <a:solidFill>
                  <a:srgbClr val="198038"/>
                </a:solidFill>
              </a:rPr>
              <a:t>APPROVE</a:t>
            </a:r>
            <a:endParaRPr lang="en-US" sz="1800" dirty="0"/>
          </a:p>
        </p:txBody>
      </p:sp>
      <p:sp>
        <p:nvSpPr>
          <p:cNvPr id="13" name="Text 10"/>
          <p:cNvSpPr txBox="1"/>
          <p:nvPr/>
        </p:nvSpPr>
        <p:spPr>
          <a:xfrm>
            <a:off x="7772400" y="1508760"/>
            <a:ext cx="3749040" cy="914400"/>
          </a:xfrm>
          <a:prstGeom prst="rect">
            <a:avLst/>
          </a:prstGeom>
          <a:noFill/>
          <a:ln/>
        </p:spPr>
        <p:txBody>
          <a:bodyPr wrap="square" lIns="0" tIns="0" rIns="0" bIns="0" rtlCol="0" anchor="ctr"/>
          <a:lstStyle/>
          <a:p>
            <a:pPr indent="0" marL="0">
              <a:buNone/>
            </a:pPr>
            <a:r>
              <a:rPr lang="en-US" sz="1300" dirty="0">
                <a:solidFill>
                  <a:srgbClr val="1B2430"/>
                </a:solidFill>
              </a:rPr>
              <a:t>Low risk. Goes straight through. The honest customer notices nothing.</a:t>
            </a:r>
            <a:endParaRPr lang="en-US" sz="1300" dirty="0"/>
          </a:p>
        </p:txBody>
      </p:sp>
      <p:sp>
        <p:nvSpPr>
          <p:cNvPr id="14" name="Shape 11"/>
          <p:cNvSpPr/>
          <p:nvPr/>
        </p:nvSpPr>
        <p:spPr>
          <a:xfrm flipV="1">
            <a:off x="5349240" y="3200400"/>
            <a:ext cx="640080" cy="137160"/>
          </a:xfrm>
          <a:prstGeom prst="line">
            <a:avLst/>
          </a:prstGeom>
          <a:noFill/>
          <a:ln w="25400">
            <a:solidFill>
              <a:srgbClr val="5F6B7A"/>
            </a:solidFill>
            <a:prstDash val="solid"/>
            <a:tailEnd type="triangle"/>
          </a:ln>
        </p:spPr>
      </p:sp>
      <p:sp>
        <p:nvSpPr>
          <p:cNvPr id="15" name="lane-STEP_UP"/>
          <p:cNvSpPr/>
          <p:nvPr/>
        </p:nvSpPr>
        <p:spPr>
          <a:xfrm>
            <a:off x="6035040" y="2743200"/>
            <a:ext cx="5605272" cy="914400"/>
          </a:xfrm>
          <a:prstGeom prst="roundRect">
            <a:avLst>
              <a:gd name="adj" fmla="val 8000"/>
            </a:avLst>
          </a:prstGeom>
          <a:solidFill>
            <a:srgbClr val="FFFFFF"/>
          </a:solidFill>
          <a:ln w="25400">
            <a:solidFill>
              <a:srgbClr val="B28600"/>
            </a:solidFill>
            <a:prstDash val="solid"/>
          </a:ln>
        </p:spPr>
      </p:sp>
      <p:sp>
        <p:nvSpPr>
          <p:cNvPr id="16" name="Shape 13"/>
          <p:cNvSpPr/>
          <p:nvPr/>
        </p:nvSpPr>
        <p:spPr>
          <a:xfrm>
            <a:off x="6035040" y="2834640"/>
            <a:ext cx="73152" cy="731520"/>
          </a:xfrm>
          <a:prstGeom prst="rect">
            <a:avLst/>
          </a:prstGeom>
          <a:solidFill>
            <a:srgbClr val="B28600"/>
          </a:solidFill>
          <a:ln w="6350">
            <a:solidFill>
              <a:srgbClr val="B28600"/>
            </a:solidFill>
            <a:prstDash val="solid"/>
          </a:ln>
        </p:spPr>
      </p:sp>
      <p:sp>
        <p:nvSpPr>
          <p:cNvPr id="17" name="Text 14"/>
          <p:cNvSpPr txBox="1"/>
          <p:nvPr/>
        </p:nvSpPr>
        <p:spPr>
          <a:xfrm>
            <a:off x="6263640" y="2743200"/>
            <a:ext cx="1554480" cy="914400"/>
          </a:xfrm>
          <a:prstGeom prst="rect">
            <a:avLst/>
          </a:prstGeom>
          <a:noFill/>
          <a:ln/>
        </p:spPr>
        <p:txBody>
          <a:bodyPr wrap="square" lIns="0" tIns="0" rIns="0" bIns="0" rtlCol="0" anchor="ctr"/>
          <a:lstStyle/>
          <a:p>
            <a:pPr indent="0" marL="0">
              <a:buNone/>
            </a:pPr>
            <a:r>
              <a:rPr lang="en-US" sz="1800" b="1" dirty="0">
                <a:solidFill>
                  <a:srgbClr val="B28600"/>
                </a:solidFill>
              </a:rPr>
              <a:t>STEP_UP</a:t>
            </a:r>
            <a:endParaRPr lang="en-US" sz="1800" dirty="0"/>
          </a:p>
        </p:txBody>
      </p:sp>
      <p:sp>
        <p:nvSpPr>
          <p:cNvPr id="18" name="Text 15"/>
          <p:cNvSpPr txBox="1"/>
          <p:nvPr/>
        </p:nvSpPr>
        <p:spPr>
          <a:xfrm>
            <a:off x="7772400" y="2743200"/>
            <a:ext cx="3749040" cy="914400"/>
          </a:xfrm>
          <a:prstGeom prst="rect">
            <a:avLst/>
          </a:prstGeom>
          <a:noFill/>
          <a:ln/>
        </p:spPr>
        <p:txBody>
          <a:bodyPr wrap="square" lIns="0" tIns="0" rIns="0" bIns="0" rtlCol="0" anchor="ctr"/>
          <a:lstStyle/>
          <a:p>
            <a:pPr indent="0" marL="0">
              <a:buNone/>
            </a:pPr>
            <a:r>
              <a:rPr lang="en-US" sz="1300" dirty="0">
                <a:solidFill>
                  <a:srgbClr val="1B2430"/>
                </a:solidFill>
              </a:rPr>
              <a:t>Medium risk. Extra check: warning, OTP or call-back. Money moves after the customer confirms.</a:t>
            </a:r>
            <a:endParaRPr lang="en-US" sz="1300" dirty="0"/>
          </a:p>
        </p:txBody>
      </p:sp>
      <p:sp>
        <p:nvSpPr>
          <p:cNvPr id="19" name="Shape 16"/>
          <p:cNvSpPr/>
          <p:nvPr/>
        </p:nvSpPr>
        <p:spPr>
          <a:xfrm>
            <a:off x="5349240" y="3337560"/>
            <a:ext cx="640080" cy="1097280"/>
          </a:xfrm>
          <a:prstGeom prst="line">
            <a:avLst/>
          </a:prstGeom>
          <a:noFill/>
          <a:ln w="25400">
            <a:solidFill>
              <a:srgbClr val="5F6B7A"/>
            </a:solidFill>
            <a:prstDash val="solid"/>
            <a:tailEnd type="triangle"/>
          </a:ln>
        </p:spPr>
      </p:sp>
      <p:sp>
        <p:nvSpPr>
          <p:cNvPr id="20" name="lane-HOLD"/>
          <p:cNvSpPr/>
          <p:nvPr/>
        </p:nvSpPr>
        <p:spPr>
          <a:xfrm>
            <a:off x="6035040" y="3977640"/>
            <a:ext cx="5605272" cy="914400"/>
          </a:xfrm>
          <a:prstGeom prst="roundRect">
            <a:avLst>
              <a:gd name="adj" fmla="val 8000"/>
            </a:avLst>
          </a:prstGeom>
          <a:solidFill>
            <a:srgbClr val="FFFFFF"/>
          </a:solidFill>
          <a:ln w="25400">
            <a:solidFill>
              <a:srgbClr val="DA1E28"/>
            </a:solidFill>
            <a:prstDash val="solid"/>
          </a:ln>
        </p:spPr>
      </p:sp>
      <p:sp>
        <p:nvSpPr>
          <p:cNvPr id="21" name="Shape 18"/>
          <p:cNvSpPr/>
          <p:nvPr/>
        </p:nvSpPr>
        <p:spPr>
          <a:xfrm>
            <a:off x="6035040" y="4069080"/>
            <a:ext cx="73152" cy="731520"/>
          </a:xfrm>
          <a:prstGeom prst="rect">
            <a:avLst/>
          </a:prstGeom>
          <a:solidFill>
            <a:srgbClr val="DA1E28"/>
          </a:solidFill>
          <a:ln w="6350">
            <a:solidFill>
              <a:srgbClr val="DA1E28"/>
            </a:solidFill>
            <a:prstDash val="solid"/>
          </a:ln>
        </p:spPr>
      </p:sp>
      <p:sp>
        <p:nvSpPr>
          <p:cNvPr id="22" name="Text 19"/>
          <p:cNvSpPr txBox="1"/>
          <p:nvPr/>
        </p:nvSpPr>
        <p:spPr>
          <a:xfrm>
            <a:off x="6263640" y="3977640"/>
            <a:ext cx="1554480" cy="914400"/>
          </a:xfrm>
          <a:prstGeom prst="rect">
            <a:avLst/>
          </a:prstGeom>
          <a:noFill/>
          <a:ln/>
        </p:spPr>
        <p:txBody>
          <a:bodyPr wrap="square" lIns="0" tIns="0" rIns="0" bIns="0" rtlCol="0" anchor="ctr"/>
          <a:lstStyle/>
          <a:p>
            <a:pPr indent="0" marL="0">
              <a:buNone/>
            </a:pPr>
            <a:r>
              <a:rPr lang="en-US" sz="1800" b="1" dirty="0">
                <a:solidFill>
                  <a:srgbClr val="DA1E28"/>
                </a:solidFill>
              </a:rPr>
              <a:t>HOLD</a:t>
            </a:r>
            <a:endParaRPr lang="en-US" sz="1800" dirty="0"/>
          </a:p>
        </p:txBody>
      </p:sp>
      <p:sp>
        <p:nvSpPr>
          <p:cNvPr id="23" name="Text 20"/>
          <p:cNvSpPr txBox="1"/>
          <p:nvPr/>
        </p:nvSpPr>
        <p:spPr>
          <a:xfrm>
            <a:off x="7772400" y="3977640"/>
            <a:ext cx="3749040" cy="914400"/>
          </a:xfrm>
          <a:prstGeom prst="rect">
            <a:avLst/>
          </a:prstGeom>
          <a:noFill/>
          <a:ln/>
        </p:spPr>
        <p:txBody>
          <a:bodyPr wrap="square" lIns="0" tIns="0" rIns="0" bIns="0" rtlCol="0" anchor="ctr"/>
          <a:lstStyle/>
          <a:p>
            <a:pPr indent="0" marL="0">
              <a:buNone/>
            </a:pPr>
            <a:r>
              <a:rPr lang="en-US" sz="1300" dirty="0">
                <a:solidFill>
                  <a:srgbClr val="1B2430"/>
                </a:solidFill>
              </a:rPr>
              <a:t>High risk. Paused for a human analyst. Ends at: Approve, Block or Escalate.</a:t>
            </a:r>
            <a:endParaRPr lang="en-US" sz="1300" dirty="0"/>
          </a:p>
        </p:txBody>
      </p:sp>
      <p:sp>
        <p:nvSpPr>
          <p:cNvPr id="24" name="Text 21"/>
          <p:cNvSpPr txBox="1"/>
          <p:nvPr/>
        </p:nvSpPr>
        <p:spPr>
          <a:xfrm>
            <a:off x="548640" y="5257800"/>
            <a:ext cx="11091672" cy="640080"/>
          </a:xfrm>
          <a:prstGeom prst="rect">
            <a:avLst/>
          </a:prstGeom>
          <a:noFill/>
          <a:ln/>
        </p:spPr>
        <p:txBody>
          <a:bodyPr wrap="square" lIns="0" tIns="0" rIns="0" bIns="0" rtlCol="0" anchor="t"/>
          <a:lstStyle/>
          <a:p>
            <a:pPr indent="0" marL="0">
              <a:buNone/>
            </a:pPr>
            <a:r>
              <a:rPr lang="en-US" sz="1500" b="1" dirty="0">
                <a:solidFill>
                  <a:srgbClr val="0B1F3A"/>
                </a:solidFill>
              </a:rPr>
              <a:t>The AI explains. A human decides. Flagged payments get up to 3 plain reasons and a short customer alert. If scoring fails, the result is STEP_UP, never a silent approve.</a:t>
            </a:r>
            <a:endParaRPr lang="en-US" sz="1500" dirty="0"/>
          </a:p>
        </p:txBody>
      </p:sp>
      <p:sp>
        <p:nvSpPr>
          <p:cNvPr id="25" name="Text 22"/>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50" i="1" dirty="0">
                <a:solidFill>
                  <a:srgbClr val="5F6B7A"/>
                </a:solidFill>
              </a:rPr>
              <a:t>Alerts come from fixed templates and every alert is checked before it is used; the alert text cannot change a decision.</a:t>
            </a:r>
            <a:endParaRPr lang="en-US" sz="105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Three stories in one replay: a drain is held, a burst is flagged, a normal day flows.</a:t>
            </a:r>
            <a:endParaRPr lang="en-US" sz="2400" dirty="0"/>
          </a:p>
        </p:txBody>
      </p:sp>
      <p:sp>
        <p:nvSpPr>
          <p:cNvPr id="4" name="story-Scam Drain"/>
          <p:cNvSpPr/>
          <p:nvPr/>
        </p:nvSpPr>
        <p:spPr>
          <a:xfrm>
            <a:off x="548640" y="1508760"/>
            <a:ext cx="3593592" cy="2834640"/>
          </a:xfrm>
          <a:prstGeom prst="roundRect">
            <a:avLst>
              <a:gd name="adj" fmla="val 2581"/>
            </a:avLst>
          </a:prstGeom>
          <a:solidFill>
            <a:srgbClr val="FFFFFF"/>
          </a:solidFill>
          <a:ln w="9525">
            <a:solidFill>
              <a:srgbClr val="C9D1DC"/>
            </a:solidFill>
            <a:prstDash val="solid"/>
          </a:ln>
        </p:spPr>
      </p:sp>
      <p:sp>
        <p:nvSpPr>
          <p:cNvPr id="5" name="Shape 2"/>
          <p:cNvSpPr/>
          <p:nvPr/>
        </p:nvSpPr>
        <p:spPr>
          <a:xfrm>
            <a:off x="548640" y="1508760"/>
            <a:ext cx="3593592" cy="82296"/>
          </a:xfrm>
          <a:prstGeom prst="rect">
            <a:avLst/>
          </a:prstGeom>
          <a:solidFill>
            <a:srgbClr val="DA1E28"/>
          </a:solidFill>
          <a:ln w="6350">
            <a:solidFill>
              <a:srgbClr val="DA1E28"/>
            </a:solidFill>
            <a:prstDash val="solid"/>
          </a:ln>
        </p:spPr>
      </p:sp>
      <p:sp>
        <p:nvSpPr>
          <p:cNvPr id="6" name="Text 3"/>
          <p:cNvSpPr txBox="1"/>
          <p:nvPr/>
        </p:nvSpPr>
        <p:spPr>
          <a:xfrm>
            <a:off x="777240" y="1737360"/>
            <a:ext cx="2103120" cy="411480"/>
          </a:xfrm>
          <a:prstGeom prst="rect">
            <a:avLst/>
          </a:prstGeom>
          <a:noFill/>
          <a:ln/>
        </p:spPr>
        <p:txBody>
          <a:bodyPr wrap="square" lIns="0" tIns="0" rIns="0" bIns="0" rtlCol="0" anchor="t"/>
          <a:lstStyle/>
          <a:p>
            <a:pPr indent="0" marL="0">
              <a:buNone/>
            </a:pPr>
            <a:r>
              <a:rPr lang="en-US" sz="2200" b="1" dirty="0">
                <a:solidFill>
                  <a:srgbClr val="0B1F3A"/>
                </a:solidFill>
              </a:rPr>
              <a:t>Scam Drain</a:t>
            </a:r>
            <a:endParaRPr lang="en-US" sz="2200" dirty="0"/>
          </a:p>
        </p:txBody>
      </p:sp>
      <p:sp>
        <p:nvSpPr>
          <p:cNvPr id="7" name="Shape 4"/>
          <p:cNvSpPr/>
          <p:nvPr/>
        </p:nvSpPr>
        <p:spPr>
          <a:xfrm>
            <a:off x="2880360" y="1764792"/>
            <a:ext cx="1051560" cy="365760"/>
          </a:xfrm>
          <a:prstGeom prst="roundRect">
            <a:avLst>
              <a:gd name="adj" fmla="val 50000"/>
            </a:avLst>
          </a:prstGeom>
          <a:solidFill>
            <a:srgbClr val="DA1E28"/>
          </a:solidFill>
          <a:ln w="6350">
            <a:solidFill>
              <a:srgbClr val="DA1E28"/>
            </a:solidFill>
            <a:prstDash val="solid"/>
          </a:ln>
        </p:spPr>
      </p:sp>
      <p:sp>
        <p:nvSpPr>
          <p:cNvPr id="8" name="Text 5"/>
          <p:cNvSpPr txBox="1"/>
          <p:nvPr/>
        </p:nvSpPr>
        <p:spPr>
          <a:xfrm>
            <a:off x="2880360" y="1764792"/>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rPr>
              <a:t>HOLD</a:t>
            </a:r>
            <a:endParaRPr lang="en-US" sz="1200" dirty="0"/>
          </a:p>
        </p:txBody>
      </p:sp>
      <p:sp>
        <p:nvSpPr>
          <p:cNvPr id="9" name="Text 6"/>
          <p:cNvSpPr txBox="1"/>
          <p:nvPr/>
        </p:nvSpPr>
        <p:spPr>
          <a:xfrm>
            <a:off x="777240" y="2377440"/>
            <a:ext cx="3154680" cy="914400"/>
          </a:xfrm>
          <a:prstGeom prst="rect">
            <a:avLst/>
          </a:prstGeom>
          <a:noFill/>
          <a:ln/>
        </p:spPr>
        <p:txBody>
          <a:bodyPr wrap="square" lIns="0" tIns="0" rIns="0" bIns="0" rtlCol="0" anchor="t"/>
          <a:lstStyle/>
          <a:p>
            <a:pPr indent="0" marL="0">
              <a:buNone/>
            </a:pPr>
            <a:r>
              <a:rPr lang="en-US" sz="1500" dirty="0">
                <a:solidFill>
                  <a:srgbClr val="1B2430"/>
                </a:solidFill>
              </a:rPr>
              <a:t>At 2 AM, ₹48,000, the whole balance, goes to a brand-new recipient.</a:t>
            </a:r>
            <a:endParaRPr lang="en-US" sz="1500" dirty="0"/>
          </a:p>
        </p:txBody>
      </p:sp>
      <p:sp>
        <p:nvSpPr>
          <p:cNvPr id="10" name="Text 7"/>
          <p:cNvSpPr txBox="1"/>
          <p:nvPr/>
        </p:nvSpPr>
        <p:spPr>
          <a:xfrm>
            <a:off x="777240" y="3429000"/>
            <a:ext cx="3154680" cy="731520"/>
          </a:xfrm>
          <a:prstGeom prst="rect">
            <a:avLst/>
          </a:prstGeom>
          <a:noFill/>
          <a:ln/>
        </p:spPr>
        <p:txBody>
          <a:bodyPr wrap="square" lIns="0" tIns="0" rIns="0" bIns="0" rtlCol="0" anchor="t"/>
          <a:lstStyle/>
          <a:p>
            <a:pPr indent="0" marL="0">
              <a:buNone/>
            </a:pPr>
            <a:r>
              <a:rPr lang="en-US" sz="1400" b="1" dirty="0">
                <a:solidFill>
                  <a:srgbClr val="DA1E28"/>
                </a:solidFill>
              </a:rPr>
              <a:t>The analyst blocks it.</a:t>
            </a:r>
            <a:endParaRPr lang="en-US" sz="1400" dirty="0"/>
          </a:p>
        </p:txBody>
      </p:sp>
      <p:sp>
        <p:nvSpPr>
          <p:cNvPr id="11" name="story-Mule Burst"/>
          <p:cNvSpPr/>
          <p:nvPr/>
        </p:nvSpPr>
        <p:spPr>
          <a:xfrm>
            <a:off x="4297680" y="1508760"/>
            <a:ext cx="3593592" cy="2834640"/>
          </a:xfrm>
          <a:prstGeom prst="roundRect">
            <a:avLst>
              <a:gd name="adj" fmla="val 2581"/>
            </a:avLst>
          </a:prstGeom>
          <a:solidFill>
            <a:srgbClr val="FFFFFF"/>
          </a:solidFill>
          <a:ln w="9525">
            <a:solidFill>
              <a:srgbClr val="C9D1DC"/>
            </a:solidFill>
            <a:prstDash val="solid"/>
          </a:ln>
        </p:spPr>
      </p:sp>
      <p:sp>
        <p:nvSpPr>
          <p:cNvPr id="12" name="Shape 9"/>
          <p:cNvSpPr/>
          <p:nvPr/>
        </p:nvSpPr>
        <p:spPr>
          <a:xfrm>
            <a:off x="4297680" y="1508760"/>
            <a:ext cx="3593592" cy="82296"/>
          </a:xfrm>
          <a:prstGeom prst="rect">
            <a:avLst/>
          </a:prstGeom>
          <a:solidFill>
            <a:srgbClr val="B28600"/>
          </a:solidFill>
          <a:ln w="6350">
            <a:solidFill>
              <a:srgbClr val="B28600"/>
            </a:solidFill>
            <a:prstDash val="solid"/>
          </a:ln>
        </p:spPr>
      </p:sp>
      <p:sp>
        <p:nvSpPr>
          <p:cNvPr id="13" name="Text 10"/>
          <p:cNvSpPr txBox="1"/>
          <p:nvPr/>
        </p:nvSpPr>
        <p:spPr>
          <a:xfrm>
            <a:off x="4526280" y="1737360"/>
            <a:ext cx="2103120" cy="411480"/>
          </a:xfrm>
          <a:prstGeom prst="rect">
            <a:avLst/>
          </a:prstGeom>
          <a:noFill/>
          <a:ln/>
        </p:spPr>
        <p:txBody>
          <a:bodyPr wrap="square" lIns="0" tIns="0" rIns="0" bIns="0" rtlCol="0" anchor="t"/>
          <a:lstStyle/>
          <a:p>
            <a:pPr indent="0" marL="0">
              <a:buNone/>
            </a:pPr>
            <a:r>
              <a:rPr lang="en-US" sz="2200" b="1" dirty="0">
                <a:solidFill>
                  <a:srgbClr val="0B1F3A"/>
                </a:solidFill>
              </a:rPr>
              <a:t>Mule Burst</a:t>
            </a:r>
            <a:endParaRPr lang="en-US" sz="2200" dirty="0"/>
          </a:p>
        </p:txBody>
      </p:sp>
      <p:sp>
        <p:nvSpPr>
          <p:cNvPr id="14" name="Shape 11"/>
          <p:cNvSpPr/>
          <p:nvPr/>
        </p:nvSpPr>
        <p:spPr>
          <a:xfrm>
            <a:off x="6629400" y="1764792"/>
            <a:ext cx="1051560" cy="365760"/>
          </a:xfrm>
          <a:prstGeom prst="roundRect">
            <a:avLst>
              <a:gd name="adj" fmla="val 50000"/>
            </a:avLst>
          </a:prstGeom>
          <a:solidFill>
            <a:srgbClr val="B28600"/>
          </a:solidFill>
          <a:ln w="6350">
            <a:solidFill>
              <a:srgbClr val="B28600"/>
            </a:solidFill>
            <a:prstDash val="solid"/>
          </a:ln>
        </p:spPr>
      </p:sp>
      <p:sp>
        <p:nvSpPr>
          <p:cNvPr id="15" name="Text 12"/>
          <p:cNvSpPr txBox="1"/>
          <p:nvPr/>
        </p:nvSpPr>
        <p:spPr>
          <a:xfrm>
            <a:off x="6629400" y="1764792"/>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rPr>
              <a:t>STEP_UP</a:t>
            </a:r>
            <a:endParaRPr lang="en-US" sz="1200" dirty="0"/>
          </a:p>
        </p:txBody>
      </p:sp>
      <p:sp>
        <p:nvSpPr>
          <p:cNvPr id="16" name="Text 13"/>
          <p:cNvSpPr txBox="1"/>
          <p:nvPr/>
        </p:nvSpPr>
        <p:spPr>
          <a:xfrm>
            <a:off x="4526280" y="2377440"/>
            <a:ext cx="3154680" cy="914400"/>
          </a:xfrm>
          <a:prstGeom prst="rect">
            <a:avLst/>
          </a:prstGeom>
          <a:noFill/>
          <a:ln/>
        </p:spPr>
        <p:txBody>
          <a:bodyPr wrap="square" lIns="0" tIns="0" rIns="0" bIns="0" rtlCol="0" anchor="t"/>
          <a:lstStyle/>
          <a:p>
            <a:pPr indent="0" marL="0">
              <a:buNone/>
            </a:pPr>
            <a:r>
              <a:rPr lang="en-US" sz="1500" dirty="0">
                <a:solidFill>
                  <a:srgbClr val="1B2430"/>
                </a:solidFill>
              </a:rPr>
              <a:t>Ten payers send money to one account.</a:t>
            </a:r>
            <a:endParaRPr lang="en-US" sz="1500" dirty="0"/>
          </a:p>
        </p:txBody>
      </p:sp>
      <p:sp>
        <p:nvSpPr>
          <p:cNvPr id="17" name="Text 14"/>
          <p:cNvSpPr txBox="1"/>
          <p:nvPr/>
        </p:nvSpPr>
        <p:spPr>
          <a:xfrm>
            <a:off x="4526280" y="3429000"/>
            <a:ext cx="3154680" cy="731520"/>
          </a:xfrm>
          <a:prstGeom prst="rect">
            <a:avLst/>
          </a:prstGeom>
          <a:noFill/>
          <a:ln/>
        </p:spPr>
        <p:txBody>
          <a:bodyPr wrap="square" lIns="0" tIns="0" rIns="0" bIns="0" rtlCol="0" anchor="t"/>
          <a:lstStyle/>
          <a:p>
            <a:pPr indent="0" marL="0">
              <a:buNone/>
            </a:pPr>
            <a:r>
              <a:rPr lang="en-US" sz="1400" b="1" dirty="0">
                <a:solidFill>
                  <a:srgbClr val="B28600"/>
                </a:solidFill>
              </a:rPr>
              <a:t>From the sixth transfer on, each one is STEP_UP.</a:t>
            </a:r>
            <a:endParaRPr lang="en-US" sz="1400" dirty="0"/>
          </a:p>
        </p:txBody>
      </p:sp>
      <p:sp>
        <p:nvSpPr>
          <p:cNvPr id="18" name="story-Normal Day"/>
          <p:cNvSpPr/>
          <p:nvPr/>
        </p:nvSpPr>
        <p:spPr>
          <a:xfrm>
            <a:off x="8046720" y="1508760"/>
            <a:ext cx="3593592" cy="2834640"/>
          </a:xfrm>
          <a:prstGeom prst="roundRect">
            <a:avLst>
              <a:gd name="adj" fmla="val 2581"/>
            </a:avLst>
          </a:prstGeom>
          <a:solidFill>
            <a:srgbClr val="FFFFFF"/>
          </a:solidFill>
          <a:ln w="9525">
            <a:solidFill>
              <a:srgbClr val="C9D1DC"/>
            </a:solidFill>
            <a:prstDash val="solid"/>
          </a:ln>
        </p:spPr>
      </p:sp>
      <p:sp>
        <p:nvSpPr>
          <p:cNvPr id="19" name="Shape 16"/>
          <p:cNvSpPr/>
          <p:nvPr/>
        </p:nvSpPr>
        <p:spPr>
          <a:xfrm>
            <a:off x="8046720" y="1508760"/>
            <a:ext cx="3593592" cy="82296"/>
          </a:xfrm>
          <a:prstGeom prst="rect">
            <a:avLst/>
          </a:prstGeom>
          <a:solidFill>
            <a:srgbClr val="198038"/>
          </a:solidFill>
          <a:ln w="6350">
            <a:solidFill>
              <a:srgbClr val="198038"/>
            </a:solidFill>
            <a:prstDash val="solid"/>
          </a:ln>
        </p:spPr>
      </p:sp>
      <p:sp>
        <p:nvSpPr>
          <p:cNvPr id="20" name="Text 17"/>
          <p:cNvSpPr txBox="1"/>
          <p:nvPr/>
        </p:nvSpPr>
        <p:spPr>
          <a:xfrm>
            <a:off x="8275320" y="1737360"/>
            <a:ext cx="2103120" cy="411480"/>
          </a:xfrm>
          <a:prstGeom prst="rect">
            <a:avLst/>
          </a:prstGeom>
          <a:noFill/>
          <a:ln/>
        </p:spPr>
        <p:txBody>
          <a:bodyPr wrap="square" lIns="0" tIns="0" rIns="0" bIns="0" rtlCol="0" anchor="t"/>
          <a:lstStyle/>
          <a:p>
            <a:pPr indent="0" marL="0">
              <a:buNone/>
            </a:pPr>
            <a:r>
              <a:rPr lang="en-US" sz="2200" b="1" dirty="0">
                <a:solidFill>
                  <a:srgbClr val="0B1F3A"/>
                </a:solidFill>
              </a:rPr>
              <a:t>Normal Day</a:t>
            </a:r>
            <a:endParaRPr lang="en-US" sz="2200" dirty="0"/>
          </a:p>
        </p:txBody>
      </p:sp>
      <p:sp>
        <p:nvSpPr>
          <p:cNvPr id="21" name="Shape 18"/>
          <p:cNvSpPr/>
          <p:nvPr/>
        </p:nvSpPr>
        <p:spPr>
          <a:xfrm>
            <a:off x="10378440" y="1764792"/>
            <a:ext cx="1051560" cy="365760"/>
          </a:xfrm>
          <a:prstGeom prst="roundRect">
            <a:avLst>
              <a:gd name="adj" fmla="val 50000"/>
            </a:avLst>
          </a:prstGeom>
          <a:solidFill>
            <a:srgbClr val="198038"/>
          </a:solidFill>
          <a:ln w="6350">
            <a:solidFill>
              <a:srgbClr val="198038"/>
            </a:solidFill>
            <a:prstDash val="solid"/>
          </a:ln>
        </p:spPr>
      </p:sp>
      <p:sp>
        <p:nvSpPr>
          <p:cNvPr id="22" name="Text 19"/>
          <p:cNvSpPr txBox="1"/>
          <p:nvPr/>
        </p:nvSpPr>
        <p:spPr>
          <a:xfrm>
            <a:off x="10378440" y="1764792"/>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rPr>
              <a:t>APPROVE</a:t>
            </a:r>
            <a:endParaRPr lang="en-US" sz="1200" dirty="0"/>
          </a:p>
        </p:txBody>
      </p:sp>
      <p:sp>
        <p:nvSpPr>
          <p:cNvPr id="23" name="Text 20"/>
          <p:cNvSpPr txBox="1"/>
          <p:nvPr/>
        </p:nvSpPr>
        <p:spPr>
          <a:xfrm>
            <a:off x="8275320" y="2377440"/>
            <a:ext cx="3154680" cy="914400"/>
          </a:xfrm>
          <a:prstGeom prst="rect">
            <a:avLst/>
          </a:prstGeom>
          <a:noFill/>
          <a:ln/>
        </p:spPr>
        <p:txBody>
          <a:bodyPr wrap="square" lIns="0" tIns="0" rIns="0" bIns="0" rtlCol="0" anchor="t"/>
          <a:lstStyle/>
          <a:p>
            <a:pPr indent="0" marL="0">
              <a:buNone/>
            </a:pPr>
            <a:r>
              <a:rPr lang="en-US" sz="1500" dirty="0">
                <a:solidFill>
                  <a:srgbClr val="1B2430"/>
                </a:solidFill>
              </a:rPr>
              <a:t>245 of 252 payments are approved with no extra step.</a:t>
            </a:r>
            <a:endParaRPr lang="en-US" sz="1500" dirty="0"/>
          </a:p>
        </p:txBody>
      </p:sp>
      <p:sp>
        <p:nvSpPr>
          <p:cNvPr id="24" name="Text 21"/>
          <p:cNvSpPr txBox="1"/>
          <p:nvPr/>
        </p:nvSpPr>
        <p:spPr>
          <a:xfrm>
            <a:off x="8275320" y="3429000"/>
            <a:ext cx="3154680" cy="731520"/>
          </a:xfrm>
          <a:prstGeom prst="rect">
            <a:avLst/>
          </a:prstGeom>
          <a:noFill/>
          <a:ln/>
        </p:spPr>
        <p:txBody>
          <a:bodyPr wrap="square" lIns="0" tIns="0" rIns="0" bIns="0" rtlCol="0" anchor="t"/>
          <a:lstStyle/>
          <a:p>
            <a:pPr indent="0" marL="0">
              <a:buNone/>
            </a:pPr>
            <a:r>
              <a:rPr lang="en-US" sz="1400" b="1" dirty="0">
                <a:solidFill>
                  <a:srgbClr val="198038"/>
                </a:solidFill>
              </a:rPr>
              <a:t>Honest customers are not blocked.</a:t>
            </a:r>
            <a:endParaRPr lang="en-US" sz="1400" dirty="0"/>
          </a:p>
        </p:txBody>
      </p:sp>
      <p:sp>
        <p:nvSpPr>
          <p:cNvPr id="25" name="alert-example"/>
          <p:cNvSpPr/>
          <p:nvPr/>
        </p:nvSpPr>
        <p:spPr>
          <a:xfrm>
            <a:off x="548640" y="4572000"/>
            <a:ext cx="11091672" cy="1280160"/>
          </a:xfrm>
          <a:prstGeom prst="roundRect">
            <a:avLst>
              <a:gd name="adj" fmla="val 5714"/>
            </a:avLst>
          </a:prstGeom>
          <a:solidFill>
            <a:srgbClr val="F2F4F8"/>
          </a:solidFill>
          <a:ln w="9525">
            <a:solidFill>
              <a:srgbClr val="C9D1DC"/>
            </a:solidFill>
            <a:prstDash val="solid"/>
          </a:ln>
        </p:spPr>
      </p:sp>
      <p:sp>
        <p:nvSpPr>
          <p:cNvPr id="26" name="Text 23"/>
          <p:cNvSpPr txBox="1"/>
          <p:nvPr/>
        </p:nvSpPr>
        <p:spPr>
          <a:xfrm>
            <a:off x="777240" y="4663440"/>
            <a:ext cx="7315200" cy="274320"/>
          </a:xfrm>
          <a:prstGeom prst="rect">
            <a:avLst/>
          </a:prstGeom>
          <a:noFill/>
          <a:ln/>
        </p:spPr>
        <p:txBody>
          <a:bodyPr wrap="square" lIns="0" tIns="0" rIns="0" bIns="0" rtlCol="0" anchor="t"/>
          <a:lstStyle/>
          <a:p>
            <a:pPr indent="0" marL="0">
              <a:buNone/>
            </a:pPr>
            <a:r>
              <a:rPr lang="en-US" sz="1100" b="1" spc="100" kern="0" dirty="0">
                <a:solidFill>
                  <a:srgbClr val="0F62FE"/>
                </a:solidFill>
              </a:rPr>
              <a:t>ALERT TEXT FOR THE HELD PAYMENT, AS PRODUCED</a:t>
            </a:r>
            <a:endParaRPr lang="en-US" sz="1100" dirty="0"/>
          </a:p>
        </p:txBody>
      </p:sp>
      <p:sp>
        <p:nvSpPr>
          <p:cNvPr id="27" name="Text 24"/>
          <p:cNvSpPr txBox="1"/>
          <p:nvPr/>
        </p:nvSpPr>
        <p:spPr>
          <a:xfrm>
            <a:off x="777240" y="4956048"/>
            <a:ext cx="10607040" cy="822960"/>
          </a:xfrm>
          <a:prstGeom prst="rect">
            <a:avLst/>
          </a:prstGeom>
          <a:noFill/>
          <a:ln/>
        </p:spPr>
        <p:txBody>
          <a:bodyPr wrap="square" lIns="0" tIns="0" rIns="0" bIns="0" rtlCol="0" anchor="t"/>
          <a:lstStyle/>
          <a:p>
            <a:pPr indent="0" marL="0">
              <a:buNone/>
            </a:pPr>
            <a:r>
              <a:rPr lang="en-US" sz="1400" i="1" dirty="0">
                <a:solidFill>
                  <a:srgbClr val="0B1F3A"/>
                </a:solidFill>
              </a:rPr>
              <a:t>“We paused a payment of ₹48,000 for a safety review. Reason: account emptied in one transfer, new recipient, large payment at an unusual hour. Our team will contact you. Never share your OTP or PIN.”</a:t>
            </a:r>
            <a:endParaRPr lang="en-US" sz="1400" dirty="0"/>
          </a:p>
        </p:txBody>
      </p:sp>
      <p:sp>
        <p:nvSpPr>
          <p:cNvPr id="28" name="Text 25"/>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50" i="1" dirty="0">
                <a:solidFill>
                  <a:srgbClr val="5F6B7A"/>
                </a:solidFill>
              </a:rPr>
              <a:t>Data: the synthetic sample stream in the repo (docs/samples/sample_stream.csv), 252 payments. Amounts are synthetic.</a:t>
            </a:r>
            <a:endParaRPr lang="en-US" sz="105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One short path from payment to decision, with every step logged.</a:t>
            </a:r>
            <a:endParaRPr lang="en-US" sz="2400" dirty="0"/>
          </a:p>
        </p:txBody>
      </p:sp>
      <p:sp>
        <p:nvSpPr>
          <p:cNvPr id="4" name="arch-Stream"/>
          <p:cNvSpPr/>
          <p:nvPr/>
        </p:nvSpPr>
        <p:spPr>
          <a:xfrm>
            <a:off x="548640" y="1691640"/>
            <a:ext cx="2011680" cy="1097280"/>
          </a:xfrm>
          <a:prstGeom prst="roundRect">
            <a:avLst>
              <a:gd name="adj" fmla="val 6667"/>
            </a:avLst>
          </a:prstGeom>
          <a:solidFill>
            <a:srgbClr val="FFFFFF"/>
          </a:solidFill>
          <a:ln w="12700">
            <a:solidFill>
              <a:srgbClr val="C9D1DC"/>
            </a:solidFill>
            <a:prstDash val="solid"/>
          </a:ln>
        </p:spPr>
      </p:sp>
      <p:sp>
        <p:nvSpPr>
          <p:cNvPr id="5" name="Text 2"/>
          <p:cNvSpPr txBox="1"/>
          <p:nvPr/>
        </p:nvSpPr>
        <p:spPr>
          <a:xfrm>
            <a:off x="640080" y="1764792"/>
            <a:ext cx="1828800" cy="950976"/>
          </a:xfrm>
          <a:prstGeom prst="rect">
            <a:avLst/>
          </a:prstGeom>
          <a:noFill/>
          <a:ln/>
        </p:spPr>
        <p:txBody>
          <a:bodyPr wrap="square" lIns="0" tIns="0" rIns="0" bIns="0" rtlCol="0" anchor="ctr"/>
          <a:lstStyle/>
          <a:p>
            <a:pPr algn="ctr" indent="0" marL="0">
              <a:buNone/>
            </a:pPr>
            <a:r>
              <a:rPr lang="en-US" sz="1500" b="1" dirty="0">
                <a:solidFill>
                  <a:srgbClr val="1B2430"/>
                </a:solidFill>
              </a:rPr>
              <a:t>Stream</a:t>
            </a:r>
            <a:endParaRPr lang="en-US" sz="1400" dirty="0"/>
          </a:p>
          <a:p>
            <a:pPr algn="ctr" indent="0" marL="0">
              <a:buNone/>
            </a:pPr>
            <a:r>
              <a:rPr lang="en-US" sz="1150" dirty="0">
                <a:solidFill>
                  <a:srgbClr val="5F6B7A"/>
                </a:solidFill>
              </a:rPr>
              <a:t>producer.py replays payments</a:t>
            </a:r>
            <a:endParaRPr lang="en-US" sz="1400" dirty="0"/>
          </a:p>
        </p:txBody>
      </p:sp>
      <p:sp>
        <p:nvSpPr>
          <p:cNvPr id="6" name="Shape 3"/>
          <p:cNvSpPr/>
          <p:nvPr/>
        </p:nvSpPr>
        <p:spPr>
          <a:xfrm>
            <a:off x="2578608" y="2240280"/>
            <a:ext cx="219456" cy="0"/>
          </a:xfrm>
          <a:prstGeom prst="line">
            <a:avLst/>
          </a:prstGeom>
          <a:noFill/>
          <a:ln w="25400">
            <a:solidFill>
              <a:srgbClr val="5F6B7A"/>
            </a:solidFill>
            <a:prstDash val="solid"/>
            <a:tailEnd type="triangle"/>
          </a:ln>
        </p:spPr>
      </p:sp>
      <p:sp>
        <p:nvSpPr>
          <p:cNvPr id="7" name="arch-POST /score"/>
          <p:cNvSpPr/>
          <p:nvPr/>
        </p:nvSpPr>
        <p:spPr>
          <a:xfrm>
            <a:off x="2816352" y="1691640"/>
            <a:ext cx="2011680" cy="1097280"/>
          </a:xfrm>
          <a:prstGeom prst="roundRect">
            <a:avLst>
              <a:gd name="adj" fmla="val 6667"/>
            </a:avLst>
          </a:prstGeom>
          <a:solidFill>
            <a:srgbClr val="FFFFFF"/>
          </a:solidFill>
          <a:ln w="12700">
            <a:solidFill>
              <a:srgbClr val="C9D1DC"/>
            </a:solidFill>
            <a:prstDash val="solid"/>
          </a:ln>
        </p:spPr>
      </p:sp>
      <p:sp>
        <p:nvSpPr>
          <p:cNvPr id="8" name="Text 5"/>
          <p:cNvSpPr txBox="1"/>
          <p:nvPr/>
        </p:nvSpPr>
        <p:spPr>
          <a:xfrm>
            <a:off x="2907792" y="1764792"/>
            <a:ext cx="1828800" cy="950976"/>
          </a:xfrm>
          <a:prstGeom prst="rect">
            <a:avLst/>
          </a:prstGeom>
          <a:noFill/>
          <a:ln/>
        </p:spPr>
        <p:txBody>
          <a:bodyPr wrap="square" lIns="0" tIns="0" rIns="0" bIns="0" rtlCol="0" anchor="ctr"/>
          <a:lstStyle/>
          <a:p>
            <a:pPr algn="ctr" indent="0" marL="0">
              <a:buNone/>
            </a:pPr>
            <a:r>
              <a:rPr lang="en-US" sz="1500" b="1" dirty="0">
                <a:solidFill>
                  <a:srgbClr val="1B2430"/>
                </a:solidFill>
              </a:rPr>
              <a:t>POST /score</a:t>
            </a:r>
            <a:endParaRPr lang="en-US" sz="1400" dirty="0"/>
          </a:p>
          <a:p>
            <a:pPr algn="ctr" indent="0" marL="0">
              <a:buNone/>
            </a:pPr>
            <a:r>
              <a:rPr lang="en-US" sz="1150" dirty="0">
                <a:solidFill>
                  <a:srgbClr val="5F6B7A"/>
                </a:solidFill>
              </a:rPr>
              <a:t>FastAPI scoring service</a:t>
            </a:r>
            <a:endParaRPr lang="en-US" sz="1400" dirty="0"/>
          </a:p>
        </p:txBody>
      </p:sp>
      <p:sp>
        <p:nvSpPr>
          <p:cNvPr id="9" name="Shape 6"/>
          <p:cNvSpPr/>
          <p:nvPr/>
        </p:nvSpPr>
        <p:spPr>
          <a:xfrm>
            <a:off x="4846320" y="2240280"/>
            <a:ext cx="219456" cy="0"/>
          </a:xfrm>
          <a:prstGeom prst="line">
            <a:avLst/>
          </a:prstGeom>
          <a:noFill/>
          <a:ln w="25400">
            <a:solidFill>
              <a:srgbClr val="5F6B7A"/>
            </a:solidFill>
            <a:prstDash val="solid"/>
            <a:tailEnd type="triangle"/>
          </a:ln>
        </p:spPr>
      </p:sp>
      <p:sp>
        <p:nvSpPr>
          <p:cNvPr id="10" name="arch-Live features"/>
          <p:cNvSpPr/>
          <p:nvPr/>
        </p:nvSpPr>
        <p:spPr>
          <a:xfrm>
            <a:off x="5084064" y="1691640"/>
            <a:ext cx="2011680" cy="1097280"/>
          </a:xfrm>
          <a:prstGeom prst="roundRect">
            <a:avLst>
              <a:gd name="adj" fmla="val 6667"/>
            </a:avLst>
          </a:prstGeom>
          <a:solidFill>
            <a:srgbClr val="FFFFFF"/>
          </a:solidFill>
          <a:ln w="12700">
            <a:solidFill>
              <a:srgbClr val="C9D1DC"/>
            </a:solidFill>
            <a:prstDash val="solid"/>
          </a:ln>
        </p:spPr>
      </p:sp>
      <p:sp>
        <p:nvSpPr>
          <p:cNvPr id="11" name="Text 8"/>
          <p:cNvSpPr txBox="1"/>
          <p:nvPr/>
        </p:nvSpPr>
        <p:spPr>
          <a:xfrm>
            <a:off x="5175504" y="1764792"/>
            <a:ext cx="1828800" cy="950976"/>
          </a:xfrm>
          <a:prstGeom prst="rect">
            <a:avLst/>
          </a:prstGeom>
          <a:noFill/>
          <a:ln/>
        </p:spPr>
        <p:txBody>
          <a:bodyPr wrap="square" lIns="0" tIns="0" rIns="0" bIns="0" rtlCol="0" anchor="ctr"/>
          <a:lstStyle/>
          <a:p>
            <a:pPr algn="ctr" indent="0" marL="0">
              <a:buNone/>
            </a:pPr>
            <a:r>
              <a:rPr lang="en-US" sz="1500" b="1" dirty="0">
                <a:solidFill>
                  <a:srgbClr val="1B2430"/>
                </a:solidFill>
              </a:rPr>
              <a:t>Live features</a:t>
            </a:r>
            <a:endParaRPr lang="en-US" sz="1400" dirty="0"/>
          </a:p>
          <a:p>
            <a:pPr algn="ctr" indent="0" marL="0">
              <a:buNone/>
            </a:pPr>
            <a:r>
              <a:rPr lang="en-US" sz="1150" dirty="0">
                <a:solidFill>
                  <a:srgbClr val="5F6B7A"/>
                </a:solidFill>
              </a:rPr>
              <a:t>payment + past events only</a:t>
            </a:r>
            <a:endParaRPr lang="en-US" sz="1400" dirty="0"/>
          </a:p>
        </p:txBody>
      </p:sp>
      <p:sp>
        <p:nvSpPr>
          <p:cNvPr id="12" name="Shape 9"/>
          <p:cNvSpPr/>
          <p:nvPr/>
        </p:nvSpPr>
        <p:spPr>
          <a:xfrm>
            <a:off x="7114032" y="2240280"/>
            <a:ext cx="219456" cy="0"/>
          </a:xfrm>
          <a:prstGeom prst="line">
            <a:avLst/>
          </a:prstGeom>
          <a:noFill/>
          <a:ln w="25400">
            <a:solidFill>
              <a:srgbClr val="5F6B7A"/>
            </a:solidFill>
            <a:prstDash val="solid"/>
            <a:tailEnd type="triangle"/>
          </a:ln>
        </p:spPr>
      </p:sp>
      <p:sp>
        <p:nvSpPr>
          <p:cNvPr id="13" name="arch-Scorer"/>
          <p:cNvSpPr/>
          <p:nvPr/>
        </p:nvSpPr>
        <p:spPr>
          <a:xfrm>
            <a:off x="7351776" y="1691640"/>
            <a:ext cx="2011680" cy="1097280"/>
          </a:xfrm>
          <a:prstGeom prst="roundRect">
            <a:avLst>
              <a:gd name="adj" fmla="val 6667"/>
            </a:avLst>
          </a:prstGeom>
          <a:solidFill>
            <a:srgbClr val="0F62FE"/>
          </a:solidFill>
          <a:ln w="12700">
            <a:solidFill>
              <a:srgbClr val="0F62FE"/>
            </a:solidFill>
            <a:prstDash val="solid"/>
          </a:ln>
        </p:spPr>
      </p:sp>
      <p:sp>
        <p:nvSpPr>
          <p:cNvPr id="14" name="Text 11"/>
          <p:cNvSpPr txBox="1"/>
          <p:nvPr/>
        </p:nvSpPr>
        <p:spPr>
          <a:xfrm>
            <a:off x="7443216" y="1764792"/>
            <a:ext cx="1828800" cy="950976"/>
          </a:xfrm>
          <a:prstGeom prst="rect">
            <a:avLst/>
          </a:prstGeom>
          <a:noFill/>
          <a:ln/>
        </p:spPr>
        <p:txBody>
          <a:bodyPr wrap="square" lIns="0" tIns="0" rIns="0" bIns="0" rtlCol="0" anchor="ctr"/>
          <a:lstStyle/>
          <a:p>
            <a:pPr algn="ctr" indent="0" marL="0">
              <a:buNone/>
            </a:pPr>
            <a:r>
              <a:rPr lang="en-US" sz="1500" b="1" dirty="0">
                <a:solidFill>
                  <a:srgbClr val="FFFFFF"/>
                </a:solidFill>
              </a:rPr>
              <a:t>Scorer</a:t>
            </a:r>
            <a:endParaRPr lang="en-US" sz="1400" dirty="0"/>
          </a:p>
          <a:p>
            <a:pPr algn="ctr" indent="0" marL="0">
              <a:buNone/>
            </a:pPr>
            <a:r>
              <a:rPr lang="en-US" sz="1150" dirty="0">
                <a:solidFill>
                  <a:srgbClr val="DCE6F7"/>
                </a:solidFill>
              </a:rPr>
              <a:t>risk score 0 to 1</a:t>
            </a:r>
            <a:endParaRPr lang="en-US" sz="1400" dirty="0"/>
          </a:p>
        </p:txBody>
      </p:sp>
      <p:sp>
        <p:nvSpPr>
          <p:cNvPr id="15" name="Shape 12"/>
          <p:cNvSpPr/>
          <p:nvPr/>
        </p:nvSpPr>
        <p:spPr>
          <a:xfrm>
            <a:off x="9381744" y="2240280"/>
            <a:ext cx="219456" cy="0"/>
          </a:xfrm>
          <a:prstGeom prst="line">
            <a:avLst/>
          </a:prstGeom>
          <a:noFill/>
          <a:ln w="25400">
            <a:solidFill>
              <a:srgbClr val="5F6B7A"/>
            </a:solidFill>
            <a:prstDash val="solid"/>
            <a:tailEnd type="triangle"/>
          </a:ln>
        </p:spPr>
      </p:sp>
      <p:sp>
        <p:nvSpPr>
          <p:cNvPr id="16" name="arch-Decision engine"/>
          <p:cNvSpPr/>
          <p:nvPr/>
        </p:nvSpPr>
        <p:spPr>
          <a:xfrm>
            <a:off x="9619488" y="1691640"/>
            <a:ext cx="2011680" cy="1097280"/>
          </a:xfrm>
          <a:prstGeom prst="roundRect">
            <a:avLst>
              <a:gd name="adj" fmla="val 6667"/>
            </a:avLst>
          </a:prstGeom>
          <a:solidFill>
            <a:srgbClr val="0B1F3A"/>
          </a:solidFill>
          <a:ln w="12700">
            <a:solidFill>
              <a:srgbClr val="0B1F3A"/>
            </a:solidFill>
            <a:prstDash val="solid"/>
          </a:ln>
        </p:spPr>
      </p:sp>
      <p:sp>
        <p:nvSpPr>
          <p:cNvPr id="17" name="Text 14"/>
          <p:cNvSpPr txBox="1"/>
          <p:nvPr/>
        </p:nvSpPr>
        <p:spPr>
          <a:xfrm>
            <a:off x="9710928" y="1764792"/>
            <a:ext cx="1828800" cy="950976"/>
          </a:xfrm>
          <a:prstGeom prst="rect">
            <a:avLst/>
          </a:prstGeom>
          <a:noFill/>
          <a:ln/>
        </p:spPr>
        <p:txBody>
          <a:bodyPr wrap="square" lIns="0" tIns="0" rIns="0" bIns="0" rtlCol="0" anchor="ctr"/>
          <a:lstStyle/>
          <a:p>
            <a:pPr algn="ctr" indent="0" marL="0">
              <a:buNone/>
            </a:pPr>
            <a:r>
              <a:rPr lang="en-US" sz="1500" b="1" dirty="0">
                <a:solidFill>
                  <a:srgbClr val="FFFFFF"/>
                </a:solidFill>
              </a:rPr>
              <a:t>Decision engine</a:t>
            </a:r>
            <a:endParaRPr lang="en-US" sz="1400" dirty="0"/>
          </a:p>
          <a:p>
            <a:pPr algn="ctr" indent="0" marL="0">
              <a:buNone/>
            </a:pPr>
            <a:r>
              <a:rPr lang="en-US" sz="1150" dirty="0">
                <a:solidFill>
                  <a:srgbClr val="DCE6F7"/>
                </a:solidFill>
              </a:rPr>
              <a:t>APPROVE / STEP_UP / HOLD</a:t>
            </a:r>
            <a:endParaRPr lang="en-US" sz="1400" dirty="0"/>
          </a:p>
        </p:txBody>
      </p:sp>
      <p:sp>
        <p:nvSpPr>
          <p:cNvPr id="18" name="arch-Alert text"/>
          <p:cNvSpPr/>
          <p:nvPr/>
        </p:nvSpPr>
        <p:spPr>
          <a:xfrm>
            <a:off x="9619488" y="3749040"/>
            <a:ext cx="2011680" cy="1097280"/>
          </a:xfrm>
          <a:prstGeom prst="roundRect">
            <a:avLst>
              <a:gd name="adj" fmla="val 6667"/>
            </a:avLst>
          </a:prstGeom>
          <a:solidFill>
            <a:srgbClr val="FFFFFF"/>
          </a:solidFill>
          <a:ln w="12700">
            <a:solidFill>
              <a:srgbClr val="C9D1DC"/>
            </a:solidFill>
            <a:prstDash val="solid"/>
          </a:ln>
        </p:spPr>
      </p:sp>
      <p:sp>
        <p:nvSpPr>
          <p:cNvPr id="19" name="Text 16"/>
          <p:cNvSpPr txBox="1"/>
          <p:nvPr/>
        </p:nvSpPr>
        <p:spPr>
          <a:xfrm>
            <a:off x="9710928" y="3822192"/>
            <a:ext cx="1828800" cy="950976"/>
          </a:xfrm>
          <a:prstGeom prst="rect">
            <a:avLst/>
          </a:prstGeom>
          <a:noFill/>
          <a:ln/>
        </p:spPr>
        <p:txBody>
          <a:bodyPr wrap="square" lIns="0" tIns="0" rIns="0" bIns="0" rtlCol="0" anchor="ctr"/>
          <a:lstStyle/>
          <a:p>
            <a:pPr algn="ctr" indent="0" marL="0">
              <a:buNone/>
            </a:pPr>
            <a:r>
              <a:rPr lang="en-US" sz="1500" b="1" dirty="0">
                <a:solidFill>
                  <a:srgbClr val="1B2430"/>
                </a:solidFill>
              </a:rPr>
              <a:t>Alert text</a:t>
            </a:r>
            <a:endParaRPr lang="en-US" sz="1400" dirty="0"/>
          </a:p>
          <a:p>
            <a:pPr algn="ctr" indent="0" marL="0">
              <a:buNone/>
            </a:pPr>
            <a:r>
              <a:rPr lang="en-US" sz="1150" dirty="0">
                <a:solidFill>
                  <a:srgbClr val="5F6B7A"/>
                </a:solidFill>
              </a:rPr>
              <a:t>flagged payments only</a:t>
            </a:r>
            <a:endParaRPr lang="en-US" sz="1400" dirty="0"/>
          </a:p>
        </p:txBody>
      </p:sp>
      <p:sp>
        <p:nvSpPr>
          <p:cNvPr id="20" name="Shape 17"/>
          <p:cNvSpPr/>
          <p:nvPr/>
        </p:nvSpPr>
        <p:spPr>
          <a:xfrm flipH="1">
            <a:off x="9381744" y="4297680"/>
            <a:ext cx="219456" cy="0"/>
          </a:xfrm>
          <a:prstGeom prst="line">
            <a:avLst/>
          </a:prstGeom>
          <a:noFill/>
          <a:ln w="25400">
            <a:solidFill>
              <a:srgbClr val="5F6B7A"/>
            </a:solidFill>
            <a:prstDash val="solid"/>
            <a:tailEnd type="triangle"/>
          </a:ln>
        </p:spPr>
      </p:sp>
      <p:sp>
        <p:nvSpPr>
          <p:cNvPr id="21" name="arch-Audit log"/>
          <p:cNvSpPr/>
          <p:nvPr/>
        </p:nvSpPr>
        <p:spPr>
          <a:xfrm>
            <a:off x="7351776" y="3749040"/>
            <a:ext cx="2011680" cy="1097280"/>
          </a:xfrm>
          <a:prstGeom prst="roundRect">
            <a:avLst>
              <a:gd name="adj" fmla="val 6667"/>
            </a:avLst>
          </a:prstGeom>
          <a:solidFill>
            <a:srgbClr val="FFFFFF"/>
          </a:solidFill>
          <a:ln w="12700">
            <a:solidFill>
              <a:srgbClr val="C9D1DC"/>
            </a:solidFill>
            <a:prstDash val="solid"/>
          </a:ln>
        </p:spPr>
      </p:sp>
      <p:sp>
        <p:nvSpPr>
          <p:cNvPr id="22" name="Text 19"/>
          <p:cNvSpPr txBox="1"/>
          <p:nvPr/>
        </p:nvSpPr>
        <p:spPr>
          <a:xfrm>
            <a:off x="7443216" y="3822192"/>
            <a:ext cx="1828800" cy="950976"/>
          </a:xfrm>
          <a:prstGeom prst="rect">
            <a:avLst/>
          </a:prstGeom>
          <a:noFill/>
          <a:ln/>
        </p:spPr>
        <p:txBody>
          <a:bodyPr wrap="square" lIns="0" tIns="0" rIns="0" bIns="0" rtlCol="0" anchor="ctr"/>
          <a:lstStyle/>
          <a:p>
            <a:pPr algn="ctr" indent="0" marL="0">
              <a:buNone/>
            </a:pPr>
            <a:r>
              <a:rPr lang="en-US" sz="1500" b="1" dirty="0">
                <a:solidFill>
                  <a:srgbClr val="1B2430"/>
                </a:solidFill>
              </a:rPr>
              <a:t>Audit log</a:t>
            </a:r>
            <a:endParaRPr lang="en-US" sz="1400" dirty="0"/>
          </a:p>
          <a:p>
            <a:pPr algn="ctr" indent="0" marL="0">
              <a:buNone/>
            </a:pPr>
            <a:r>
              <a:rPr lang="en-US" sz="1150" dirty="0">
                <a:solidFill>
                  <a:srgbClr val="5F6B7A"/>
                </a:solidFill>
              </a:rPr>
              <a:t>SQLite: every decision</a:t>
            </a:r>
            <a:endParaRPr lang="en-US" sz="1400" dirty="0"/>
          </a:p>
        </p:txBody>
      </p:sp>
      <p:sp>
        <p:nvSpPr>
          <p:cNvPr id="23" name="Shape 20"/>
          <p:cNvSpPr/>
          <p:nvPr/>
        </p:nvSpPr>
        <p:spPr>
          <a:xfrm flipH="1">
            <a:off x="7114032" y="4297680"/>
            <a:ext cx="219456" cy="0"/>
          </a:xfrm>
          <a:prstGeom prst="line">
            <a:avLst/>
          </a:prstGeom>
          <a:noFill/>
          <a:ln w="25400">
            <a:solidFill>
              <a:srgbClr val="5F6B7A"/>
            </a:solidFill>
            <a:prstDash val="solid"/>
            <a:tailEnd type="triangle"/>
          </a:ln>
        </p:spPr>
      </p:sp>
      <p:sp>
        <p:nvSpPr>
          <p:cNvPr id="24" name="arch-Dashboard"/>
          <p:cNvSpPr/>
          <p:nvPr/>
        </p:nvSpPr>
        <p:spPr>
          <a:xfrm>
            <a:off x="5084064" y="3749040"/>
            <a:ext cx="2011680" cy="1097280"/>
          </a:xfrm>
          <a:prstGeom prst="roundRect">
            <a:avLst>
              <a:gd name="adj" fmla="val 6667"/>
            </a:avLst>
          </a:prstGeom>
          <a:solidFill>
            <a:srgbClr val="FFFFFF"/>
          </a:solidFill>
          <a:ln w="12700">
            <a:solidFill>
              <a:srgbClr val="C9D1DC"/>
            </a:solidFill>
            <a:prstDash val="solid"/>
          </a:ln>
        </p:spPr>
      </p:sp>
      <p:sp>
        <p:nvSpPr>
          <p:cNvPr id="25" name="Text 22"/>
          <p:cNvSpPr txBox="1"/>
          <p:nvPr/>
        </p:nvSpPr>
        <p:spPr>
          <a:xfrm>
            <a:off x="5175504" y="3822192"/>
            <a:ext cx="1828800" cy="950976"/>
          </a:xfrm>
          <a:prstGeom prst="rect">
            <a:avLst/>
          </a:prstGeom>
          <a:noFill/>
          <a:ln/>
        </p:spPr>
        <p:txBody>
          <a:bodyPr wrap="square" lIns="0" tIns="0" rIns="0" bIns="0" rtlCol="0" anchor="ctr"/>
          <a:lstStyle/>
          <a:p>
            <a:pPr algn="ctr" indent="0" marL="0">
              <a:buNone/>
            </a:pPr>
            <a:r>
              <a:rPr lang="en-US" sz="1500" b="1" dirty="0">
                <a:solidFill>
                  <a:srgbClr val="1B2430"/>
                </a:solidFill>
              </a:rPr>
              <a:t>Dashboard</a:t>
            </a:r>
            <a:endParaRPr lang="en-US" sz="1400" dirty="0"/>
          </a:p>
          <a:p>
            <a:pPr algn="ctr" indent="0" marL="0">
              <a:buNone/>
            </a:pPr>
            <a:r>
              <a:rPr lang="en-US" sz="1150" dirty="0">
                <a:solidFill>
                  <a:srgbClr val="5F6B7A"/>
                </a:solidFill>
              </a:rPr>
              <a:t>Streamlit: live feed, alerts</a:t>
            </a:r>
            <a:endParaRPr lang="en-US" sz="1400" dirty="0"/>
          </a:p>
        </p:txBody>
      </p:sp>
      <p:sp>
        <p:nvSpPr>
          <p:cNvPr id="26" name="Shape 23"/>
          <p:cNvSpPr/>
          <p:nvPr/>
        </p:nvSpPr>
        <p:spPr>
          <a:xfrm flipH="1">
            <a:off x="4846320" y="4297680"/>
            <a:ext cx="219456" cy="0"/>
          </a:xfrm>
          <a:prstGeom prst="line">
            <a:avLst/>
          </a:prstGeom>
          <a:noFill/>
          <a:ln w="25400">
            <a:solidFill>
              <a:srgbClr val="5F6B7A"/>
            </a:solidFill>
            <a:prstDash val="solid"/>
            <a:tailEnd type="triangle"/>
          </a:ln>
        </p:spPr>
      </p:sp>
      <p:sp>
        <p:nvSpPr>
          <p:cNvPr id="27" name="arch-Analyst action"/>
          <p:cNvSpPr/>
          <p:nvPr/>
        </p:nvSpPr>
        <p:spPr>
          <a:xfrm>
            <a:off x="2816352" y="3749040"/>
            <a:ext cx="2011680" cy="1097280"/>
          </a:xfrm>
          <a:prstGeom prst="roundRect">
            <a:avLst>
              <a:gd name="adj" fmla="val 6667"/>
            </a:avLst>
          </a:prstGeom>
          <a:solidFill>
            <a:srgbClr val="FFFFFF"/>
          </a:solidFill>
          <a:ln w="12700">
            <a:solidFill>
              <a:srgbClr val="C9D1DC"/>
            </a:solidFill>
            <a:prstDash val="solid"/>
          </a:ln>
        </p:spPr>
      </p:sp>
      <p:sp>
        <p:nvSpPr>
          <p:cNvPr id="28" name="Text 25"/>
          <p:cNvSpPr txBox="1"/>
          <p:nvPr/>
        </p:nvSpPr>
        <p:spPr>
          <a:xfrm>
            <a:off x="2907792" y="3822192"/>
            <a:ext cx="1828800" cy="950976"/>
          </a:xfrm>
          <a:prstGeom prst="rect">
            <a:avLst/>
          </a:prstGeom>
          <a:noFill/>
          <a:ln/>
        </p:spPr>
        <p:txBody>
          <a:bodyPr wrap="square" lIns="0" tIns="0" rIns="0" bIns="0" rtlCol="0" anchor="ctr"/>
          <a:lstStyle/>
          <a:p>
            <a:pPr algn="ctr" indent="0" marL="0">
              <a:buNone/>
            </a:pPr>
            <a:r>
              <a:rPr lang="en-US" sz="1500" b="1" dirty="0">
                <a:solidFill>
                  <a:srgbClr val="1B2430"/>
                </a:solidFill>
              </a:rPr>
              <a:t>Analyst action</a:t>
            </a:r>
            <a:endParaRPr lang="en-US" sz="1400" dirty="0"/>
          </a:p>
          <a:p>
            <a:pPr algn="ctr" indent="0" marL="0">
              <a:buNone/>
            </a:pPr>
            <a:r>
              <a:rPr lang="en-US" sz="1150" dirty="0">
                <a:solidFill>
                  <a:srgbClr val="5F6B7A"/>
                </a:solidFill>
              </a:rPr>
              <a:t>POST /analyst_action</a:t>
            </a:r>
            <a:endParaRPr lang="en-US" sz="1400" dirty="0"/>
          </a:p>
        </p:txBody>
      </p:sp>
      <p:sp>
        <p:nvSpPr>
          <p:cNvPr id="29" name="Shape 26"/>
          <p:cNvSpPr/>
          <p:nvPr/>
        </p:nvSpPr>
        <p:spPr>
          <a:xfrm>
            <a:off x="10625328" y="2807208"/>
            <a:ext cx="0" cy="923544"/>
          </a:xfrm>
          <a:prstGeom prst="line">
            <a:avLst/>
          </a:prstGeom>
          <a:noFill/>
          <a:ln w="25400">
            <a:solidFill>
              <a:srgbClr val="5F6B7A"/>
            </a:solidFill>
            <a:prstDash val="solid"/>
            <a:tailEnd type="triangle"/>
          </a:ln>
        </p:spPr>
      </p:sp>
      <p:sp>
        <p:nvSpPr>
          <p:cNvPr id="30" name="Text 27"/>
          <p:cNvSpPr txBox="1"/>
          <p:nvPr/>
        </p:nvSpPr>
        <p:spPr>
          <a:xfrm>
            <a:off x="548640" y="5029200"/>
            <a:ext cx="11091672" cy="365760"/>
          </a:xfrm>
          <a:prstGeom prst="rect">
            <a:avLst/>
          </a:prstGeom>
          <a:noFill/>
          <a:ln/>
        </p:spPr>
        <p:txBody>
          <a:bodyPr wrap="square" lIns="0" tIns="0" rIns="0" bIns="0" rtlCol="0" anchor="t"/>
          <a:lstStyle/>
          <a:p>
            <a:pPr indent="0" marL="0">
              <a:buNone/>
            </a:pPr>
            <a:r>
              <a:rPr lang="en-US" sz="1400" b="1" dirty="0">
                <a:solidFill>
                  <a:srgbClr val="0B1F3A"/>
                </a:solidFill>
              </a:rPr>
              <a:t>Decision engine → alert text → audit log → dashboard. The analyst acts from the dashboard and the action is logged.</a:t>
            </a:r>
            <a:endParaRPr lang="en-US" sz="1400" dirty="0"/>
          </a:p>
        </p:txBody>
      </p:sp>
      <p:sp>
        <p:nvSpPr>
          <p:cNvPr id="31" name="Text 28"/>
          <p:cNvSpPr txBox="1"/>
          <p:nvPr/>
        </p:nvSpPr>
        <p:spPr>
          <a:xfrm>
            <a:off x="548640" y="5440680"/>
            <a:ext cx="11091672" cy="365760"/>
          </a:xfrm>
          <a:prstGeom prst="rect">
            <a:avLst/>
          </a:prstGeom>
          <a:noFill/>
          <a:ln/>
        </p:spPr>
        <p:txBody>
          <a:bodyPr wrap="square" lIns="0" tIns="0" rIns="0" bIns="0" rtlCol="0" anchor="t"/>
          <a:lstStyle/>
          <a:p>
            <a:pPr indent="0" marL="0">
              <a:buNone/>
            </a:pPr>
            <a:r>
              <a:rPr lang="en-US" sz="1400" b="1" dirty="0">
                <a:solidFill>
                  <a:srgbClr val="DA1E28"/>
                </a:solidFill>
              </a:rPr>
              <a:t>Fail-safe: </a:t>
            </a:r>
            <a:pPr indent="0" marL="0">
              <a:buNone/>
            </a:pPr>
            <a:r>
              <a:rPr lang="en-US" sz="1400" dirty="0">
                <a:solidFill>
                  <a:srgbClr val="1B2430"/>
                </a:solidFill>
              </a:rPr>
              <a:t>if scoring fails, the result is STEP_UP and the error is stored. Never a silent approve.</a:t>
            </a:r>
            <a:endParaRPr lang="en-US" sz="1400" dirty="0"/>
          </a:p>
        </p:txBody>
      </p:sp>
      <p:sp>
        <p:nvSpPr>
          <p:cNvPr id="32" name="Text 29"/>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50" i="1" dirty="0">
                <a:solidFill>
                  <a:srgbClr val="5F6B7A"/>
                </a:solidFill>
              </a:rPr>
              <a:t>Live features use the payment itself and past events only; the current payment is added to history after its features are computed. The API loads an ONNX model file from artifacts/ when one is provided.</a:t>
            </a:r>
            <a:endParaRPr lang="en-US" sz="105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Synthetic payments, and features built only from what is known at the moment of payment.</a:t>
            </a:r>
            <a:endParaRPr lang="en-US" sz="2400" dirty="0"/>
          </a:p>
        </p:txBody>
      </p:sp>
      <p:sp>
        <p:nvSpPr>
          <p:cNvPr id="4" name="Text 1"/>
          <p:cNvSpPr txBox="1"/>
          <p:nvPr/>
        </p:nvSpPr>
        <p:spPr>
          <a:xfrm>
            <a:off x="548640" y="1508760"/>
            <a:ext cx="1371600" cy="365760"/>
          </a:xfrm>
          <a:prstGeom prst="rect">
            <a:avLst/>
          </a:prstGeom>
          <a:noFill/>
          <a:ln/>
        </p:spPr>
        <p:txBody>
          <a:bodyPr wrap="square" lIns="0" tIns="0" rIns="0" bIns="0" rtlCol="0" anchor="t"/>
          <a:lstStyle/>
          <a:p>
            <a:pPr indent="0" marL="0">
              <a:buNone/>
            </a:pPr>
            <a:r>
              <a:rPr lang="en-US" sz="1500" b="1" dirty="0">
                <a:solidFill>
                  <a:srgbClr val="0F62FE"/>
                </a:solidFill>
              </a:rPr>
              <a:t>Data</a:t>
            </a:r>
            <a:endParaRPr lang="en-US" sz="1500" dirty="0"/>
          </a:p>
        </p:txBody>
      </p:sp>
      <p:sp>
        <p:nvSpPr>
          <p:cNvPr id="5" name="Text 2"/>
          <p:cNvSpPr txBox="1"/>
          <p:nvPr/>
        </p:nvSpPr>
        <p:spPr>
          <a:xfrm>
            <a:off x="1874520" y="1508760"/>
            <a:ext cx="4206240" cy="960120"/>
          </a:xfrm>
          <a:prstGeom prst="rect">
            <a:avLst/>
          </a:prstGeom>
          <a:noFill/>
          <a:ln/>
        </p:spPr>
        <p:txBody>
          <a:bodyPr wrap="square" lIns="0" tIns="0" rIns="0" bIns="0" rtlCol="0" anchor="t"/>
          <a:lstStyle/>
          <a:p>
            <a:pPr indent="0" marL="0">
              <a:buNone/>
            </a:pPr>
            <a:r>
              <a:rPr lang="en-US" sz="1400" dirty="0">
                <a:solidFill>
                  <a:srgbClr val="1B2430"/>
                </a:solidFill>
              </a:rPr>
              <a:t>PaySim: synthetic mobile-money transactions. No real customers, names or demographics.</a:t>
            </a:r>
            <a:endParaRPr lang="en-US" sz="1400" dirty="0"/>
          </a:p>
        </p:txBody>
      </p:sp>
      <p:sp>
        <p:nvSpPr>
          <p:cNvPr id="6" name="Text 3"/>
          <p:cNvSpPr txBox="1"/>
          <p:nvPr/>
        </p:nvSpPr>
        <p:spPr>
          <a:xfrm>
            <a:off x="548640" y="2606040"/>
            <a:ext cx="1371600" cy="365760"/>
          </a:xfrm>
          <a:prstGeom prst="rect">
            <a:avLst/>
          </a:prstGeom>
          <a:noFill/>
          <a:ln/>
        </p:spPr>
        <p:txBody>
          <a:bodyPr wrap="square" lIns="0" tIns="0" rIns="0" bIns="0" rtlCol="0" anchor="t"/>
          <a:lstStyle/>
          <a:p>
            <a:pPr indent="0" marL="0">
              <a:buNone/>
            </a:pPr>
            <a:r>
              <a:rPr lang="en-US" sz="1500" b="1" dirty="0">
                <a:solidFill>
                  <a:srgbClr val="0F62FE"/>
                </a:solidFill>
              </a:rPr>
              <a:t>Split</a:t>
            </a:r>
            <a:endParaRPr lang="en-US" sz="1500" dirty="0"/>
          </a:p>
        </p:txBody>
      </p:sp>
      <p:sp>
        <p:nvSpPr>
          <p:cNvPr id="7" name="Text 4"/>
          <p:cNvSpPr txBox="1"/>
          <p:nvPr/>
        </p:nvSpPr>
        <p:spPr>
          <a:xfrm>
            <a:off x="1874520" y="2606040"/>
            <a:ext cx="4206240" cy="960120"/>
          </a:xfrm>
          <a:prstGeom prst="rect">
            <a:avLst/>
          </a:prstGeom>
          <a:noFill/>
          <a:ln/>
        </p:spPr>
        <p:txBody>
          <a:bodyPr wrap="square" lIns="0" tIns="0" rIns="0" bIns="0" rtlCol="0" anchor="t"/>
          <a:lstStyle/>
          <a:p>
            <a:pPr indent="0" marL="0">
              <a:buNone/>
            </a:pPr>
            <a:r>
              <a:rPr lang="en-US" sz="1400" dirty="0">
                <a:solidFill>
                  <a:srgbClr val="1B2430"/>
                </a:solidFill>
              </a:rPr>
              <a:t>By time: train on early steps, validate on middle steps, test on the latest. Never a random split.</a:t>
            </a:r>
            <a:endParaRPr lang="en-US" sz="1400" dirty="0"/>
          </a:p>
        </p:txBody>
      </p:sp>
      <p:sp>
        <p:nvSpPr>
          <p:cNvPr id="8" name="Text 5"/>
          <p:cNvSpPr txBox="1"/>
          <p:nvPr/>
        </p:nvSpPr>
        <p:spPr>
          <a:xfrm>
            <a:off x="548640" y="3703320"/>
            <a:ext cx="1371600" cy="365760"/>
          </a:xfrm>
          <a:prstGeom prst="rect">
            <a:avLst/>
          </a:prstGeom>
          <a:noFill/>
          <a:ln/>
        </p:spPr>
        <p:txBody>
          <a:bodyPr wrap="square" lIns="0" tIns="0" rIns="0" bIns="0" rtlCol="0" anchor="t"/>
          <a:lstStyle/>
          <a:p>
            <a:pPr indent="0" marL="0">
              <a:buNone/>
            </a:pPr>
            <a:r>
              <a:rPr lang="en-US" sz="1500" b="1" dirty="0">
                <a:solidFill>
                  <a:srgbClr val="0F62FE"/>
                </a:solidFill>
              </a:rPr>
              <a:t>No leakage</a:t>
            </a:r>
            <a:endParaRPr lang="en-US" sz="1500" dirty="0"/>
          </a:p>
        </p:txBody>
      </p:sp>
      <p:sp>
        <p:nvSpPr>
          <p:cNvPr id="9" name="Text 6"/>
          <p:cNvSpPr txBox="1"/>
          <p:nvPr/>
        </p:nvSpPr>
        <p:spPr>
          <a:xfrm>
            <a:off x="1874520" y="3703320"/>
            <a:ext cx="4206240" cy="960120"/>
          </a:xfrm>
          <a:prstGeom prst="rect">
            <a:avLst/>
          </a:prstGeom>
          <a:noFill/>
          <a:ln/>
        </p:spPr>
        <p:txBody>
          <a:bodyPr wrap="square" lIns="0" tIns="0" rIns="0" bIns="0" rtlCol="0" anchor="t"/>
          <a:lstStyle/>
          <a:p>
            <a:pPr indent="0" marL="0">
              <a:buNone/>
            </a:pPr>
            <a:r>
              <a:rPr lang="en-US" sz="1400" dirty="0">
                <a:solidFill>
                  <a:srgbClr val="1B2430"/>
                </a:solidFill>
              </a:rPr>
              <a:t>Every feature is computable at the moment of payment. History is updated after scoring.</a:t>
            </a:r>
            <a:endParaRPr lang="en-US" sz="1400" dirty="0"/>
          </a:p>
        </p:txBody>
      </p:sp>
      <p:sp>
        <p:nvSpPr>
          <p:cNvPr id="10" name="Text 7"/>
          <p:cNvSpPr txBox="1"/>
          <p:nvPr/>
        </p:nvSpPr>
        <p:spPr>
          <a:xfrm>
            <a:off x="548640" y="4800600"/>
            <a:ext cx="1371600" cy="365760"/>
          </a:xfrm>
          <a:prstGeom prst="rect">
            <a:avLst/>
          </a:prstGeom>
          <a:noFill/>
          <a:ln/>
        </p:spPr>
        <p:txBody>
          <a:bodyPr wrap="square" lIns="0" tIns="0" rIns="0" bIns="0" rtlCol="0" anchor="t"/>
          <a:lstStyle/>
          <a:p>
            <a:pPr indent="0" marL="0">
              <a:buNone/>
            </a:pPr>
            <a:r>
              <a:rPr lang="en-US" sz="1500" b="1" dirty="0">
                <a:solidFill>
                  <a:srgbClr val="0F62FE"/>
                </a:solidFill>
              </a:rPr>
              <a:t>Imbalance</a:t>
            </a:r>
            <a:endParaRPr lang="en-US" sz="1500" dirty="0"/>
          </a:p>
        </p:txBody>
      </p:sp>
      <p:sp>
        <p:nvSpPr>
          <p:cNvPr id="11" name="Text 8"/>
          <p:cNvSpPr txBox="1"/>
          <p:nvPr/>
        </p:nvSpPr>
        <p:spPr>
          <a:xfrm>
            <a:off x="1874520" y="4800600"/>
            <a:ext cx="4206240" cy="960120"/>
          </a:xfrm>
          <a:prstGeom prst="rect">
            <a:avLst/>
          </a:prstGeom>
          <a:noFill/>
          <a:ln/>
        </p:spPr>
        <p:txBody>
          <a:bodyPr wrap="square" lIns="0" tIns="0" rIns="0" bIns="0" rtlCol="0" anchor="t"/>
          <a:lstStyle/>
          <a:p>
            <a:pPr indent="0" marL="0">
              <a:buNone/>
            </a:pPr>
            <a:r>
              <a:rPr lang="en-US" sz="1400" dirty="0">
                <a:solidFill>
                  <a:srgbClr val="1B2430"/>
                </a:solidFill>
              </a:rPr>
              <a:t>Fraud is rare, so we use class weights and judge by PR-AUC and recall at a fixed false-positive rate, not accuracy.</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355080" y="1508760"/>
          <a:ext cx="5285232" cy="914400"/>
        </p:xfrm>
        <a:graphic>
          <a:graphicData uri="http://schemas.openxmlformats.org/drawingml/2006/table">
            <a:tbl>
              <a:tblPr/>
              <a:tblGrid>
                <a:gridCol w="2103120"/>
                <a:gridCol w="3182112"/>
              </a:tblGrid>
              <a:tr h="457200">
                <a:tc>
                  <a:txBody>
                    <a:bodyPr/>
                    <a:lstStyle/>
                    <a:p>
                      <a:pPr indent="0" marL="0">
                        <a:buNone/>
                      </a:pPr>
                      <a:r>
                        <a:rPr lang="en-US" sz="1300" b="1" dirty="0">
                          <a:solidFill>
                            <a:srgbClr val="FFFFFF"/>
                          </a:solidFill>
                        </a:rPr>
                        <a:t>Feature</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rPr>
                        <a:t>Plain meaning</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0B1F3A"/>
                    </a:solidFill>
                  </a:tcPr>
                </a:tc>
              </a:tr>
              <a:tr h="457200">
                <a:tc>
                  <a:txBody>
                    <a:bodyPr/>
                    <a:lstStyle/>
                    <a:p>
                      <a:pPr indent="0" marL="0">
                        <a:buNone/>
                      </a:pPr>
                      <a:r>
                        <a:rPr lang="en-US" sz="1300" b="1" dirty="0">
                          <a:solidFill>
                            <a:srgbClr val="1B2430"/>
                          </a:solidFill>
                        </a:rPr>
                        <a:t>Balance mismatch</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Balances before and after do not add up</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Amount-to-balance ratio</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How big the payment is for this account</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Full-drain flag</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The payment empties the account</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Hour of day</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Payments at unusual hours stand out</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Payment type</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TRANSFER, CASH_OUT, and so on</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New recipient</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First time this sender pays this account</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Sender recent payments</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How active the sender has just been</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Recipient recent inbound</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Many payers into one account: mule pattern</a:t>
                      </a:r>
                      <a:endParaRPr lang="en-US" sz="1300" dirty="0"/>
                    </a:p>
                  </a:txBody>
                  <a:tcPr marL="91440" marR="91440"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50" i="1" dirty="0">
                <a:solidFill>
                  <a:srgbClr val="5F6B7A"/>
                </a:solidFill>
              </a:rPr>
              <a:t>PaySim is synthetic and relatively easy, so real-world performance is unknown. Code: features/features.py and api/state.py.</a:t>
            </a:r>
            <a:endParaRPr lang="en-US" sz="105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Offline test: the model beats the baseline by a wide margin, on easy synthetic data.</a:t>
            </a:r>
            <a:endParaRPr lang="en-US" sz="2400" dirty="0"/>
          </a:p>
        </p:txBody>
      </p:sp>
      <p:graphicFrame>
        <p:nvGraphicFramePr>
          <p:cNvPr id="4" name="Chart 0" descr=""/>
          <p:cNvGraphicFramePr/>
          <p:nvPr/>
        </p:nvGraphicFramePr>
        <p:xfrm>
          <a:off x="548640" y="146304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5" name="stat-100%"/>
          <p:cNvSpPr/>
          <p:nvPr/>
        </p:nvSpPr>
        <p:spPr>
          <a:xfrm>
            <a:off x="5943600" y="1508760"/>
            <a:ext cx="2743200" cy="1554480"/>
          </a:xfrm>
          <a:prstGeom prst="roundRect">
            <a:avLst>
              <a:gd name="adj" fmla="val 4706"/>
            </a:avLst>
          </a:prstGeom>
          <a:solidFill>
            <a:srgbClr val="FFFFFF"/>
          </a:solidFill>
          <a:ln w="9525">
            <a:solidFill>
              <a:srgbClr val="C9D1DC"/>
            </a:solidFill>
            <a:prstDash val="solid"/>
          </a:ln>
        </p:spPr>
      </p:sp>
      <p:sp>
        <p:nvSpPr>
          <p:cNvPr id="6" name="Text 2"/>
          <p:cNvSpPr txBox="1"/>
          <p:nvPr/>
        </p:nvSpPr>
        <p:spPr>
          <a:xfrm>
            <a:off x="6126480" y="1673352"/>
            <a:ext cx="2377440" cy="685800"/>
          </a:xfrm>
          <a:prstGeom prst="rect">
            <a:avLst/>
          </a:prstGeom>
          <a:noFill/>
          <a:ln/>
        </p:spPr>
        <p:txBody>
          <a:bodyPr wrap="square" lIns="0" tIns="0" rIns="0" bIns="0" rtlCol="0" anchor="t"/>
          <a:lstStyle/>
          <a:p>
            <a:pPr indent="0" marL="0">
              <a:buNone/>
            </a:pPr>
            <a:r>
              <a:rPr lang="en-US" sz="3400" b="1" dirty="0">
                <a:solidFill>
                  <a:srgbClr val="0F62FE"/>
                </a:solidFill>
              </a:rPr>
              <a:t>100%</a:t>
            </a:r>
            <a:endParaRPr lang="en-US" sz="3400" dirty="0"/>
          </a:p>
        </p:txBody>
      </p:sp>
      <p:sp>
        <p:nvSpPr>
          <p:cNvPr id="7" name="Text 3"/>
          <p:cNvSpPr txBox="1"/>
          <p:nvPr/>
        </p:nvSpPr>
        <p:spPr>
          <a:xfrm>
            <a:off x="6126480" y="2377440"/>
            <a:ext cx="2377440" cy="640080"/>
          </a:xfrm>
          <a:prstGeom prst="rect">
            <a:avLst/>
          </a:prstGeom>
          <a:noFill/>
          <a:ln/>
        </p:spPr>
        <p:txBody>
          <a:bodyPr wrap="square" lIns="0" tIns="0" rIns="0" bIns="0" rtlCol="0" anchor="t"/>
          <a:lstStyle/>
          <a:p>
            <a:pPr indent="0" marL="0">
              <a:buNone/>
            </a:pPr>
            <a:r>
              <a:rPr lang="en-US" sz="1300" dirty="0">
                <a:solidFill>
                  <a:srgbClr val="5F6B7A"/>
                </a:solidFill>
              </a:rPr>
              <a:t>recall at 0.1% false-positive rate</a:t>
            </a:r>
            <a:endParaRPr lang="en-US" sz="1300" dirty="0"/>
          </a:p>
        </p:txBody>
      </p:sp>
      <p:sp>
        <p:nvSpPr>
          <p:cNvPr id="8" name="stat-0.12%"/>
          <p:cNvSpPr/>
          <p:nvPr/>
        </p:nvSpPr>
        <p:spPr>
          <a:xfrm>
            <a:off x="8897112" y="1508760"/>
            <a:ext cx="2743200" cy="1554480"/>
          </a:xfrm>
          <a:prstGeom prst="roundRect">
            <a:avLst>
              <a:gd name="adj" fmla="val 4706"/>
            </a:avLst>
          </a:prstGeom>
          <a:solidFill>
            <a:srgbClr val="FFFFFF"/>
          </a:solidFill>
          <a:ln w="9525">
            <a:solidFill>
              <a:srgbClr val="C9D1DC"/>
            </a:solidFill>
            <a:prstDash val="solid"/>
          </a:ln>
        </p:spPr>
      </p:sp>
      <p:sp>
        <p:nvSpPr>
          <p:cNvPr id="9" name="Text 5"/>
          <p:cNvSpPr txBox="1"/>
          <p:nvPr/>
        </p:nvSpPr>
        <p:spPr>
          <a:xfrm>
            <a:off x="9079992" y="1673352"/>
            <a:ext cx="2377440" cy="685800"/>
          </a:xfrm>
          <a:prstGeom prst="rect">
            <a:avLst/>
          </a:prstGeom>
          <a:noFill/>
          <a:ln/>
        </p:spPr>
        <p:txBody>
          <a:bodyPr wrap="square" lIns="0" tIns="0" rIns="0" bIns="0" rtlCol="0" anchor="t"/>
          <a:lstStyle/>
          <a:p>
            <a:pPr indent="0" marL="0">
              <a:buNone/>
            </a:pPr>
            <a:r>
              <a:rPr lang="en-US" sz="3400" b="1" dirty="0">
                <a:solidFill>
                  <a:srgbClr val="0F62FE"/>
                </a:solidFill>
              </a:rPr>
              <a:t>0.12%</a:t>
            </a:r>
            <a:endParaRPr lang="en-US" sz="3400" dirty="0"/>
          </a:p>
        </p:txBody>
      </p:sp>
      <p:sp>
        <p:nvSpPr>
          <p:cNvPr id="10" name="Text 6"/>
          <p:cNvSpPr txBox="1"/>
          <p:nvPr/>
        </p:nvSpPr>
        <p:spPr>
          <a:xfrm>
            <a:off x="9079992" y="2377440"/>
            <a:ext cx="2377440" cy="640080"/>
          </a:xfrm>
          <a:prstGeom prst="rect">
            <a:avLst/>
          </a:prstGeom>
          <a:noFill/>
          <a:ln/>
        </p:spPr>
        <p:txBody>
          <a:bodyPr wrap="square" lIns="0" tIns="0" rIns="0" bIns="0" rtlCol="0" anchor="t"/>
          <a:lstStyle/>
          <a:p>
            <a:pPr indent="0" marL="0">
              <a:buNone/>
            </a:pPr>
            <a:r>
              <a:rPr lang="en-US" sz="1300" dirty="0">
                <a:solidFill>
                  <a:srgbClr val="5F6B7A"/>
                </a:solidFill>
              </a:rPr>
              <a:t>false-positive rate at the HOLD threshold</a:t>
            </a:r>
            <a:endParaRPr lang="en-US" sz="1300" dirty="0"/>
          </a:p>
        </p:txBody>
      </p:sp>
      <p:sp>
        <p:nvSpPr>
          <p:cNvPr id="11" name="model-notes"/>
          <p:cNvSpPr/>
          <p:nvPr/>
        </p:nvSpPr>
        <p:spPr>
          <a:xfrm>
            <a:off x="5943600" y="3291840"/>
            <a:ext cx="5696712" cy="1554480"/>
          </a:xfrm>
          <a:prstGeom prst="roundRect">
            <a:avLst>
              <a:gd name="adj" fmla="val 4706"/>
            </a:avLst>
          </a:prstGeom>
          <a:solidFill>
            <a:srgbClr val="F2F4F8"/>
          </a:solidFill>
          <a:ln w="9525">
            <a:solidFill>
              <a:srgbClr val="C9D1DC"/>
            </a:solidFill>
            <a:prstDash val="solid"/>
          </a:ln>
        </p:spPr>
      </p:sp>
      <p:sp>
        <p:nvSpPr>
          <p:cNvPr id="12" name="Text 8"/>
          <p:cNvSpPr txBox="1"/>
          <p:nvPr/>
        </p:nvSpPr>
        <p:spPr>
          <a:xfrm>
            <a:off x="6172200" y="3429000"/>
            <a:ext cx="530352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430"/>
                </a:solidFill>
              </a:rPr>
              <a:t>Gradient-boosted trees, exported to ONNX so the model is portable.</a:t>
            </a:r>
            <a:endParaRPr lang="en-US" sz="1400" dirty="0"/>
          </a:p>
          <a:p>
            <a:pPr marL="342900" indent="-342900">
              <a:spcAft>
                <a:spcPts val="400"/>
              </a:spcAft>
              <a:buSzPct val="100000"/>
              <a:buChar char="•"/>
            </a:pPr>
            <a:r>
              <a:rPr lang="en-US" sz="1400" dirty="0">
                <a:solidFill>
                  <a:srgbClr val="1B2430"/>
                </a:solidFill>
              </a:rPr>
              <a:t>Thresholds chosen from the data with a cost trade-off.</a:t>
            </a:r>
            <a:endParaRPr lang="en-US" sz="1400" dirty="0"/>
          </a:p>
          <a:p>
            <a:pPr marL="342900" indent="-342900">
              <a:spcAft>
                <a:spcPts val="400"/>
              </a:spcAft>
              <a:buSzPct val="100000"/>
              <a:buChar char="•"/>
            </a:pPr>
            <a:r>
              <a:rPr lang="en-US" sz="1400" dirty="0">
                <a:solidFill>
                  <a:srgbClr val="1B2430"/>
                </a:solidFill>
              </a:rPr>
              <a:t>The model misses Mule Burst, so a rule covers it.</a:t>
            </a:r>
            <a:endParaRPr lang="en-US" sz="1400" dirty="0"/>
          </a:p>
        </p:txBody>
      </p:sp>
      <p:sp>
        <p:nvSpPr>
          <p:cNvPr id="13" name="Text 9"/>
          <p:cNvSpPr txBox="1"/>
          <p:nvPr/>
        </p:nvSpPr>
        <p:spPr>
          <a:xfrm>
            <a:off x="548640" y="5120640"/>
            <a:ext cx="11091672" cy="640080"/>
          </a:xfrm>
          <a:prstGeom prst="rect">
            <a:avLst/>
          </a:prstGeom>
          <a:noFill/>
          <a:ln/>
        </p:spPr>
        <p:txBody>
          <a:bodyPr wrap="square" lIns="0" tIns="0" rIns="0" bIns="0" rtlCol="0" anchor="t"/>
          <a:lstStyle/>
          <a:p>
            <a:pPr indent="0" marL="0">
              <a:buNone/>
            </a:pPr>
            <a:r>
              <a:rPr lang="en-US" sz="1500" b="1" dirty="0">
                <a:solidFill>
                  <a:srgbClr val="DA1E28"/>
                </a:solidFill>
              </a:rPr>
              <a:t>Read with care: PaySim is synthetic and fairly easy, so real data will score lower. SHAP explanations are not built yet.</a:t>
            </a:r>
            <a:endParaRPr lang="en-US" sz="1500" dirty="0"/>
          </a:p>
        </p:txBody>
      </p:sp>
      <p:sp>
        <p:nvSpPr>
          <p:cNvPr id="14" name="Text 10"/>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50" i="1" dirty="0">
                <a:solidFill>
                  <a:srgbClr val="5F6B7A"/>
                </a:solidFill>
              </a:rPr>
              <a:t>Source: artifacts/metrics.json (test period). Baseline: logistic regression on the same time-based split. Synthetic data; no claim for real traffic.</a:t>
            </a:r>
            <a:endParaRPr lang="en-US" sz="105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Measured so far: decisions in milliseconds, with no errors in a 5,000-payment load test.</a:t>
            </a:r>
            <a:endParaRPr lang="en-US" sz="2400" dirty="0"/>
          </a:p>
        </p:txBody>
      </p:sp>
      <p:sp>
        <p:nvSpPr>
          <p:cNvPr id="4" name="tile-3.2 ms"/>
          <p:cNvSpPr/>
          <p:nvPr/>
        </p:nvSpPr>
        <p:spPr>
          <a:xfrm>
            <a:off x="548640" y="1508760"/>
            <a:ext cx="2651760" cy="1737360"/>
          </a:xfrm>
          <a:prstGeom prst="roundRect">
            <a:avLst>
              <a:gd name="adj" fmla="val 4211"/>
            </a:avLst>
          </a:prstGeom>
          <a:solidFill>
            <a:srgbClr val="FFFFFF"/>
          </a:solidFill>
          <a:ln w="9525">
            <a:solidFill>
              <a:srgbClr val="C9D1DC"/>
            </a:solidFill>
            <a:prstDash val="solid"/>
          </a:ln>
        </p:spPr>
      </p:sp>
      <p:sp>
        <p:nvSpPr>
          <p:cNvPr id="5" name="Text 2"/>
          <p:cNvSpPr txBox="1"/>
          <p:nvPr/>
        </p:nvSpPr>
        <p:spPr>
          <a:xfrm>
            <a:off x="731520" y="1691640"/>
            <a:ext cx="2286000" cy="731520"/>
          </a:xfrm>
          <a:prstGeom prst="rect">
            <a:avLst/>
          </a:prstGeom>
          <a:noFill/>
          <a:ln/>
        </p:spPr>
        <p:txBody>
          <a:bodyPr wrap="square" lIns="0" tIns="0" rIns="0" bIns="0" rtlCol="0" anchor="t"/>
          <a:lstStyle/>
          <a:p>
            <a:pPr indent="0" marL="0">
              <a:buNone/>
            </a:pPr>
            <a:r>
              <a:rPr lang="en-US" sz="3600" b="1" dirty="0">
                <a:solidFill>
                  <a:srgbClr val="0F62FE"/>
                </a:solidFill>
              </a:rPr>
              <a:t>3.2 ms</a:t>
            </a:r>
            <a:endParaRPr lang="en-US" sz="3600" dirty="0"/>
          </a:p>
        </p:txBody>
      </p:sp>
      <p:sp>
        <p:nvSpPr>
          <p:cNvPr id="6" name="Text 3"/>
          <p:cNvSpPr txBox="1"/>
          <p:nvPr/>
        </p:nvSpPr>
        <p:spPr>
          <a:xfrm>
            <a:off x="731520" y="2514600"/>
            <a:ext cx="2286000" cy="640080"/>
          </a:xfrm>
          <a:prstGeom prst="rect">
            <a:avLst/>
          </a:prstGeom>
          <a:noFill/>
          <a:ln/>
        </p:spPr>
        <p:txBody>
          <a:bodyPr wrap="square" lIns="0" tIns="0" rIns="0" bIns="0" rtlCol="0" anchor="t"/>
          <a:lstStyle/>
          <a:p>
            <a:pPr indent="0" marL="0">
              <a:buNone/>
            </a:pPr>
            <a:r>
              <a:rPr lang="en-US" sz="1400" dirty="0">
                <a:solidFill>
                  <a:srgbClr val="5F6B7A"/>
                </a:solidFill>
              </a:rPr>
              <a:t>p95 end to end</a:t>
            </a:r>
            <a:endParaRPr lang="en-US" sz="1400" dirty="0"/>
          </a:p>
        </p:txBody>
      </p:sp>
      <p:sp>
        <p:nvSpPr>
          <p:cNvPr id="7" name="tile-375 / s"/>
          <p:cNvSpPr/>
          <p:nvPr/>
        </p:nvSpPr>
        <p:spPr>
          <a:xfrm>
            <a:off x="3346704" y="1508760"/>
            <a:ext cx="2651760" cy="1737360"/>
          </a:xfrm>
          <a:prstGeom prst="roundRect">
            <a:avLst>
              <a:gd name="adj" fmla="val 4211"/>
            </a:avLst>
          </a:prstGeom>
          <a:solidFill>
            <a:srgbClr val="FFFFFF"/>
          </a:solidFill>
          <a:ln w="9525">
            <a:solidFill>
              <a:srgbClr val="C9D1DC"/>
            </a:solidFill>
            <a:prstDash val="solid"/>
          </a:ln>
        </p:spPr>
      </p:sp>
      <p:sp>
        <p:nvSpPr>
          <p:cNvPr id="8" name="Text 5"/>
          <p:cNvSpPr txBox="1"/>
          <p:nvPr/>
        </p:nvSpPr>
        <p:spPr>
          <a:xfrm>
            <a:off x="3529584" y="1691640"/>
            <a:ext cx="2286000" cy="731520"/>
          </a:xfrm>
          <a:prstGeom prst="rect">
            <a:avLst/>
          </a:prstGeom>
          <a:noFill/>
          <a:ln/>
        </p:spPr>
        <p:txBody>
          <a:bodyPr wrap="square" lIns="0" tIns="0" rIns="0" bIns="0" rtlCol="0" anchor="t"/>
          <a:lstStyle/>
          <a:p>
            <a:pPr indent="0" marL="0">
              <a:buNone/>
            </a:pPr>
            <a:r>
              <a:rPr lang="en-US" sz="3600" b="1" dirty="0">
                <a:solidFill>
                  <a:srgbClr val="0F62FE"/>
                </a:solidFill>
              </a:rPr>
              <a:t>375 / s</a:t>
            </a:r>
            <a:endParaRPr lang="en-US" sz="3600" dirty="0"/>
          </a:p>
        </p:txBody>
      </p:sp>
      <p:sp>
        <p:nvSpPr>
          <p:cNvPr id="9" name="Text 6"/>
          <p:cNvSpPr txBox="1"/>
          <p:nvPr/>
        </p:nvSpPr>
        <p:spPr>
          <a:xfrm>
            <a:off x="3529584" y="2514600"/>
            <a:ext cx="2286000" cy="640080"/>
          </a:xfrm>
          <a:prstGeom prst="rect">
            <a:avLst/>
          </a:prstGeom>
          <a:noFill/>
          <a:ln/>
        </p:spPr>
        <p:txBody>
          <a:bodyPr wrap="square" lIns="0" tIns="0" rIns="0" bIns="0" rtlCol="0" anchor="t"/>
          <a:lstStyle/>
          <a:p>
            <a:pPr indent="0" marL="0">
              <a:buNone/>
            </a:pPr>
            <a:r>
              <a:rPr lang="en-US" sz="1400" dirty="0">
                <a:solidFill>
                  <a:srgbClr val="5F6B7A"/>
                </a:solidFill>
              </a:rPr>
              <a:t>payments per second, one client</a:t>
            </a:r>
            <a:endParaRPr lang="en-US" sz="1400" dirty="0"/>
          </a:p>
        </p:txBody>
      </p:sp>
      <p:sp>
        <p:nvSpPr>
          <p:cNvPr id="10" name="tile-718 / s"/>
          <p:cNvSpPr/>
          <p:nvPr/>
        </p:nvSpPr>
        <p:spPr>
          <a:xfrm>
            <a:off x="6144768" y="1508760"/>
            <a:ext cx="2651760" cy="1737360"/>
          </a:xfrm>
          <a:prstGeom prst="roundRect">
            <a:avLst>
              <a:gd name="adj" fmla="val 4211"/>
            </a:avLst>
          </a:prstGeom>
          <a:solidFill>
            <a:srgbClr val="FFFFFF"/>
          </a:solidFill>
          <a:ln w="9525">
            <a:solidFill>
              <a:srgbClr val="C9D1DC"/>
            </a:solidFill>
            <a:prstDash val="solid"/>
          </a:ln>
        </p:spPr>
      </p:sp>
      <p:sp>
        <p:nvSpPr>
          <p:cNvPr id="11" name="Text 8"/>
          <p:cNvSpPr txBox="1"/>
          <p:nvPr/>
        </p:nvSpPr>
        <p:spPr>
          <a:xfrm>
            <a:off x="6327648" y="1691640"/>
            <a:ext cx="2286000" cy="731520"/>
          </a:xfrm>
          <a:prstGeom prst="rect">
            <a:avLst/>
          </a:prstGeom>
          <a:noFill/>
          <a:ln/>
        </p:spPr>
        <p:txBody>
          <a:bodyPr wrap="square" lIns="0" tIns="0" rIns="0" bIns="0" rtlCol="0" anchor="t"/>
          <a:lstStyle/>
          <a:p>
            <a:pPr indent="0" marL="0">
              <a:buNone/>
            </a:pPr>
            <a:r>
              <a:rPr lang="en-US" sz="3600" b="1" dirty="0">
                <a:solidFill>
                  <a:srgbClr val="0F62FE"/>
                </a:solidFill>
              </a:rPr>
              <a:t>718 / s</a:t>
            </a:r>
            <a:endParaRPr lang="en-US" sz="3600" dirty="0"/>
          </a:p>
        </p:txBody>
      </p:sp>
      <p:sp>
        <p:nvSpPr>
          <p:cNvPr id="12" name="Text 9"/>
          <p:cNvSpPr txBox="1"/>
          <p:nvPr/>
        </p:nvSpPr>
        <p:spPr>
          <a:xfrm>
            <a:off x="6327648" y="2514600"/>
            <a:ext cx="2286000" cy="640080"/>
          </a:xfrm>
          <a:prstGeom prst="rect">
            <a:avLst/>
          </a:prstGeom>
          <a:noFill/>
          <a:ln/>
        </p:spPr>
        <p:txBody>
          <a:bodyPr wrap="square" lIns="0" tIns="0" rIns="0" bIns="0" rtlCol="0" anchor="t"/>
          <a:lstStyle/>
          <a:p>
            <a:pPr indent="0" marL="0">
              <a:buNone/>
            </a:pPr>
            <a:r>
              <a:rPr lang="en-US" sz="1400" dirty="0">
                <a:solidFill>
                  <a:srgbClr val="5F6B7A"/>
                </a:solidFill>
              </a:rPr>
              <a:t>payments per second, 8 clients</a:t>
            </a:r>
            <a:endParaRPr lang="en-US" sz="1400" dirty="0"/>
          </a:p>
        </p:txBody>
      </p:sp>
      <p:sp>
        <p:nvSpPr>
          <p:cNvPr id="13" name="tile-0"/>
          <p:cNvSpPr/>
          <p:nvPr/>
        </p:nvSpPr>
        <p:spPr>
          <a:xfrm>
            <a:off x="8942832" y="1508760"/>
            <a:ext cx="2651760" cy="1737360"/>
          </a:xfrm>
          <a:prstGeom prst="roundRect">
            <a:avLst>
              <a:gd name="adj" fmla="val 4211"/>
            </a:avLst>
          </a:prstGeom>
          <a:solidFill>
            <a:srgbClr val="FFFFFF"/>
          </a:solidFill>
          <a:ln w="9525">
            <a:solidFill>
              <a:srgbClr val="C9D1DC"/>
            </a:solidFill>
            <a:prstDash val="solid"/>
          </a:ln>
        </p:spPr>
      </p:sp>
      <p:sp>
        <p:nvSpPr>
          <p:cNvPr id="14" name="Text 11"/>
          <p:cNvSpPr txBox="1"/>
          <p:nvPr/>
        </p:nvSpPr>
        <p:spPr>
          <a:xfrm>
            <a:off x="9125712" y="1691640"/>
            <a:ext cx="2286000" cy="731520"/>
          </a:xfrm>
          <a:prstGeom prst="rect">
            <a:avLst/>
          </a:prstGeom>
          <a:noFill/>
          <a:ln/>
        </p:spPr>
        <p:txBody>
          <a:bodyPr wrap="square" lIns="0" tIns="0" rIns="0" bIns="0" rtlCol="0" anchor="t"/>
          <a:lstStyle/>
          <a:p>
            <a:pPr indent="0" marL="0">
              <a:buNone/>
            </a:pPr>
            <a:r>
              <a:rPr lang="en-US" sz="3600" b="1" dirty="0">
                <a:solidFill>
                  <a:srgbClr val="0F62FE"/>
                </a:solidFill>
              </a:rPr>
              <a:t>0</a:t>
            </a:r>
            <a:endParaRPr lang="en-US" sz="3600" dirty="0"/>
          </a:p>
        </p:txBody>
      </p:sp>
      <p:sp>
        <p:nvSpPr>
          <p:cNvPr id="15" name="Text 12"/>
          <p:cNvSpPr txBox="1"/>
          <p:nvPr/>
        </p:nvSpPr>
        <p:spPr>
          <a:xfrm>
            <a:off x="9125712" y="2514600"/>
            <a:ext cx="2286000" cy="640080"/>
          </a:xfrm>
          <a:prstGeom prst="rect">
            <a:avLst/>
          </a:prstGeom>
          <a:noFill/>
          <a:ln/>
        </p:spPr>
        <p:txBody>
          <a:bodyPr wrap="square" lIns="0" tIns="0" rIns="0" bIns="0" rtlCol="0" anchor="t"/>
          <a:lstStyle/>
          <a:p>
            <a:pPr indent="0" marL="0">
              <a:buNone/>
            </a:pPr>
            <a:r>
              <a:rPr lang="en-US" sz="1400" dirty="0">
                <a:solidFill>
                  <a:srgbClr val="5F6B7A"/>
                </a:solidFill>
              </a:rPr>
              <a:t>errors in 5,000 payments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5486400" cy="914400"/>
        </p:xfrm>
        <a:graphic>
          <a:graphicData uri="http://schemas.openxmlformats.org/drawingml/2006/table">
            <a:tbl>
              <a:tblPr/>
              <a:tblGrid>
                <a:gridCol w="3840480"/>
                <a:gridCol w="1645920"/>
              </a:tblGrid>
              <a:tr h="365760">
                <a:tc>
                  <a:txBody>
                    <a:bodyPr/>
                    <a:lstStyle/>
                    <a:p>
                      <a:pPr indent="0" marL="0">
                        <a:buNone/>
                      </a:pPr>
                      <a:r>
                        <a:rPr lang="en-US" sz="1300" b="1" dirty="0">
                          <a:solidFill>
                            <a:srgbClr val="FFFFFF"/>
                          </a:solidFill>
                        </a:rPr>
                        <a:t>Sample replay, 252 payments</a:t>
                      </a:r>
                      <a:endParaRPr lang="en-US" sz="1300" dirty="0"/>
                    </a:p>
                  </a:txBody>
                  <a:tcPr marL="91440" marR="91440" marT="27432" marB="2743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rPr>
                        <a:t>Result</a:t>
                      </a:r>
                      <a:endParaRPr lang="en-US" sz="1300" dirty="0"/>
                    </a:p>
                  </a:txBody>
                  <a:tcPr marL="91440" marR="91440" marT="27432" marB="2743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0B1F3A"/>
                    </a:solidFill>
                  </a:tcPr>
                </a:tc>
              </a:tr>
              <a:tr h="365760">
                <a:tc>
                  <a:txBody>
                    <a:bodyPr/>
                    <a:lstStyle/>
                    <a:p>
                      <a:pPr indent="0" marL="0">
                        <a:buNone/>
                      </a:pPr>
                      <a:r>
                        <a:rPr lang="en-US" sz="1300" dirty="0">
                          <a:solidFill>
                            <a:srgbClr val="1B2430"/>
                          </a:solidFill>
                        </a:rPr>
                        <a:t>Approved with no extra step</a:t>
                      </a:r>
                      <a:endParaRPr lang="en-US" sz="1300" dirty="0"/>
                    </a:p>
                  </a:txBody>
                  <a:tcPr marL="91440" marR="91440" marT="27432" marB="2743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1B2430"/>
                          </a:solidFill>
                        </a:rPr>
                        <a:t>245</a:t>
                      </a:r>
                      <a:endParaRPr lang="en-US" sz="1300" dirty="0"/>
                    </a:p>
                  </a:txBody>
                  <a:tcPr marL="91440" marR="91440" marT="27432" marB="2743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365760">
                <a:tc>
                  <a:txBody>
                    <a:bodyPr/>
                    <a:lstStyle/>
                    <a:p>
                      <a:pPr indent="0" marL="0">
                        <a:buNone/>
                      </a:pPr>
                      <a:r>
                        <a:rPr lang="en-US" sz="1300" dirty="0">
                          <a:solidFill>
                            <a:srgbClr val="1B2430"/>
                          </a:solidFill>
                        </a:rPr>
                        <a:t>STEP_UP (extra check)</a:t>
                      </a:r>
                      <a:endParaRPr lang="en-US" sz="1300" dirty="0"/>
                    </a:p>
                  </a:txBody>
                  <a:tcPr marL="91440" marR="91440" marT="27432" marB="2743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1B2430"/>
                          </a:solidFill>
                        </a:rPr>
                        <a:t>5</a:t>
                      </a:r>
                      <a:endParaRPr lang="en-US" sz="1300" dirty="0"/>
                    </a:p>
                  </a:txBody>
                  <a:tcPr marL="91440" marR="91440" marT="27432" marB="2743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365760">
                <a:tc>
                  <a:txBody>
                    <a:bodyPr/>
                    <a:lstStyle/>
                    <a:p>
                      <a:pPr indent="0" marL="0">
                        <a:buNone/>
                      </a:pPr>
                      <a:r>
                        <a:rPr lang="en-US" sz="1300" dirty="0">
                          <a:solidFill>
                            <a:srgbClr val="1B2430"/>
                          </a:solidFill>
                        </a:rPr>
                        <a:t>HOLD (analyst)</a:t>
                      </a:r>
                      <a:endParaRPr lang="en-US" sz="1300" dirty="0"/>
                    </a:p>
                  </a:txBody>
                  <a:tcPr marL="91440" marR="91440" marT="27432" marB="2743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1B2430"/>
                          </a:solidFill>
                        </a:rPr>
                        <a:t>2</a:t>
                      </a:r>
                      <a:endParaRPr lang="en-US" sz="1300" dirty="0"/>
                    </a:p>
                  </a:txBody>
                  <a:tcPr marL="91440" marR="91440" marT="27432" marB="2743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365760">
                <a:tc>
                  <a:txBody>
                    <a:bodyPr/>
                    <a:lstStyle/>
                    <a:p>
                      <a:pPr indent="0" marL="0">
                        <a:buNone/>
                      </a:pPr>
                      <a:r>
                        <a:rPr lang="en-US" sz="1300" dirty="0">
                          <a:solidFill>
                            <a:srgbClr val="1B2430"/>
                          </a:solidFill>
                        </a:rPr>
                        <a:t>Both full-drain payments</a:t>
                      </a:r>
                      <a:endParaRPr lang="en-US" sz="1300" dirty="0"/>
                    </a:p>
                  </a:txBody>
                  <a:tcPr marL="91440" marR="91440" marT="27432" marB="2743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1B2430"/>
                          </a:solidFill>
                        </a:rPr>
                        <a:t>held</a:t>
                      </a:r>
                      <a:endParaRPr lang="en-US" sz="1300" dirty="0"/>
                    </a:p>
                  </a:txBody>
                  <a:tcPr marL="91440" marR="91440" marT="27432" marB="27432"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bl>
          </a:graphicData>
        </a:graphic>
      </p:graphicFrame>
      <p:sp>
        <p:nvSpPr>
          <p:cNvPr id="17" name="measured-note"/>
          <p:cNvSpPr/>
          <p:nvPr/>
        </p:nvSpPr>
        <p:spPr>
          <a:xfrm>
            <a:off x="6309360" y="3520440"/>
            <a:ext cx="5330952" cy="1828800"/>
          </a:xfrm>
          <a:prstGeom prst="roundRect">
            <a:avLst>
              <a:gd name="adj" fmla="val 4000"/>
            </a:avLst>
          </a:prstGeom>
          <a:solidFill>
            <a:srgbClr val="F2F4F8"/>
          </a:solidFill>
          <a:ln w="9525">
            <a:solidFill>
              <a:srgbClr val="C9D1DC"/>
            </a:solidFill>
            <a:prstDash val="solid"/>
          </a:ln>
        </p:spPr>
      </p:sp>
      <p:sp>
        <p:nvSpPr>
          <p:cNvPr id="18" name="Text 14"/>
          <p:cNvSpPr txBox="1"/>
          <p:nvPr/>
        </p:nvSpPr>
        <p:spPr>
          <a:xfrm>
            <a:off x="6492240" y="3657600"/>
            <a:ext cx="4983480" cy="1600200"/>
          </a:xfrm>
          <a:prstGeom prst="rect">
            <a:avLst/>
          </a:prstGeom>
          <a:noFill/>
          <a:ln/>
        </p:spPr>
        <p:txBody>
          <a:bodyPr wrap="square" lIns="0" tIns="0" rIns="0" bIns="0" rtlCol="0" anchor="t"/>
          <a:lstStyle/>
          <a:p>
            <a:pPr indent="0" marL="0">
              <a:spcAft>
                <a:spcPts val="300"/>
              </a:spcAft>
              <a:buNone/>
            </a:pPr>
            <a:r>
              <a:rPr lang="en-US" sz="1300" b="1" dirty="0">
                <a:solidFill>
                  <a:srgbClr val="0B1F3A"/>
                </a:solidFill>
              </a:rPr>
              <a:t>What these numbers are</a:t>
            </a:r>
            <a:endParaRPr lang="en-US" sz="1300" dirty="0"/>
          </a:p>
          <a:p>
            <a:pPr marL="342900" indent="-342900">
              <a:spcAft>
                <a:spcPts val="300"/>
              </a:spcAft>
              <a:buSzPct val="100000"/>
              <a:buChar char="•"/>
            </a:pPr>
            <a:r>
              <a:rPr lang="en-US" sz="1300" dirty="0">
                <a:solidFill>
                  <a:srgbClr val="1B2430"/>
                </a:solidFill>
              </a:rPr>
              <a:t>Pipeline speed on a laptop (Intel i7, x86) with the rule-based scorer, measured 17 Oct 2026.</a:t>
            </a:r>
            <a:endParaRPr lang="en-US" sz="1300" dirty="0"/>
          </a:p>
          <a:p>
            <a:pPr marL="342900" indent="-342900">
              <a:spcAft>
                <a:spcPts val="300"/>
              </a:spcAft>
              <a:buSzPct val="100000"/>
              <a:buChar char="•"/>
            </a:pPr>
            <a:r>
              <a:rPr lang="en-US" sz="1300" dirty="0">
                <a:solidFill>
                  <a:srgbClr val="1B2430"/>
                </a:solidFill>
              </a:rPr>
              <a:t>Not IBM Z numbers, and not fraud-detection accuracy.</a:t>
            </a:r>
            <a:endParaRPr lang="en-US" sz="1300" dirty="0"/>
          </a:p>
          <a:p>
            <a:pPr marL="342900" indent="-342900">
              <a:spcAft>
                <a:spcPts val="300"/>
              </a:spcAft>
              <a:buSzPct val="100000"/>
              <a:buChar char="•"/>
            </a:pPr>
            <a:r>
              <a:rPr lang="en-US" sz="1300" dirty="0">
                <a:solidFill>
                  <a:srgbClr val="1B2430"/>
                </a:solidFill>
              </a:rPr>
              <a:t>Alert safety: 119 offline tests pass; 25,664 template cases checked with no false rejection.</a:t>
            </a:r>
            <a:endParaRPr lang="en-US" sz="1300" dirty="0"/>
          </a:p>
        </p:txBody>
      </p:sp>
      <p:sp>
        <p:nvSpPr>
          <p:cNvPr id="19" name="Text 15"/>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50" i="1" dirty="0">
                <a:solidFill>
                  <a:srgbClr val="5F6B7A"/>
                </a:solidFill>
              </a:rPr>
              <a:t>Source: docs/deck/measured_17oct.md. Re-measuring with the ONNX model in the loop is a next step.</a:t>
            </a:r>
            <a:endParaRPr lang="en-US" sz="105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Designed for IBM Z / LinuxONE, but not run there: our Community Cloud server never came up.</a:t>
            </a:r>
            <a:endParaRPr lang="en-US" sz="2400" dirty="0"/>
          </a:p>
        </p:txBody>
      </p:sp>
      <p:sp>
        <p:nvSpPr>
          <p:cNvPr id="4" name="Text 1"/>
          <p:cNvSpPr txBox="1"/>
          <p:nvPr/>
        </p:nvSpPr>
        <p:spPr>
          <a:xfrm>
            <a:off x="548640" y="1463040"/>
            <a:ext cx="5029200" cy="274320"/>
          </a:xfrm>
          <a:prstGeom prst="rect">
            <a:avLst/>
          </a:prstGeom>
          <a:noFill/>
          <a:ln/>
        </p:spPr>
        <p:txBody>
          <a:bodyPr wrap="square" lIns="0" tIns="0" rIns="0" bIns="0" rtlCol="0" anchor="t"/>
          <a:lstStyle/>
          <a:p>
            <a:pPr indent="0" marL="0">
              <a:buNone/>
            </a:pPr>
            <a:r>
              <a:rPr lang="en-US" sz="1200" b="1" spc="200" kern="0" dirty="0">
                <a:solidFill>
                  <a:srgbClr val="0F62FE"/>
                </a:solidFill>
              </a:rPr>
              <a:t>THE DESIGN</a:t>
            </a:r>
            <a:endParaRPr lang="en-US" sz="1200" dirty="0"/>
          </a:p>
        </p:txBody>
      </p:sp>
      <p:sp>
        <p:nvSpPr>
          <p:cNvPr id="5" name="Shape 2"/>
          <p:cNvSpPr/>
          <p:nvPr/>
        </p:nvSpPr>
        <p:spPr>
          <a:xfrm>
            <a:off x="548640" y="1920240"/>
            <a:ext cx="1600200" cy="914400"/>
          </a:xfrm>
          <a:prstGeom prst="roundRect">
            <a:avLst>
              <a:gd name="adj" fmla="val 8000"/>
            </a:avLst>
          </a:prstGeom>
          <a:solidFill>
            <a:srgbClr val="FFFFFF"/>
          </a:solidFill>
          <a:ln w="12700">
            <a:solidFill>
              <a:srgbClr val="C9D1DC"/>
            </a:solidFill>
            <a:prstDash val="solid"/>
          </a:ln>
        </p:spPr>
      </p:sp>
      <p:sp>
        <p:nvSpPr>
          <p:cNvPr id="6" name="Text 3"/>
          <p:cNvSpPr txBox="1"/>
          <p:nvPr/>
        </p:nvSpPr>
        <p:spPr>
          <a:xfrm>
            <a:off x="594360" y="1920240"/>
            <a:ext cx="1508760" cy="914400"/>
          </a:xfrm>
          <a:prstGeom prst="rect">
            <a:avLst/>
          </a:prstGeom>
          <a:noFill/>
          <a:ln/>
        </p:spPr>
        <p:txBody>
          <a:bodyPr wrap="square" lIns="0" tIns="0" rIns="0" bIns="0" rtlCol="0" anchor="ctr"/>
          <a:lstStyle/>
          <a:p>
            <a:pPr algn="ctr" indent="0" marL="0">
              <a:buNone/>
            </a:pPr>
            <a:r>
              <a:rPr lang="en-US" sz="1300" b="1" dirty="0">
                <a:solidFill>
                  <a:srgbClr val="0B1F3A"/>
                </a:solidFill>
              </a:rPr>
              <a:t>Payment switch</a:t>
            </a:r>
            <a:endParaRPr lang="en-US" sz="1300" dirty="0"/>
          </a:p>
        </p:txBody>
      </p:sp>
      <p:sp>
        <p:nvSpPr>
          <p:cNvPr id="7" name="Shape 4"/>
          <p:cNvSpPr/>
          <p:nvPr/>
        </p:nvSpPr>
        <p:spPr>
          <a:xfrm>
            <a:off x="2468880" y="1920240"/>
            <a:ext cx="1600200" cy="914400"/>
          </a:xfrm>
          <a:prstGeom prst="roundRect">
            <a:avLst>
              <a:gd name="adj" fmla="val 8000"/>
            </a:avLst>
          </a:prstGeom>
          <a:solidFill>
            <a:srgbClr val="0F62FE"/>
          </a:solidFill>
          <a:ln w="12700">
            <a:solidFill>
              <a:srgbClr val="0F62FE"/>
            </a:solidFill>
            <a:prstDash val="solid"/>
          </a:ln>
        </p:spPr>
      </p:sp>
      <p:sp>
        <p:nvSpPr>
          <p:cNvPr id="8" name="Text 5"/>
          <p:cNvSpPr txBox="1"/>
          <p:nvPr/>
        </p:nvSpPr>
        <p:spPr>
          <a:xfrm>
            <a:off x="2514600" y="1920240"/>
            <a:ext cx="1508760" cy="914400"/>
          </a:xfrm>
          <a:prstGeom prst="rect">
            <a:avLst/>
          </a:prstGeom>
          <a:noFill/>
          <a:ln/>
        </p:spPr>
        <p:txBody>
          <a:bodyPr wrap="square" lIns="0" tIns="0" rIns="0" bIns="0" rtlCol="0" anchor="ctr"/>
          <a:lstStyle/>
          <a:p>
            <a:pPr algn="ctr" indent="0" marL="0">
              <a:buNone/>
            </a:pPr>
            <a:r>
              <a:rPr lang="en-US" sz="1300" b="1" dirty="0">
                <a:solidFill>
                  <a:srgbClr val="FFFFFF"/>
                </a:solidFill>
              </a:rPr>
              <a:t>ZShield scoring step</a:t>
            </a:r>
            <a:endParaRPr lang="en-US" sz="1300" dirty="0"/>
          </a:p>
        </p:txBody>
      </p:sp>
      <p:sp>
        <p:nvSpPr>
          <p:cNvPr id="9" name="Shape 6"/>
          <p:cNvSpPr/>
          <p:nvPr/>
        </p:nvSpPr>
        <p:spPr>
          <a:xfrm>
            <a:off x="4389120" y="1920240"/>
            <a:ext cx="1600200" cy="914400"/>
          </a:xfrm>
          <a:prstGeom prst="roundRect">
            <a:avLst>
              <a:gd name="adj" fmla="val 8000"/>
            </a:avLst>
          </a:prstGeom>
          <a:solidFill>
            <a:srgbClr val="FFFFFF"/>
          </a:solidFill>
          <a:ln w="12700">
            <a:solidFill>
              <a:srgbClr val="C9D1DC"/>
            </a:solidFill>
            <a:prstDash val="solid"/>
          </a:ln>
        </p:spPr>
      </p:sp>
      <p:sp>
        <p:nvSpPr>
          <p:cNvPr id="10" name="Text 7"/>
          <p:cNvSpPr txBox="1"/>
          <p:nvPr/>
        </p:nvSpPr>
        <p:spPr>
          <a:xfrm>
            <a:off x="4434840" y="1920240"/>
            <a:ext cx="1508760" cy="914400"/>
          </a:xfrm>
          <a:prstGeom prst="rect">
            <a:avLst/>
          </a:prstGeom>
          <a:noFill/>
          <a:ln/>
        </p:spPr>
        <p:txBody>
          <a:bodyPr wrap="square" lIns="0" tIns="0" rIns="0" bIns="0" rtlCol="0" anchor="ctr"/>
          <a:lstStyle/>
          <a:p>
            <a:pPr algn="ctr" indent="0" marL="0">
              <a:buNone/>
            </a:pPr>
            <a:r>
              <a:rPr lang="en-US" sz="1300" b="1" dirty="0">
                <a:solidFill>
                  <a:srgbClr val="0B1F3A"/>
                </a:solidFill>
              </a:rPr>
              <a:t>Settlement</a:t>
            </a:r>
            <a:endParaRPr lang="en-US" sz="1300" dirty="0"/>
          </a:p>
        </p:txBody>
      </p:sp>
      <p:sp>
        <p:nvSpPr>
          <p:cNvPr id="11" name="Shape 8"/>
          <p:cNvSpPr/>
          <p:nvPr/>
        </p:nvSpPr>
        <p:spPr>
          <a:xfrm>
            <a:off x="2167128" y="2377440"/>
            <a:ext cx="283464" cy="0"/>
          </a:xfrm>
          <a:prstGeom prst="line">
            <a:avLst/>
          </a:prstGeom>
          <a:noFill/>
          <a:ln w="25400">
            <a:solidFill>
              <a:srgbClr val="5F6B7A"/>
            </a:solidFill>
            <a:prstDash val="solid"/>
            <a:tailEnd type="triangle"/>
          </a:ln>
        </p:spPr>
      </p:sp>
      <p:sp>
        <p:nvSpPr>
          <p:cNvPr id="12" name="Shape 9"/>
          <p:cNvSpPr/>
          <p:nvPr/>
        </p:nvSpPr>
        <p:spPr>
          <a:xfrm>
            <a:off x="4087368" y="2377440"/>
            <a:ext cx="283464" cy="0"/>
          </a:xfrm>
          <a:prstGeom prst="line">
            <a:avLst/>
          </a:prstGeom>
          <a:noFill/>
          <a:ln w="25400">
            <a:solidFill>
              <a:srgbClr val="5F6B7A"/>
            </a:solidFill>
            <a:prstDash val="solid"/>
            <a:tailEnd type="triangle"/>
          </a:ln>
        </p:spPr>
      </p:sp>
      <p:sp>
        <p:nvSpPr>
          <p:cNvPr id="13" name="Text 10"/>
          <p:cNvSpPr txBox="1"/>
          <p:nvPr/>
        </p:nvSpPr>
        <p:spPr>
          <a:xfrm>
            <a:off x="548640" y="2926080"/>
            <a:ext cx="5440680" cy="274320"/>
          </a:xfrm>
          <a:prstGeom prst="rect">
            <a:avLst/>
          </a:prstGeom>
          <a:noFill/>
          <a:ln/>
        </p:spPr>
        <p:txBody>
          <a:bodyPr wrap="square" lIns="0" tIns="0" rIns="0" bIns="0" rtlCol="0" anchor="t"/>
          <a:lstStyle/>
          <a:p>
            <a:pPr indent="0" marL="0">
              <a:buNone/>
            </a:pPr>
            <a:r>
              <a:rPr lang="en-US" sz="1200" i="1" dirty="0">
                <a:solidFill>
                  <a:srgbClr val="5F6B7A"/>
                </a:solidFill>
              </a:rPr>
              <a:t>design, not a deployment</a:t>
            </a:r>
            <a:endParaRPr lang="en-US" sz="1200" dirty="0"/>
          </a:p>
        </p:txBody>
      </p:sp>
      <p:sp>
        <p:nvSpPr>
          <p:cNvPr id="14" name="Text 11"/>
          <p:cNvSpPr txBox="1"/>
          <p:nvPr/>
        </p:nvSpPr>
        <p:spPr>
          <a:xfrm>
            <a:off x="548640" y="3383280"/>
            <a:ext cx="54406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rPr>
              <a:t>Score next to the transaction, so sensitive payment data does not travel to an outside ML server.</a:t>
            </a:r>
            <a:endParaRPr lang="en-US" sz="1400" dirty="0"/>
          </a:p>
          <a:p>
            <a:pPr marL="342900" indent="-342900">
              <a:spcAft>
                <a:spcPts val="600"/>
              </a:spcAft>
              <a:buSzPct val="100000"/>
              <a:buChar char="•"/>
            </a:pPr>
            <a:r>
              <a:rPr lang="en-US" sz="1400" dirty="0">
                <a:solidFill>
                  <a:srgbClr val="1B2430"/>
                </a:solidFill>
              </a:rPr>
              <a:t>ONNX keeps the model portable across platforms.</a:t>
            </a:r>
            <a:endParaRPr lang="en-US" sz="1400" dirty="0"/>
          </a:p>
          <a:p>
            <a:pPr marL="342900" indent="-342900">
              <a:spcAft>
                <a:spcPts val="600"/>
              </a:spcAft>
              <a:buSzPct val="100000"/>
              <a:buChar char="•"/>
            </a:pPr>
            <a:r>
              <a:rPr lang="en-US" sz="1400" dirty="0">
                <a:solidFill>
                  <a:srgbClr val="1B2430"/>
                </a:solidFill>
              </a:rPr>
              <a:t>Telum-class processors have on-chip AI acceleration aimed at in-transaction inference. We have not used it.</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63640" y="1508760"/>
          <a:ext cx="5376672" cy="914400"/>
        </p:xfrm>
        <a:graphic>
          <a:graphicData uri="http://schemas.openxmlformats.org/drawingml/2006/table">
            <a:tbl>
              <a:tblPr/>
              <a:tblGrid>
                <a:gridCol w="548640"/>
                <a:gridCol w="2194560"/>
                <a:gridCol w="2633472"/>
              </a:tblGrid>
              <a:tr h="0">
                <a:tc>
                  <a:txBody>
                    <a:bodyPr/>
                    <a:lstStyle/>
                    <a:p>
                      <a:pPr indent="0" marL="0">
                        <a:buNone/>
                      </a:pPr>
                      <a:r>
                        <a:rPr lang="en-US" sz="1300" b="1" dirty="0">
                          <a:solidFill>
                            <a:srgbClr val="FFFFFF"/>
                          </a:solidFill>
                        </a:rPr>
                        <a:t>Level</a:t>
                      </a:r>
                      <a:endParaRPr lang="en-US" sz="130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rPr>
                        <a:t>What</a:t>
                      </a:r>
                      <a:endParaRPr lang="en-US" sz="130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rPr>
                        <a:t>Status</a:t>
                      </a:r>
                      <a:endParaRPr lang="en-US" sz="130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0B1F3A"/>
                    </a:solidFill>
                  </a:tcPr>
                </a:tc>
              </a:tr>
              <a:tr h="0">
                <a:tc>
                  <a:txBody>
                    <a:bodyPr/>
                    <a:lstStyle/>
                    <a:p>
                      <a:pPr indent="0" marL="0">
                        <a:buNone/>
                      </a:pPr>
                      <a:r>
                        <a:rPr lang="en-US" sz="1250" b="1" dirty="0">
                          <a:solidFill>
                            <a:srgbClr val="1B2430"/>
                          </a:solidFill>
                        </a:rPr>
                        <a:t>1</a:t>
                      </a:r>
                      <a:endParaRPr lang="en-US" sz="125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250" dirty="0">
                          <a:solidFill>
                            <a:srgbClr val="1B2430"/>
                          </a:solidFill>
                        </a:rPr>
                        <a:t>Z-ready design, portable ONNX model, latency benchmark</a:t>
                      </a:r>
                      <a:endParaRPr lang="en-US" sz="125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250" b="1" dirty="0">
                          <a:solidFill>
                            <a:srgbClr val="198038"/>
                          </a:solidFill>
                        </a:rPr>
                        <a:t>Done (benchmarked on x86)</a:t>
                      </a:r>
                      <a:endParaRPr lang="en-US" sz="125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0">
                <a:tc>
                  <a:txBody>
                    <a:bodyPr/>
                    <a:lstStyle/>
                    <a:p>
                      <a:pPr indent="0" marL="0">
                        <a:buNone/>
                      </a:pPr>
                      <a:r>
                        <a:rPr lang="en-US" sz="1250" b="1" dirty="0">
                          <a:solidFill>
                            <a:srgbClr val="1B2430"/>
                          </a:solidFill>
                        </a:rPr>
                        <a:t>2</a:t>
                      </a:r>
                      <a:endParaRPr lang="en-US" sz="125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250" dirty="0">
                          <a:solidFill>
                            <a:srgbClr val="1B2430"/>
                          </a:solidFill>
                        </a:rPr>
                        <a:t>Run the scoring API on IBM LinuxONE</a:t>
                      </a:r>
                      <a:endParaRPr lang="en-US" sz="125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250" b="1" dirty="0">
                          <a:solidFill>
                            <a:srgbClr val="DA1E28"/>
                          </a:solidFill>
                        </a:rPr>
                        <a:t>Not done. The Community Cloud server stayed stuck in “spawning” and the portal returned errors. We emailed IBM support.</a:t>
                      </a:r>
                      <a:endParaRPr lang="en-US" sz="125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r h="0">
                <a:tc>
                  <a:txBody>
                    <a:bodyPr/>
                    <a:lstStyle/>
                    <a:p>
                      <a:pPr indent="0" marL="0">
                        <a:buNone/>
                      </a:pPr>
                      <a:r>
                        <a:rPr lang="en-US" sz="1250" b="1" dirty="0">
                          <a:solidFill>
                            <a:srgbClr val="1B2430"/>
                          </a:solidFill>
                        </a:rPr>
                        <a:t>3</a:t>
                      </a:r>
                      <a:endParaRPr lang="en-US" sz="125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250" dirty="0">
                          <a:solidFill>
                            <a:srgbClr val="1B2430"/>
                          </a:solidFill>
                        </a:rPr>
                        <a:t>Compile the model for IBM Z / use Telum acceleration</a:t>
                      </a:r>
                      <a:endParaRPr lang="en-US" sz="125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c>
                  <a:txBody>
                    <a:bodyPr/>
                    <a:lstStyle/>
                    <a:p>
                      <a:pPr indent="0" marL="0">
                        <a:buNone/>
                      </a:pPr>
                      <a:r>
                        <a:rPr lang="en-US" sz="1250" b="1" dirty="0">
                          <a:solidFill>
                            <a:srgbClr val="5F6B7A"/>
                          </a:solidFill>
                        </a:rPr>
                        <a:t>Not attempted</a:t>
                      </a:r>
                      <a:endParaRPr lang="en-US" sz="1250" dirty="0"/>
                    </a:p>
                  </a:txBody>
                  <a:tcPr marL="73152" marR="73152" marT="45720" marB="4572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tcPr>
                </a:tc>
              </a:tr>
            </a:tbl>
          </a:graphicData>
        </a:graphic>
      </p:graphicFrame>
      <p:sp>
        <p:nvSpPr>
          <p:cNvPr id="16" name="Text 12"/>
          <p:cNvSpPr txBox="1"/>
          <p:nvPr/>
        </p:nvSpPr>
        <p:spPr>
          <a:xfrm>
            <a:off x="6263640" y="4114800"/>
            <a:ext cx="5376672" cy="640080"/>
          </a:xfrm>
          <a:prstGeom prst="rect">
            <a:avLst/>
          </a:prstGeom>
          <a:noFill/>
          <a:ln/>
        </p:spPr>
        <p:txBody>
          <a:bodyPr wrap="square" lIns="0" tIns="0" rIns="0" bIns="0" rtlCol="0" anchor="t"/>
          <a:lstStyle/>
          <a:p>
            <a:pPr indent="0" marL="0">
              <a:buNone/>
            </a:pPr>
            <a:r>
              <a:rPr lang="en-US" sz="1400" b="1" dirty="0">
                <a:solidFill>
                  <a:srgbClr val="0B1F3A"/>
                </a:solidFill>
              </a:rPr>
              <a:t>We make no performance claim for IBM Z. Evidence of the attempt is in docs/screenshots.</a:t>
            </a:r>
            <a:endParaRPr lang="en-US" sz="1400" dirty="0"/>
          </a:p>
        </p:txBody>
      </p:sp>
      <p:sp>
        <p:nvSpPr>
          <p:cNvPr id="17" name="Text 13"/>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50" i="1" dirty="0">
                <a:solidFill>
                  <a:srgbClr val="5F6B7A"/>
                </a:solidFill>
              </a:rPr>
              <a:t>Scale context, not our benchmark: UPI recorded 2,366 crore transactions in July 2026 (PIB, key statistics attributed to NPCI).</a:t>
            </a:r>
            <a:endParaRPr lang="en-US" sz="105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The AI explains and a human decides, and every limit is stated.</a:t>
            </a:r>
            <a:endParaRPr lang="en-US" sz="2400" dirty="0"/>
          </a:p>
        </p:txBody>
      </p:sp>
      <p:sp>
        <p:nvSpPr>
          <p:cNvPr id="4" name="rai-Privacy"/>
          <p:cNvSpPr/>
          <p:nvPr/>
        </p:nvSpPr>
        <p:spPr>
          <a:xfrm>
            <a:off x="548640" y="1508760"/>
            <a:ext cx="3593592" cy="1737360"/>
          </a:xfrm>
          <a:prstGeom prst="roundRect">
            <a:avLst>
              <a:gd name="adj" fmla="val 4211"/>
            </a:avLst>
          </a:prstGeom>
          <a:solidFill>
            <a:srgbClr val="FFFFFF"/>
          </a:solidFill>
          <a:ln w="9525">
            <a:solidFill>
              <a:srgbClr val="C9D1DC"/>
            </a:solidFill>
            <a:prstDash val="solid"/>
          </a:ln>
        </p:spPr>
      </p:sp>
      <p:sp>
        <p:nvSpPr>
          <p:cNvPr id="5" name="Shape 2"/>
          <p:cNvSpPr/>
          <p:nvPr/>
        </p:nvSpPr>
        <p:spPr>
          <a:xfrm>
            <a:off x="548640" y="1508760"/>
            <a:ext cx="82296" cy="1737360"/>
          </a:xfrm>
          <a:prstGeom prst="rect">
            <a:avLst/>
          </a:prstGeom>
          <a:solidFill>
            <a:srgbClr val="0F62FE"/>
          </a:solidFill>
          <a:ln w="6350">
            <a:solidFill>
              <a:srgbClr val="0F62FE"/>
            </a:solidFill>
            <a:prstDash val="solid"/>
          </a:ln>
        </p:spPr>
      </p:sp>
      <p:sp>
        <p:nvSpPr>
          <p:cNvPr id="6" name="Text 3"/>
          <p:cNvSpPr txBox="1"/>
          <p:nvPr/>
        </p:nvSpPr>
        <p:spPr>
          <a:xfrm>
            <a:off x="822960" y="1645920"/>
            <a:ext cx="3108960" cy="365760"/>
          </a:xfrm>
          <a:prstGeom prst="rect">
            <a:avLst/>
          </a:prstGeom>
          <a:noFill/>
          <a:ln/>
        </p:spPr>
        <p:txBody>
          <a:bodyPr wrap="square" lIns="0" tIns="0" rIns="0" bIns="0" rtlCol="0" anchor="t"/>
          <a:lstStyle/>
          <a:p>
            <a:pPr indent="0" marL="0">
              <a:buNone/>
            </a:pPr>
            <a:r>
              <a:rPr lang="en-US" sz="1700" b="1" dirty="0">
                <a:solidFill>
                  <a:srgbClr val="0B1F3A"/>
                </a:solidFill>
              </a:rPr>
              <a:t>Privacy</a:t>
            </a:r>
            <a:endParaRPr lang="en-US" sz="1700" dirty="0"/>
          </a:p>
        </p:txBody>
      </p:sp>
      <p:sp>
        <p:nvSpPr>
          <p:cNvPr id="7" name="Text 4"/>
          <p:cNvSpPr txBox="1"/>
          <p:nvPr/>
        </p:nvSpPr>
        <p:spPr>
          <a:xfrm>
            <a:off x="822960" y="2057400"/>
            <a:ext cx="3154680" cy="1143000"/>
          </a:xfrm>
          <a:prstGeom prst="rect">
            <a:avLst/>
          </a:prstGeom>
          <a:noFill/>
          <a:ln/>
        </p:spPr>
        <p:txBody>
          <a:bodyPr wrap="square" lIns="0" tIns="0" rIns="0" bIns="0" rtlCol="0" anchor="t"/>
          <a:lstStyle/>
          <a:p>
            <a:pPr indent="0" marL="0">
              <a:buNone/>
            </a:pPr>
            <a:r>
              <a:rPr lang="en-US" sz="1350" dirty="0">
                <a:solidFill>
                  <a:srgbClr val="1B2430"/>
                </a:solidFill>
              </a:rPr>
              <a:t>Synthetic data only. No names or demographics as features.</a:t>
            </a:r>
            <a:endParaRPr lang="en-US" sz="1350" dirty="0"/>
          </a:p>
        </p:txBody>
      </p:sp>
      <p:sp>
        <p:nvSpPr>
          <p:cNvPr id="8" name="rai-Fairness"/>
          <p:cNvSpPr/>
          <p:nvPr/>
        </p:nvSpPr>
        <p:spPr>
          <a:xfrm>
            <a:off x="4297680" y="1508760"/>
            <a:ext cx="3593592" cy="1737360"/>
          </a:xfrm>
          <a:prstGeom prst="roundRect">
            <a:avLst>
              <a:gd name="adj" fmla="val 4211"/>
            </a:avLst>
          </a:prstGeom>
          <a:solidFill>
            <a:srgbClr val="FFFFFF"/>
          </a:solidFill>
          <a:ln w="9525">
            <a:solidFill>
              <a:srgbClr val="C9D1DC"/>
            </a:solidFill>
            <a:prstDash val="solid"/>
          </a:ln>
        </p:spPr>
      </p:sp>
      <p:sp>
        <p:nvSpPr>
          <p:cNvPr id="9" name="Shape 6"/>
          <p:cNvSpPr/>
          <p:nvPr/>
        </p:nvSpPr>
        <p:spPr>
          <a:xfrm>
            <a:off x="4297680" y="1508760"/>
            <a:ext cx="82296" cy="1737360"/>
          </a:xfrm>
          <a:prstGeom prst="rect">
            <a:avLst/>
          </a:prstGeom>
          <a:solidFill>
            <a:srgbClr val="0F62FE"/>
          </a:solidFill>
          <a:ln w="6350">
            <a:solidFill>
              <a:srgbClr val="0F62FE"/>
            </a:solidFill>
            <a:prstDash val="solid"/>
          </a:ln>
        </p:spPr>
      </p:sp>
      <p:sp>
        <p:nvSpPr>
          <p:cNvPr id="10" name="Text 7"/>
          <p:cNvSpPr txBox="1"/>
          <p:nvPr/>
        </p:nvSpPr>
        <p:spPr>
          <a:xfrm>
            <a:off x="4572000" y="1645920"/>
            <a:ext cx="3108960" cy="365760"/>
          </a:xfrm>
          <a:prstGeom prst="rect">
            <a:avLst/>
          </a:prstGeom>
          <a:noFill/>
          <a:ln/>
        </p:spPr>
        <p:txBody>
          <a:bodyPr wrap="square" lIns="0" tIns="0" rIns="0" bIns="0" rtlCol="0" anchor="t"/>
          <a:lstStyle/>
          <a:p>
            <a:pPr indent="0" marL="0">
              <a:buNone/>
            </a:pPr>
            <a:r>
              <a:rPr lang="en-US" sz="1700" b="1" dirty="0">
                <a:solidFill>
                  <a:srgbClr val="0B1F3A"/>
                </a:solidFill>
              </a:rPr>
              <a:t>Fairness</a:t>
            </a:r>
            <a:endParaRPr lang="en-US" sz="1700" dirty="0"/>
          </a:p>
        </p:txBody>
      </p:sp>
      <p:sp>
        <p:nvSpPr>
          <p:cNvPr id="11" name="Text 8"/>
          <p:cNvSpPr txBox="1"/>
          <p:nvPr/>
        </p:nvSpPr>
        <p:spPr>
          <a:xfrm>
            <a:off x="4572000" y="2057400"/>
            <a:ext cx="3154680" cy="1143000"/>
          </a:xfrm>
          <a:prstGeom prst="rect">
            <a:avLst/>
          </a:prstGeom>
          <a:noFill/>
          <a:ln/>
        </p:spPr>
        <p:txBody>
          <a:bodyPr wrap="square" lIns="0" tIns="0" rIns="0" bIns="0" rtlCol="0" anchor="t"/>
          <a:lstStyle/>
          <a:p>
            <a:pPr indent="0" marL="0">
              <a:buNone/>
            </a:pPr>
            <a:r>
              <a:rPr lang="en-US" sz="1350" dirty="0">
                <a:solidFill>
                  <a:srgbClr val="1B2430"/>
                </a:solidFill>
              </a:rPr>
              <a:t>No protected attributes used. Checked by proxy on the demo file only.</a:t>
            </a:r>
            <a:endParaRPr lang="en-US" sz="1350" dirty="0"/>
          </a:p>
        </p:txBody>
      </p:sp>
      <p:sp>
        <p:nvSpPr>
          <p:cNvPr id="12" name="rai-Transparency"/>
          <p:cNvSpPr/>
          <p:nvPr/>
        </p:nvSpPr>
        <p:spPr>
          <a:xfrm>
            <a:off x="8046720" y="1508760"/>
            <a:ext cx="3593592" cy="1737360"/>
          </a:xfrm>
          <a:prstGeom prst="roundRect">
            <a:avLst>
              <a:gd name="adj" fmla="val 4211"/>
            </a:avLst>
          </a:prstGeom>
          <a:solidFill>
            <a:srgbClr val="FFFFFF"/>
          </a:solidFill>
          <a:ln w="9525">
            <a:solidFill>
              <a:srgbClr val="C9D1DC"/>
            </a:solidFill>
            <a:prstDash val="solid"/>
          </a:ln>
        </p:spPr>
      </p:sp>
      <p:sp>
        <p:nvSpPr>
          <p:cNvPr id="13" name="Shape 10"/>
          <p:cNvSpPr/>
          <p:nvPr/>
        </p:nvSpPr>
        <p:spPr>
          <a:xfrm>
            <a:off x="8046720" y="1508760"/>
            <a:ext cx="82296" cy="1737360"/>
          </a:xfrm>
          <a:prstGeom prst="rect">
            <a:avLst/>
          </a:prstGeom>
          <a:solidFill>
            <a:srgbClr val="0F62FE"/>
          </a:solidFill>
          <a:ln w="6350">
            <a:solidFill>
              <a:srgbClr val="0F62FE"/>
            </a:solidFill>
            <a:prstDash val="solid"/>
          </a:ln>
        </p:spPr>
      </p:sp>
      <p:sp>
        <p:nvSpPr>
          <p:cNvPr id="14" name="Text 11"/>
          <p:cNvSpPr txBox="1"/>
          <p:nvPr/>
        </p:nvSpPr>
        <p:spPr>
          <a:xfrm>
            <a:off x="8321040" y="1645920"/>
            <a:ext cx="3108960" cy="365760"/>
          </a:xfrm>
          <a:prstGeom prst="rect">
            <a:avLst/>
          </a:prstGeom>
          <a:noFill/>
          <a:ln/>
        </p:spPr>
        <p:txBody>
          <a:bodyPr wrap="square" lIns="0" tIns="0" rIns="0" bIns="0" rtlCol="0" anchor="t"/>
          <a:lstStyle/>
          <a:p>
            <a:pPr indent="0" marL="0">
              <a:buNone/>
            </a:pPr>
            <a:r>
              <a:rPr lang="en-US" sz="1700" b="1" dirty="0">
                <a:solidFill>
                  <a:srgbClr val="0B1F3A"/>
                </a:solidFill>
              </a:rPr>
              <a:t>Transparency</a:t>
            </a:r>
            <a:endParaRPr lang="en-US" sz="1700" dirty="0"/>
          </a:p>
        </p:txBody>
      </p:sp>
      <p:sp>
        <p:nvSpPr>
          <p:cNvPr id="15" name="Text 12"/>
          <p:cNvSpPr txBox="1"/>
          <p:nvPr/>
        </p:nvSpPr>
        <p:spPr>
          <a:xfrm>
            <a:off x="8321040" y="2057400"/>
            <a:ext cx="3154680" cy="1143000"/>
          </a:xfrm>
          <a:prstGeom prst="rect">
            <a:avLst/>
          </a:prstGeom>
          <a:noFill/>
          <a:ln/>
        </p:spPr>
        <p:txBody>
          <a:bodyPr wrap="square" lIns="0" tIns="0" rIns="0" bIns="0" rtlCol="0" anchor="t"/>
          <a:lstStyle/>
          <a:p>
            <a:pPr indent="0" marL="0">
              <a:buNone/>
            </a:pPr>
            <a:r>
              <a:rPr lang="en-US" sz="1350" dirty="0">
                <a:solidFill>
                  <a:srgbClr val="1B2430"/>
                </a:solidFill>
              </a:rPr>
              <a:t>Every flagged payment shows its reasons.</a:t>
            </a:r>
            <a:endParaRPr lang="en-US" sz="1350" dirty="0"/>
          </a:p>
        </p:txBody>
      </p:sp>
      <p:sp>
        <p:nvSpPr>
          <p:cNvPr id="16" name="rai-Human oversight"/>
          <p:cNvSpPr/>
          <p:nvPr/>
        </p:nvSpPr>
        <p:spPr>
          <a:xfrm>
            <a:off x="548640" y="3383280"/>
            <a:ext cx="3593592" cy="1737360"/>
          </a:xfrm>
          <a:prstGeom prst="roundRect">
            <a:avLst>
              <a:gd name="adj" fmla="val 4211"/>
            </a:avLst>
          </a:prstGeom>
          <a:solidFill>
            <a:srgbClr val="FFFFFF"/>
          </a:solidFill>
          <a:ln w="9525">
            <a:solidFill>
              <a:srgbClr val="C9D1DC"/>
            </a:solidFill>
            <a:prstDash val="solid"/>
          </a:ln>
        </p:spPr>
      </p:sp>
      <p:sp>
        <p:nvSpPr>
          <p:cNvPr id="17" name="Shape 14"/>
          <p:cNvSpPr/>
          <p:nvPr/>
        </p:nvSpPr>
        <p:spPr>
          <a:xfrm>
            <a:off x="548640" y="3383280"/>
            <a:ext cx="82296" cy="1737360"/>
          </a:xfrm>
          <a:prstGeom prst="rect">
            <a:avLst/>
          </a:prstGeom>
          <a:solidFill>
            <a:srgbClr val="0F62FE"/>
          </a:solidFill>
          <a:ln w="6350">
            <a:solidFill>
              <a:srgbClr val="0F62FE"/>
            </a:solidFill>
            <a:prstDash val="solid"/>
          </a:ln>
        </p:spPr>
      </p:sp>
      <p:sp>
        <p:nvSpPr>
          <p:cNvPr id="18" name="Text 15"/>
          <p:cNvSpPr txBox="1"/>
          <p:nvPr/>
        </p:nvSpPr>
        <p:spPr>
          <a:xfrm>
            <a:off x="822960" y="3520440"/>
            <a:ext cx="3108960" cy="365760"/>
          </a:xfrm>
          <a:prstGeom prst="rect">
            <a:avLst/>
          </a:prstGeom>
          <a:noFill/>
          <a:ln/>
        </p:spPr>
        <p:txBody>
          <a:bodyPr wrap="square" lIns="0" tIns="0" rIns="0" bIns="0" rtlCol="0" anchor="t"/>
          <a:lstStyle/>
          <a:p>
            <a:pPr indent="0" marL="0">
              <a:buNone/>
            </a:pPr>
            <a:r>
              <a:rPr lang="en-US" sz="1700" b="1" dirty="0">
                <a:solidFill>
                  <a:srgbClr val="0B1F3A"/>
                </a:solidFill>
              </a:rPr>
              <a:t>Human oversight</a:t>
            </a:r>
            <a:endParaRPr lang="en-US" sz="1700" dirty="0"/>
          </a:p>
        </p:txBody>
      </p:sp>
      <p:sp>
        <p:nvSpPr>
          <p:cNvPr id="19" name="Text 16"/>
          <p:cNvSpPr txBox="1"/>
          <p:nvPr/>
        </p:nvSpPr>
        <p:spPr>
          <a:xfrm>
            <a:off x="822960" y="3931920"/>
            <a:ext cx="3154680" cy="1143000"/>
          </a:xfrm>
          <a:prstGeom prst="rect">
            <a:avLst/>
          </a:prstGeom>
          <a:noFill/>
          <a:ln/>
        </p:spPr>
        <p:txBody>
          <a:bodyPr wrap="square" lIns="0" tIns="0" rIns="0" bIns="0" rtlCol="0" anchor="t"/>
          <a:lstStyle/>
          <a:p>
            <a:pPr indent="0" marL="0">
              <a:buNone/>
            </a:pPr>
            <a:r>
              <a:rPr lang="en-US" sz="1350" dirty="0">
                <a:solidFill>
                  <a:srgbClr val="1B2430"/>
                </a:solidFill>
              </a:rPr>
              <a:t>Held payments go to an analyst who can approve, block or escalate.</a:t>
            </a:r>
            <a:endParaRPr lang="en-US" sz="1350" dirty="0"/>
          </a:p>
        </p:txBody>
      </p:sp>
      <p:sp>
        <p:nvSpPr>
          <p:cNvPr id="20" name="rai-Safe GenAI"/>
          <p:cNvSpPr/>
          <p:nvPr/>
        </p:nvSpPr>
        <p:spPr>
          <a:xfrm>
            <a:off x="4297680" y="3383280"/>
            <a:ext cx="3593592" cy="1737360"/>
          </a:xfrm>
          <a:prstGeom prst="roundRect">
            <a:avLst>
              <a:gd name="adj" fmla="val 4211"/>
            </a:avLst>
          </a:prstGeom>
          <a:solidFill>
            <a:srgbClr val="FFFFFF"/>
          </a:solidFill>
          <a:ln w="9525">
            <a:solidFill>
              <a:srgbClr val="C9D1DC"/>
            </a:solidFill>
            <a:prstDash val="solid"/>
          </a:ln>
        </p:spPr>
      </p:sp>
      <p:sp>
        <p:nvSpPr>
          <p:cNvPr id="21" name="Shape 18"/>
          <p:cNvSpPr/>
          <p:nvPr/>
        </p:nvSpPr>
        <p:spPr>
          <a:xfrm>
            <a:off x="4297680" y="3383280"/>
            <a:ext cx="82296" cy="1737360"/>
          </a:xfrm>
          <a:prstGeom prst="rect">
            <a:avLst/>
          </a:prstGeom>
          <a:solidFill>
            <a:srgbClr val="0F62FE"/>
          </a:solidFill>
          <a:ln w="6350">
            <a:solidFill>
              <a:srgbClr val="0F62FE"/>
            </a:solidFill>
            <a:prstDash val="solid"/>
          </a:ln>
        </p:spPr>
      </p:sp>
      <p:sp>
        <p:nvSpPr>
          <p:cNvPr id="22" name="Text 19"/>
          <p:cNvSpPr txBox="1"/>
          <p:nvPr/>
        </p:nvSpPr>
        <p:spPr>
          <a:xfrm>
            <a:off x="4572000" y="3520440"/>
            <a:ext cx="3108960" cy="365760"/>
          </a:xfrm>
          <a:prstGeom prst="rect">
            <a:avLst/>
          </a:prstGeom>
          <a:noFill/>
          <a:ln/>
        </p:spPr>
        <p:txBody>
          <a:bodyPr wrap="square" lIns="0" tIns="0" rIns="0" bIns="0" rtlCol="0" anchor="t"/>
          <a:lstStyle/>
          <a:p>
            <a:pPr indent="0" marL="0">
              <a:buNone/>
            </a:pPr>
            <a:r>
              <a:rPr lang="en-US" sz="1700" b="1" dirty="0">
                <a:solidFill>
                  <a:srgbClr val="0B1F3A"/>
                </a:solidFill>
              </a:rPr>
              <a:t>Safe GenAI</a:t>
            </a:r>
            <a:endParaRPr lang="en-US" sz="1700" dirty="0"/>
          </a:p>
        </p:txBody>
      </p:sp>
      <p:sp>
        <p:nvSpPr>
          <p:cNvPr id="23" name="Text 20"/>
          <p:cNvSpPr txBox="1"/>
          <p:nvPr/>
        </p:nvSpPr>
        <p:spPr>
          <a:xfrm>
            <a:off x="4572000" y="3931920"/>
            <a:ext cx="3154680" cy="1143000"/>
          </a:xfrm>
          <a:prstGeom prst="rect">
            <a:avLst/>
          </a:prstGeom>
          <a:noFill/>
          <a:ln/>
        </p:spPr>
        <p:txBody>
          <a:bodyPr wrap="square" lIns="0" tIns="0" rIns="0" bIns="0" rtlCol="0" anchor="t"/>
          <a:lstStyle/>
          <a:p>
            <a:pPr indent="0" marL="0">
              <a:buNone/>
            </a:pPr>
            <a:r>
              <a:rPr lang="en-US" sz="1350" dirty="0">
                <a:solidFill>
                  <a:srgbClr val="1B2430"/>
                </a:solidFill>
              </a:rPr>
              <a:t>Alert text only rephrases facts we give it, every word is checked, with a template fallback. It cannot change a decision.</a:t>
            </a:r>
            <a:endParaRPr lang="en-US" sz="1350" dirty="0"/>
          </a:p>
        </p:txBody>
      </p:sp>
      <p:sp>
        <p:nvSpPr>
          <p:cNvPr id="24" name="rai-Fail-safe and audit"/>
          <p:cNvSpPr/>
          <p:nvPr/>
        </p:nvSpPr>
        <p:spPr>
          <a:xfrm>
            <a:off x="8046720" y="3383280"/>
            <a:ext cx="3593592" cy="1737360"/>
          </a:xfrm>
          <a:prstGeom prst="roundRect">
            <a:avLst>
              <a:gd name="adj" fmla="val 4211"/>
            </a:avLst>
          </a:prstGeom>
          <a:solidFill>
            <a:srgbClr val="FFFFFF"/>
          </a:solidFill>
          <a:ln w="9525">
            <a:solidFill>
              <a:srgbClr val="C9D1DC"/>
            </a:solidFill>
            <a:prstDash val="solid"/>
          </a:ln>
        </p:spPr>
      </p:sp>
      <p:sp>
        <p:nvSpPr>
          <p:cNvPr id="25" name="Shape 22"/>
          <p:cNvSpPr/>
          <p:nvPr/>
        </p:nvSpPr>
        <p:spPr>
          <a:xfrm>
            <a:off x="8046720" y="3383280"/>
            <a:ext cx="82296" cy="1737360"/>
          </a:xfrm>
          <a:prstGeom prst="rect">
            <a:avLst/>
          </a:prstGeom>
          <a:solidFill>
            <a:srgbClr val="0F62FE"/>
          </a:solidFill>
          <a:ln w="6350">
            <a:solidFill>
              <a:srgbClr val="0F62FE"/>
            </a:solidFill>
            <a:prstDash val="solid"/>
          </a:ln>
        </p:spPr>
      </p:sp>
      <p:sp>
        <p:nvSpPr>
          <p:cNvPr id="26" name="Text 23"/>
          <p:cNvSpPr txBox="1"/>
          <p:nvPr/>
        </p:nvSpPr>
        <p:spPr>
          <a:xfrm>
            <a:off x="8321040" y="3520440"/>
            <a:ext cx="3108960" cy="365760"/>
          </a:xfrm>
          <a:prstGeom prst="rect">
            <a:avLst/>
          </a:prstGeom>
          <a:noFill/>
          <a:ln/>
        </p:spPr>
        <p:txBody>
          <a:bodyPr wrap="square" lIns="0" tIns="0" rIns="0" bIns="0" rtlCol="0" anchor="t"/>
          <a:lstStyle/>
          <a:p>
            <a:pPr indent="0" marL="0">
              <a:buNone/>
            </a:pPr>
            <a:r>
              <a:rPr lang="en-US" sz="1700" b="1" dirty="0">
                <a:solidFill>
                  <a:srgbClr val="0B1F3A"/>
                </a:solidFill>
              </a:rPr>
              <a:t>Fail-safe and audit</a:t>
            </a:r>
            <a:endParaRPr lang="en-US" sz="1700" dirty="0"/>
          </a:p>
        </p:txBody>
      </p:sp>
      <p:sp>
        <p:nvSpPr>
          <p:cNvPr id="27" name="Text 24"/>
          <p:cNvSpPr txBox="1"/>
          <p:nvPr/>
        </p:nvSpPr>
        <p:spPr>
          <a:xfrm>
            <a:off x="8321040" y="3931920"/>
            <a:ext cx="3154680" cy="1143000"/>
          </a:xfrm>
          <a:prstGeom prst="rect">
            <a:avLst/>
          </a:prstGeom>
          <a:noFill/>
          <a:ln/>
        </p:spPr>
        <p:txBody>
          <a:bodyPr wrap="square" lIns="0" tIns="0" rIns="0" bIns="0" rtlCol="0" anchor="t"/>
          <a:lstStyle/>
          <a:p>
            <a:pPr indent="0" marL="0">
              <a:buNone/>
            </a:pPr>
            <a:r>
              <a:rPr lang="en-US" sz="1350" dirty="0">
                <a:solidFill>
                  <a:srgbClr val="1B2430"/>
                </a:solidFill>
              </a:rPr>
              <a:t>If scoring fails, STEP_UP. Every decision and analyst action is logged.</a:t>
            </a:r>
            <a:endParaRPr lang="en-US" sz="1350" dirty="0"/>
          </a:p>
        </p:txBody>
      </p:sp>
      <p:sp>
        <p:nvSpPr>
          <p:cNvPr id="28" name="Text 25"/>
          <p:cNvSpPr txBox="1"/>
          <p:nvPr/>
        </p:nvSpPr>
        <p:spPr>
          <a:xfrm>
            <a:off x="548640" y="5349240"/>
            <a:ext cx="11091672" cy="502920"/>
          </a:xfrm>
          <a:prstGeom prst="rect">
            <a:avLst/>
          </a:prstGeom>
          <a:noFill/>
          <a:ln/>
        </p:spPr>
        <p:txBody>
          <a:bodyPr wrap="square" lIns="0" tIns="0" rIns="0" bIns="0" rtlCol="0" anchor="t"/>
          <a:lstStyle/>
          <a:p>
            <a:pPr indent="0" marL="0">
              <a:buNone/>
            </a:pPr>
            <a:r>
              <a:rPr lang="en-US" sz="1400" b="1" dirty="0">
                <a:solidFill>
                  <a:srgbClr val="DA1E28"/>
                </a:solidFill>
              </a:rPr>
              <a:t>Limits: </a:t>
            </a:r>
            <a:pPr indent="0" marL="0">
              <a:buNone/>
            </a:pPr>
            <a:r>
              <a:rPr lang="en-US" sz="1400" dirty="0">
                <a:solidFill>
                  <a:srgbClr val="1B2430"/>
                </a:solidFill>
              </a:rPr>
              <a:t>synthetic data, drift over time, fraudsters adapt, not run on IBM Z, SHAP not built, mule bursts rely on a rule.</a:t>
            </a:r>
            <a:endParaRPr lang="en-US" sz="1400" dirty="0"/>
          </a:p>
        </p:txBody>
      </p:sp>
      <p:sp>
        <p:nvSpPr>
          <p:cNvPr id="29" name="Text 26"/>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50" i="1" dirty="0">
                <a:solidFill>
                  <a:srgbClr val="5F6B7A"/>
                </a:solidFill>
              </a:rPr>
              <a:t>See docs/responsible_ai.md and docs/fairness_robustness.md.</a:t>
            </a:r>
            <a:endParaRPr lang="en-US" sz="105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Stopping a payment before settlement is the point where a scam can still be undone.</a:t>
            </a:r>
            <a:endParaRPr lang="en-US" sz="2400" dirty="0"/>
          </a:p>
        </p:txBody>
      </p:sp>
      <p:sp>
        <p:nvSpPr>
          <p:cNvPr id="4" name="impact-₹79,500"/>
          <p:cNvSpPr/>
          <p:nvPr/>
        </p:nvSpPr>
        <p:spPr>
          <a:xfrm>
            <a:off x="548640" y="1508760"/>
            <a:ext cx="3593592" cy="1828800"/>
          </a:xfrm>
          <a:prstGeom prst="roundRect">
            <a:avLst>
              <a:gd name="adj" fmla="val 4000"/>
            </a:avLst>
          </a:prstGeom>
          <a:solidFill>
            <a:srgbClr val="FFFFFF"/>
          </a:solidFill>
          <a:ln w="9525">
            <a:solidFill>
              <a:srgbClr val="C9D1DC"/>
            </a:solidFill>
            <a:prstDash val="solid"/>
          </a:ln>
        </p:spPr>
      </p:sp>
      <p:sp>
        <p:nvSpPr>
          <p:cNvPr id="5" name="Shape 2"/>
          <p:cNvSpPr/>
          <p:nvPr/>
        </p:nvSpPr>
        <p:spPr>
          <a:xfrm>
            <a:off x="548640" y="1508760"/>
            <a:ext cx="3593592" cy="82296"/>
          </a:xfrm>
          <a:prstGeom prst="rect">
            <a:avLst/>
          </a:prstGeom>
          <a:solidFill>
            <a:srgbClr val="DA1E28"/>
          </a:solidFill>
          <a:ln w="6350">
            <a:solidFill>
              <a:srgbClr val="DA1E28"/>
            </a:solidFill>
            <a:prstDash val="solid"/>
          </a:ln>
        </p:spPr>
      </p:sp>
      <p:sp>
        <p:nvSpPr>
          <p:cNvPr id="6" name="Text 3"/>
          <p:cNvSpPr txBox="1"/>
          <p:nvPr/>
        </p:nvSpPr>
        <p:spPr>
          <a:xfrm>
            <a:off x="777240" y="1783080"/>
            <a:ext cx="3154680" cy="777240"/>
          </a:xfrm>
          <a:prstGeom prst="rect">
            <a:avLst/>
          </a:prstGeom>
          <a:noFill/>
          <a:ln/>
        </p:spPr>
        <p:txBody>
          <a:bodyPr wrap="square" lIns="0" tIns="0" rIns="0" bIns="0" rtlCol="0" anchor="t"/>
          <a:lstStyle/>
          <a:p>
            <a:pPr indent="0" marL="0">
              <a:buNone/>
            </a:pPr>
            <a:r>
              <a:rPr lang="en-US" sz="3600" b="1" dirty="0">
                <a:solidFill>
                  <a:srgbClr val="DA1E28"/>
                </a:solidFill>
              </a:rPr>
              <a:t>₹79,500</a:t>
            </a:r>
            <a:endParaRPr lang="en-US" sz="3600" dirty="0"/>
          </a:p>
        </p:txBody>
      </p:sp>
      <p:sp>
        <p:nvSpPr>
          <p:cNvPr id="7" name="Text 4"/>
          <p:cNvSpPr txBox="1"/>
          <p:nvPr/>
        </p:nvSpPr>
        <p:spPr>
          <a:xfrm>
            <a:off x="777240" y="2606040"/>
            <a:ext cx="3154680" cy="685800"/>
          </a:xfrm>
          <a:prstGeom prst="rect">
            <a:avLst/>
          </a:prstGeom>
          <a:noFill/>
          <a:ln/>
        </p:spPr>
        <p:txBody>
          <a:bodyPr wrap="square" lIns="0" tIns="0" rIns="0" bIns="0" rtlCol="0" anchor="t"/>
          <a:lstStyle/>
          <a:p>
            <a:pPr indent="0" marL="0">
              <a:buNone/>
            </a:pPr>
            <a:r>
              <a:rPr lang="en-US" sz="1400" dirty="0">
                <a:solidFill>
                  <a:srgbClr val="1B2430"/>
                </a:solidFill>
              </a:rPr>
              <a:t>held before settlement: two drain payments</a:t>
            </a:r>
            <a:endParaRPr lang="en-US" sz="1400" dirty="0"/>
          </a:p>
        </p:txBody>
      </p:sp>
      <p:sp>
        <p:nvSpPr>
          <p:cNvPr id="8" name="impact-245 of 252"/>
          <p:cNvSpPr/>
          <p:nvPr/>
        </p:nvSpPr>
        <p:spPr>
          <a:xfrm>
            <a:off x="4297680" y="1508760"/>
            <a:ext cx="3593592" cy="1828800"/>
          </a:xfrm>
          <a:prstGeom prst="roundRect">
            <a:avLst>
              <a:gd name="adj" fmla="val 4000"/>
            </a:avLst>
          </a:prstGeom>
          <a:solidFill>
            <a:srgbClr val="FFFFFF"/>
          </a:solidFill>
          <a:ln w="9525">
            <a:solidFill>
              <a:srgbClr val="C9D1DC"/>
            </a:solidFill>
            <a:prstDash val="solid"/>
          </a:ln>
        </p:spPr>
      </p:sp>
      <p:sp>
        <p:nvSpPr>
          <p:cNvPr id="9" name="Shape 6"/>
          <p:cNvSpPr/>
          <p:nvPr/>
        </p:nvSpPr>
        <p:spPr>
          <a:xfrm>
            <a:off x="4297680" y="1508760"/>
            <a:ext cx="3593592" cy="82296"/>
          </a:xfrm>
          <a:prstGeom prst="rect">
            <a:avLst/>
          </a:prstGeom>
          <a:solidFill>
            <a:srgbClr val="198038"/>
          </a:solidFill>
          <a:ln w="6350">
            <a:solidFill>
              <a:srgbClr val="198038"/>
            </a:solidFill>
            <a:prstDash val="solid"/>
          </a:ln>
        </p:spPr>
      </p:sp>
      <p:sp>
        <p:nvSpPr>
          <p:cNvPr id="10" name="Text 7"/>
          <p:cNvSpPr txBox="1"/>
          <p:nvPr/>
        </p:nvSpPr>
        <p:spPr>
          <a:xfrm>
            <a:off x="4526280" y="1783080"/>
            <a:ext cx="3154680" cy="777240"/>
          </a:xfrm>
          <a:prstGeom prst="rect">
            <a:avLst/>
          </a:prstGeom>
          <a:noFill/>
          <a:ln/>
        </p:spPr>
        <p:txBody>
          <a:bodyPr wrap="square" lIns="0" tIns="0" rIns="0" bIns="0" rtlCol="0" anchor="t"/>
          <a:lstStyle/>
          <a:p>
            <a:pPr indent="0" marL="0">
              <a:buNone/>
            </a:pPr>
            <a:r>
              <a:rPr lang="en-US" sz="3600" b="1" dirty="0">
                <a:solidFill>
                  <a:srgbClr val="198038"/>
                </a:solidFill>
              </a:rPr>
              <a:t>245 of 252</a:t>
            </a:r>
            <a:endParaRPr lang="en-US" sz="3600" dirty="0"/>
          </a:p>
        </p:txBody>
      </p:sp>
      <p:sp>
        <p:nvSpPr>
          <p:cNvPr id="11" name="Text 8"/>
          <p:cNvSpPr txBox="1"/>
          <p:nvPr/>
        </p:nvSpPr>
        <p:spPr>
          <a:xfrm>
            <a:off x="4526280" y="2606040"/>
            <a:ext cx="3154680" cy="685800"/>
          </a:xfrm>
          <a:prstGeom prst="rect">
            <a:avLst/>
          </a:prstGeom>
          <a:noFill/>
          <a:ln/>
        </p:spPr>
        <p:txBody>
          <a:bodyPr wrap="square" lIns="0" tIns="0" rIns="0" bIns="0" rtlCol="0" anchor="t"/>
          <a:lstStyle/>
          <a:p>
            <a:pPr indent="0" marL="0">
              <a:buNone/>
            </a:pPr>
            <a:r>
              <a:rPr lang="en-US" sz="1400" dirty="0">
                <a:solidFill>
                  <a:srgbClr val="1B2430"/>
                </a:solidFill>
              </a:rPr>
              <a:t>honest payments went through with no extra step</a:t>
            </a:r>
            <a:endParaRPr lang="en-US" sz="1400" dirty="0"/>
          </a:p>
        </p:txBody>
      </p:sp>
      <p:sp>
        <p:nvSpPr>
          <p:cNvPr id="12" name="impact-7"/>
          <p:cNvSpPr/>
          <p:nvPr/>
        </p:nvSpPr>
        <p:spPr>
          <a:xfrm>
            <a:off x="8046720" y="1508760"/>
            <a:ext cx="3593592" cy="1828800"/>
          </a:xfrm>
          <a:prstGeom prst="roundRect">
            <a:avLst>
              <a:gd name="adj" fmla="val 4000"/>
            </a:avLst>
          </a:prstGeom>
          <a:solidFill>
            <a:srgbClr val="FFFFFF"/>
          </a:solidFill>
          <a:ln w="9525">
            <a:solidFill>
              <a:srgbClr val="C9D1DC"/>
            </a:solidFill>
            <a:prstDash val="solid"/>
          </a:ln>
        </p:spPr>
      </p:sp>
      <p:sp>
        <p:nvSpPr>
          <p:cNvPr id="13" name="Shape 10"/>
          <p:cNvSpPr/>
          <p:nvPr/>
        </p:nvSpPr>
        <p:spPr>
          <a:xfrm>
            <a:off x="8046720" y="1508760"/>
            <a:ext cx="3593592" cy="82296"/>
          </a:xfrm>
          <a:prstGeom prst="rect">
            <a:avLst/>
          </a:prstGeom>
          <a:solidFill>
            <a:srgbClr val="B28600"/>
          </a:solidFill>
          <a:ln w="6350">
            <a:solidFill>
              <a:srgbClr val="B28600"/>
            </a:solidFill>
            <a:prstDash val="solid"/>
          </a:ln>
        </p:spPr>
      </p:sp>
      <p:sp>
        <p:nvSpPr>
          <p:cNvPr id="14" name="Text 11"/>
          <p:cNvSpPr txBox="1"/>
          <p:nvPr/>
        </p:nvSpPr>
        <p:spPr>
          <a:xfrm>
            <a:off x="8275320" y="1783080"/>
            <a:ext cx="3154680" cy="777240"/>
          </a:xfrm>
          <a:prstGeom prst="rect">
            <a:avLst/>
          </a:prstGeom>
          <a:noFill/>
          <a:ln/>
        </p:spPr>
        <p:txBody>
          <a:bodyPr wrap="square" lIns="0" tIns="0" rIns="0" bIns="0" rtlCol="0" anchor="t"/>
          <a:lstStyle/>
          <a:p>
            <a:pPr indent="0" marL="0">
              <a:buNone/>
            </a:pPr>
            <a:r>
              <a:rPr lang="en-US" sz="3600" b="1" dirty="0">
                <a:solidFill>
                  <a:srgbClr val="B28600"/>
                </a:solidFill>
              </a:rPr>
              <a:t>7</a:t>
            </a:r>
            <a:endParaRPr lang="en-US" sz="3600" dirty="0"/>
          </a:p>
        </p:txBody>
      </p:sp>
      <p:sp>
        <p:nvSpPr>
          <p:cNvPr id="15" name="Text 12"/>
          <p:cNvSpPr txBox="1"/>
          <p:nvPr/>
        </p:nvSpPr>
        <p:spPr>
          <a:xfrm>
            <a:off x="8275320" y="2606040"/>
            <a:ext cx="3154680" cy="685800"/>
          </a:xfrm>
          <a:prstGeom prst="rect">
            <a:avLst/>
          </a:prstGeom>
          <a:noFill/>
          <a:ln/>
        </p:spPr>
        <p:txBody>
          <a:bodyPr wrap="square" lIns="0" tIns="0" rIns="0" bIns="0" rtlCol="0" anchor="t"/>
          <a:lstStyle/>
          <a:p>
            <a:pPr indent="0" marL="0">
              <a:buNone/>
            </a:pPr>
            <a:r>
              <a:rPr lang="en-US" sz="1400" dirty="0">
                <a:solidFill>
                  <a:srgbClr val="1B2430"/>
                </a:solidFill>
              </a:rPr>
              <a:t>flagged: 5 STEP_UP and 2 HOLD</a:t>
            </a:r>
            <a:endParaRPr lang="en-US" sz="1400" dirty="0"/>
          </a:p>
        </p:txBody>
      </p:sp>
      <p:sp>
        <p:nvSpPr>
          <p:cNvPr id="16" name="national"/>
          <p:cNvSpPr/>
          <p:nvPr/>
        </p:nvSpPr>
        <p:spPr>
          <a:xfrm>
            <a:off x="548640" y="3611880"/>
            <a:ext cx="5486400" cy="2194560"/>
          </a:xfrm>
          <a:prstGeom prst="roundRect">
            <a:avLst>
              <a:gd name="adj" fmla="val 3333"/>
            </a:avLst>
          </a:prstGeom>
          <a:solidFill>
            <a:srgbClr val="F2F4F8"/>
          </a:solidFill>
          <a:ln w="9525">
            <a:solidFill>
              <a:srgbClr val="C9D1DC"/>
            </a:solidFill>
            <a:prstDash val="solid"/>
          </a:ln>
        </p:spPr>
      </p:sp>
      <p:sp>
        <p:nvSpPr>
          <p:cNvPr id="17" name="Text 14"/>
          <p:cNvSpPr txBox="1"/>
          <p:nvPr/>
        </p:nvSpPr>
        <p:spPr>
          <a:xfrm>
            <a:off x="777240" y="3749040"/>
            <a:ext cx="5029200" cy="274320"/>
          </a:xfrm>
          <a:prstGeom prst="rect">
            <a:avLst/>
          </a:prstGeom>
          <a:noFill/>
          <a:ln/>
        </p:spPr>
        <p:txBody>
          <a:bodyPr wrap="square" lIns="0" tIns="0" rIns="0" bIns="0" rtlCol="0" anchor="t"/>
          <a:lstStyle/>
          <a:p>
            <a:pPr indent="0" marL="0">
              <a:buNone/>
            </a:pPr>
            <a:r>
              <a:rPr lang="en-US" sz="1100" b="1" spc="100" kern="0" dirty="0">
                <a:solidFill>
                  <a:srgbClr val="0F62FE"/>
                </a:solidFill>
              </a:rPr>
              <a:t>REPORTING AFTER THE FACT STILL HELPS</a:t>
            </a:r>
            <a:endParaRPr lang="en-US" sz="1100" dirty="0"/>
          </a:p>
        </p:txBody>
      </p:sp>
      <p:sp>
        <p:nvSpPr>
          <p:cNvPr id="18" name="Text 15"/>
          <p:cNvSpPr txBox="1"/>
          <p:nvPr/>
        </p:nvSpPr>
        <p:spPr>
          <a:xfrm>
            <a:off x="777240" y="4114800"/>
            <a:ext cx="5029200" cy="1554480"/>
          </a:xfrm>
          <a:prstGeom prst="rect">
            <a:avLst/>
          </a:prstGeom>
          <a:noFill/>
          <a:ln/>
        </p:spPr>
        <p:txBody>
          <a:bodyPr wrap="square" lIns="0" tIns="0" rIns="0" bIns="0" rtlCol="0" anchor="t"/>
          <a:lstStyle/>
          <a:p>
            <a:pPr indent="0" marL="0">
              <a:buNone/>
            </a:pPr>
            <a:r>
              <a:rPr lang="en-US" sz="1500" dirty="0">
                <a:solidFill>
                  <a:srgbClr val="1B2430"/>
                </a:solidFill>
              </a:rPr>
              <a:t>More than ₹11,158 crore saved in more than 32.80 lakh complaints (till 30.06.2026). ZShield acts earlier, before the money moves.</a:t>
            </a:r>
            <a:endParaRPr lang="en-US" sz="1500" dirty="0"/>
          </a:p>
        </p:txBody>
      </p:sp>
      <p:sp>
        <p:nvSpPr>
          <p:cNvPr id="19" name="next-steps"/>
          <p:cNvSpPr/>
          <p:nvPr/>
        </p:nvSpPr>
        <p:spPr>
          <a:xfrm>
            <a:off x="6263640" y="3611880"/>
            <a:ext cx="5376672" cy="2194560"/>
          </a:xfrm>
          <a:prstGeom prst="roundRect">
            <a:avLst>
              <a:gd name="adj" fmla="val 3333"/>
            </a:avLst>
          </a:prstGeom>
          <a:solidFill>
            <a:srgbClr val="FFFFFF"/>
          </a:solidFill>
          <a:ln w="9525">
            <a:solidFill>
              <a:srgbClr val="C9D1DC"/>
            </a:solidFill>
            <a:prstDash val="solid"/>
          </a:ln>
        </p:spPr>
      </p:sp>
      <p:sp>
        <p:nvSpPr>
          <p:cNvPr id="20" name="Text 17"/>
          <p:cNvSpPr txBox="1"/>
          <p:nvPr/>
        </p:nvSpPr>
        <p:spPr>
          <a:xfrm>
            <a:off x="6492240" y="3749040"/>
            <a:ext cx="4846320" cy="274320"/>
          </a:xfrm>
          <a:prstGeom prst="rect">
            <a:avLst/>
          </a:prstGeom>
          <a:noFill/>
          <a:ln/>
        </p:spPr>
        <p:txBody>
          <a:bodyPr wrap="square" lIns="0" tIns="0" rIns="0" bIns="0" rtlCol="0" anchor="t"/>
          <a:lstStyle/>
          <a:p>
            <a:pPr indent="0" marL="0">
              <a:buNone/>
            </a:pPr>
            <a:r>
              <a:rPr lang="en-US" sz="1100" b="1" spc="100" kern="0" dirty="0">
                <a:solidFill>
                  <a:srgbClr val="0F62FE"/>
                </a:solidFill>
              </a:rPr>
              <a:t>NEXT STEPS</a:t>
            </a:r>
            <a:endParaRPr lang="en-US" sz="1100" dirty="0"/>
          </a:p>
        </p:txBody>
      </p:sp>
      <p:sp>
        <p:nvSpPr>
          <p:cNvPr id="21" name="Text 18"/>
          <p:cNvSpPr txBox="1"/>
          <p:nvPr/>
        </p:nvSpPr>
        <p:spPr>
          <a:xfrm>
            <a:off x="6492240" y="4114800"/>
            <a:ext cx="4937760" cy="16002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430"/>
                </a:solidFill>
              </a:rPr>
              <a:t>Run it on IBM LinuxONE and test Z acceleration</a:t>
            </a:r>
            <a:endParaRPr lang="en-US" sz="1400" dirty="0"/>
          </a:p>
          <a:p>
            <a:pPr marL="342900" indent="-342900">
              <a:spcAft>
                <a:spcPts val="400"/>
              </a:spcAft>
              <a:buSzPct val="100000"/>
              <a:buChar char="•"/>
            </a:pPr>
            <a:r>
              <a:rPr lang="en-US" sz="1400" dirty="0">
                <a:solidFill>
                  <a:srgbClr val="1B2430"/>
                </a:solidFill>
              </a:rPr>
              <a:t>SHAP reasons and a full fairness run</a:t>
            </a:r>
            <a:endParaRPr lang="en-US" sz="1400" dirty="0"/>
          </a:p>
          <a:p>
            <a:pPr marL="342900" indent="-342900">
              <a:spcAft>
                <a:spcPts val="400"/>
              </a:spcAft>
              <a:buSzPct val="100000"/>
              <a:buChar char="•"/>
            </a:pPr>
            <a:r>
              <a:rPr lang="en-US" sz="1400" dirty="0">
                <a:solidFill>
                  <a:srgbClr val="1B2430"/>
                </a:solidFill>
              </a:rPr>
              <a:t>Graph features for mule networks</a:t>
            </a:r>
            <a:endParaRPr lang="en-US" sz="1400" dirty="0"/>
          </a:p>
          <a:p>
            <a:pPr marL="342900" indent="-342900">
              <a:spcAft>
                <a:spcPts val="400"/>
              </a:spcAft>
              <a:buSzPct val="100000"/>
              <a:buChar char="•"/>
            </a:pPr>
            <a:r>
              <a:rPr lang="en-US" sz="1400" dirty="0">
                <a:solidFill>
                  <a:srgbClr val="1B2430"/>
                </a:solidFill>
              </a:rPr>
              <a:t>Multilingual alerts and drift monitoring</a:t>
            </a:r>
            <a:endParaRPr lang="en-US" sz="1400" dirty="0"/>
          </a:p>
        </p:txBody>
      </p:sp>
      <p:sp>
        <p:nvSpPr>
          <p:cNvPr id="22" name="Text 19"/>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050" i="1" dirty="0">
                <a:solidFill>
                  <a:srgbClr val="5F6B7A"/>
                </a:solidFill>
              </a:rPr>
              <a:t>Replay amounts are synthetic. National figure: PIB, MHA, “National Cyber Crime Data”, 21 Jul 2026. We do not compute a recovery rate.</a:t>
            </a:r>
            <a:endParaRPr lang="en-US" sz="105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548640" y="274320"/>
            <a:ext cx="11091672" cy="914400"/>
          </a:xfrm>
          <a:prstGeom prst="rect">
            <a:avLst/>
          </a:prstGeom>
          <a:noFill/>
          <a:ln/>
        </p:spPr>
        <p:txBody>
          <a:bodyPr wrap="square" lIns="0" tIns="0" rIns="0" bIns="0" rtlCol="0" anchor="ctr"/>
          <a:lstStyle/>
          <a:p>
            <a:pPr algn="l" indent="0" marL="0">
              <a:buNone/>
            </a:pPr>
            <a:r>
              <a:rPr lang="en-US" sz="2400" b="1" dirty="0">
                <a:solidFill>
                  <a:srgbClr val="0B1F3A"/>
                </a:solidFill>
              </a:rPr>
              <a:t>Appendix: sources and notes</a:t>
            </a:r>
            <a:endParaRPr lang="en-US" sz="2400" dirty="0"/>
          </a:p>
        </p:txBody>
      </p:sp>
      <p:sp>
        <p:nvSpPr>
          <p:cNvPr id="4" name="Text 1"/>
          <p:cNvSpPr txBox="1"/>
          <p:nvPr/>
        </p:nvSpPr>
        <p:spPr>
          <a:xfrm>
            <a:off x="548640" y="1508760"/>
            <a:ext cx="11091672" cy="44805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2430"/>
                </a:solidFill>
              </a:rPr>
              <a:t>RBI, “Discussion Paper - Exploring safeguards in digital payments to curb frauds”, 9 Apr 2026 (slide 1). https://www.rbi.org.in/Scripts/PublicationsView.aspx?id=23810</a:t>
            </a:r>
            <a:endParaRPr lang="en-US" sz="1300" dirty="0"/>
          </a:p>
          <a:p>
            <a:pPr marL="342900" indent="-342900">
              <a:spcAft>
                <a:spcPts val="700"/>
              </a:spcAft>
              <a:buSzPct val="100000"/>
              <a:buChar char="•"/>
            </a:pPr>
            <a:r>
              <a:rPr lang="en-US" sz="1300" dirty="0">
                <a:solidFill>
                  <a:srgbClr val="1B2430"/>
                </a:solidFill>
              </a:rPr>
              <a:t>PIB / MHA, “National Cyber Crime Data”, 21 Jul 2026 (slide 11). https://www.pib.gov.in/PressReleasePage.aspx?PRID=2287039&amp;reg=48&amp;lang=2</a:t>
            </a:r>
            <a:endParaRPr lang="en-US" sz="1300" dirty="0"/>
          </a:p>
          <a:p>
            <a:pPr marL="342900" indent="-342900">
              <a:spcAft>
                <a:spcPts val="700"/>
              </a:spcAft>
              <a:buSzPct val="100000"/>
              <a:buChar char="•"/>
            </a:pPr>
            <a:r>
              <a:rPr lang="en-US" sz="1300" dirty="0">
                <a:solidFill>
                  <a:srgbClr val="1B2430"/>
                </a:solidFill>
              </a:rPr>
              <a:t>PIB, “UPI Completes 10 Years of Digital Payments Revolution”, 24 Aug 2026, key statistics attributed to NPCI (slide 9). https://www.pib.gov.in/PressReleasePage.aspx?PRID=2302657&amp;reg=48&amp;lang=2</a:t>
            </a:r>
            <a:endParaRPr lang="en-US" sz="1300" dirty="0"/>
          </a:p>
          <a:p>
            <a:pPr marL="342900" indent="-342900">
              <a:spcAft>
                <a:spcPts val="700"/>
              </a:spcAft>
              <a:buSzPct val="100000"/>
              <a:buChar char="•"/>
            </a:pPr>
            <a:r>
              <a:rPr lang="en-US" sz="1300" dirty="0">
                <a:solidFill>
                  <a:srgbClr val="1B2430"/>
                </a:solidFill>
              </a:rPr>
              <a:t>PIB (MHA), alert on “Digital Arrest” scams, 14 May 2024 (persona reference). https://www.pib.gov.in/PressReleasePage.aspx?PRID=2020570</a:t>
            </a:r>
            <a:endParaRPr lang="en-US" sz="1300" dirty="0"/>
          </a:p>
          <a:p>
            <a:pPr marL="342900" indent="-342900">
              <a:spcAft>
                <a:spcPts val="700"/>
              </a:spcAft>
              <a:buSzPct val="100000"/>
              <a:buChar char="•"/>
            </a:pPr>
            <a:r>
              <a:rPr lang="en-US" sz="1300" dirty="0">
                <a:solidFill>
                  <a:srgbClr val="1B2430"/>
                </a:solidFill>
              </a:rPr>
              <a:t>Our measurements: docs/deck/measured_17oct.md, 17 Oct 2026, laptop (Intel i7, x86), rule-based scorer, synthetic sample stream (slides 4, 8, 11).</a:t>
            </a:r>
            <a:endParaRPr lang="en-US" sz="1300" dirty="0"/>
          </a:p>
          <a:p>
            <a:pPr marL="342900" indent="-342900">
              <a:spcAft>
                <a:spcPts val="700"/>
              </a:spcAft>
              <a:buSzPct val="100000"/>
              <a:buChar char="•"/>
            </a:pPr>
            <a:r>
              <a:rPr lang="en-US" sz="1300" dirty="0">
                <a:solidFill>
                  <a:srgbClr val="1B2430"/>
                </a:solidFill>
              </a:rPr>
              <a:t>Model metrics: artifacts/metrics.json, test period, PaySim synthetic data (slide 7).</a:t>
            </a:r>
            <a:endParaRPr lang="en-US" sz="1300" dirty="0"/>
          </a:p>
          <a:p>
            <a:pPr marL="342900" indent="-342900">
              <a:spcAft>
                <a:spcPts val="700"/>
              </a:spcAft>
              <a:buSzPct val="100000"/>
              <a:buChar char="•"/>
            </a:pPr>
            <a:r>
              <a:rPr lang="en-US" sz="1300" dirty="0">
                <a:solidFill>
                  <a:srgbClr val="1B2430"/>
                </a:solidFill>
              </a:rPr>
              <a:t>Dataset: PaySim, https://www.kaggle.com/datasets/ealaxi/paysim1</a:t>
            </a:r>
            <a:endParaRPr lang="en-US" sz="1300" dirty="0"/>
          </a:p>
          <a:p>
            <a:pPr marL="342900" indent="-342900">
              <a:spcAft>
                <a:spcPts val="700"/>
              </a:spcAft>
              <a:buSzPct val="100000"/>
              <a:buChar char="•"/>
            </a:pPr>
            <a:r>
              <a:rPr lang="en-US" sz="1300" dirty="0">
                <a:solidFill>
                  <a:srgbClr val="1B2430"/>
                </a:solidFill>
              </a:rPr>
              <a:t>Units: lakh = 100,000; crore = 10 million. Figures are “reported”, not confirmed losses. All web sources accessed 2026-10-17.</a:t>
            </a:r>
            <a:endParaRPr lang="en-US" sz="13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ZShield | IBM Z Datathon 2026</dc:title>
  <dc:subject>PptxGenJS Presentation</dc:subject>
  <dc:creator>Team ZShield</dc:creator>
  <cp:lastModifiedBy>Team ZShield</cp:lastModifiedBy>
  <cp:revision>1</cp:revision>
  <dcterms:created xsi:type="dcterms:W3CDTF">2026-10-18T15:50:36Z</dcterms:created>
  <dcterms:modified xsi:type="dcterms:W3CDTF">2026-10-18T15:50:36Z</dcterms:modified>
</cp:coreProperties>
</file>